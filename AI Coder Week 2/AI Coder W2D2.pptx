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 SemiBold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bold.fntdata"/><Relationship Id="rId13" Type="http://schemas.openxmlformats.org/officeDocument/2006/relationships/font" Target="fonts/MontserratSemiBold-bold.fntdata"/><Relationship Id="rId12" Type="http://schemas.openxmlformats.org/officeDocument/2006/relationships/font" Target="fonts/MontserratSemiBold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SemiBold-boldItalic.fntdata"/><Relationship Id="rId14" Type="http://schemas.openxmlformats.org/officeDocument/2006/relationships/font" Target="fonts/MontserratSemiBold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33d1164cc_0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933d1164cc_0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33f41461a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33f41461a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33d1164cc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933d1164cc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33f41461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933f41461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3012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Coding Agent Landscape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442545" y="898000"/>
            <a:ext cx="419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There are 3 interfaces to writing software with Agents</a:t>
            </a:r>
            <a:endParaRPr sz="1100"/>
          </a:p>
        </p:txBody>
      </p:sp>
      <p:grpSp>
        <p:nvGrpSpPr>
          <p:cNvPr id="99" name="Google Shape;99;p16"/>
          <p:cNvGrpSpPr/>
          <p:nvPr/>
        </p:nvGrpSpPr>
        <p:grpSpPr>
          <a:xfrm>
            <a:off x="381000" y="1302475"/>
            <a:ext cx="1374650" cy="1361700"/>
            <a:chOff x="381000" y="1302475"/>
            <a:chExt cx="1374650" cy="1361700"/>
          </a:xfrm>
        </p:grpSpPr>
        <p:sp>
          <p:nvSpPr>
            <p:cNvPr id="100" name="Google Shape;100;p16"/>
            <p:cNvSpPr/>
            <p:nvPr/>
          </p:nvSpPr>
          <p:spPr>
            <a:xfrm>
              <a:off x="381000" y="1302475"/>
              <a:ext cx="1374600" cy="1361700"/>
            </a:xfrm>
            <a:prstGeom prst="rect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1" name="Google Shape;101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3650" y="1752100"/>
              <a:ext cx="749300" cy="74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6"/>
            <p:cNvSpPr txBox="1"/>
            <p:nvPr/>
          </p:nvSpPr>
          <p:spPr>
            <a:xfrm>
              <a:off x="442550" y="1360225"/>
              <a:ext cx="131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IDE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grpSp>
        <p:nvGrpSpPr>
          <p:cNvPr id="103" name="Google Shape;103;p16"/>
          <p:cNvGrpSpPr/>
          <p:nvPr/>
        </p:nvGrpSpPr>
        <p:grpSpPr>
          <a:xfrm>
            <a:off x="1850599" y="1302475"/>
            <a:ext cx="1374751" cy="1361700"/>
            <a:chOff x="1850599" y="1302475"/>
            <a:chExt cx="1374751" cy="1361700"/>
          </a:xfrm>
        </p:grpSpPr>
        <p:sp>
          <p:nvSpPr>
            <p:cNvPr id="104" name="Google Shape;104;p16"/>
            <p:cNvSpPr/>
            <p:nvPr/>
          </p:nvSpPr>
          <p:spPr>
            <a:xfrm>
              <a:off x="1850750" y="1302475"/>
              <a:ext cx="1374600" cy="1361700"/>
            </a:xfrm>
            <a:prstGeom prst="rect">
              <a:avLst/>
            </a:prstGeom>
            <a:solidFill>
              <a:srgbClr val="5829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5" name="Google Shape;105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33750" y="1822438"/>
              <a:ext cx="608625" cy="60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6"/>
            <p:cNvSpPr txBox="1"/>
            <p:nvPr/>
          </p:nvSpPr>
          <p:spPr>
            <a:xfrm>
              <a:off x="1850599" y="1372300"/>
              <a:ext cx="1374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Plugin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3320500" y="1302475"/>
            <a:ext cx="1374600" cy="1361700"/>
            <a:chOff x="3320500" y="1302475"/>
            <a:chExt cx="1374600" cy="1361700"/>
          </a:xfrm>
        </p:grpSpPr>
        <p:sp>
          <p:nvSpPr>
            <p:cNvPr id="108" name="Google Shape;108;p16"/>
            <p:cNvSpPr/>
            <p:nvPr/>
          </p:nvSpPr>
          <p:spPr>
            <a:xfrm>
              <a:off x="3320500" y="1302475"/>
              <a:ext cx="1374600" cy="1361700"/>
            </a:xfrm>
            <a:prstGeom prst="rect">
              <a:avLst/>
            </a:prstGeom>
            <a:solidFill>
              <a:srgbClr val="3A1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9" name="Google Shape;109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75000" y="1816402"/>
              <a:ext cx="668375" cy="668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6"/>
            <p:cNvSpPr txBox="1"/>
            <p:nvPr/>
          </p:nvSpPr>
          <p:spPr>
            <a:xfrm>
              <a:off x="3320500" y="1357350"/>
              <a:ext cx="1374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CLI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sp>
        <p:nvSpPr>
          <p:cNvPr id="111" name="Google Shape;111;p16"/>
          <p:cNvSpPr/>
          <p:nvPr/>
        </p:nvSpPr>
        <p:spPr>
          <a:xfrm>
            <a:off x="381000" y="2794950"/>
            <a:ext cx="1374600" cy="1206300"/>
          </a:xfrm>
          <a:prstGeom prst="rect">
            <a:avLst/>
          </a:prstGeom>
          <a:solidFill>
            <a:srgbClr val="B17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Windsurf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1850775" y="2794950"/>
            <a:ext cx="1374600" cy="1206300"/>
          </a:xfrm>
          <a:prstGeom prst="rect">
            <a:avLst/>
          </a:prstGeom>
          <a:solidFill>
            <a:srgbClr val="572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Github Copilot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Codex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320550" y="2794950"/>
            <a:ext cx="1374600" cy="1206300"/>
          </a:xfrm>
          <a:prstGeom prst="rect">
            <a:avLst/>
          </a:prstGeom>
          <a:solidFill>
            <a:srgbClr val="3A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 CLI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Codex CLI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Gemini CLI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Amp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209325" y="4320575"/>
            <a:ext cx="4634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is a rapidly evolving space with ambiguity: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eg Claude Code has extensions for VSCode and Cursor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 will keep resources updated; avoid being distracted by hype</a:t>
            </a:r>
            <a:endParaRPr i="1"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0" y="693507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Two levels of granularity within Claude Code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Flexible workflows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1139725" y="1113056"/>
            <a:ext cx="1359000" cy="1359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Session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i="1"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resume</a:t>
            </a:r>
            <a: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2578325" y="1113056"/>
            <a:ext cx="1359000" cy="1359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</a:t>
            </a:r>
            <a:b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i="1"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rewind</a:t>
            </a:r>
            <a: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1859026" y="2961958"/>
            <a:ext cx="1359000" cy="1359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Git Commits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0" y="2582153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In parallel, a bulletproof way to manage your code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0" y="4477600"/>
            <a:ext cx="5264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My personal workflow uses Git + occasional Checkpointing</a:t>
            </a:r>
            <a:br>
              <a:rPr b="1" i="1"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1"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and Markdown files to record progress</a:t>
            </a:r>
            <a:endParaRPr b="1" i="1"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Sessions for exceptional situations (eg working over multiple days)</a:t>
            </a:r>
            <a:endParaRPr b="1" i="1"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52" name="Google Shape;152;p18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53" name="Google Shape;153;p18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55" name="Google Shape;155;p18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156" name="Google Shape;156;p18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58" name="Google Shape;158;p18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59" name="Google Shape;159;p18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47%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