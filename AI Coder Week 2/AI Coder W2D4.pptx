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Montserrat SemiBold"/>
      <p:regular r:id="rId13"/>
      <p:bold r:id="rId14"/>
      <p:italic r:id="rId15"/>
      <p:boldItalic r:id="rId16"/>
    </p:embeddedFont>
    <p:embeddedFont>
      <p:font typeface="Montserrat"/>
      <p:regular r:id="rId17"/>
      <p:bold r:id="rId18"/>
      <p:italic r:id="rId19"/>
      <p:boldItalic r:id="rId20"/>
    </p:embeddedFont>
    <p:embeddedFont>
      <p:font typeface="Montserrat Medium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Italic.fntdata"/><Relationship Id="rId11" Type="http://schemas.openxmlformats.org/officeDocument/2006/relationships/slide" Target="slides/slide6.xml"/><Relationship Id="rId22" Type="http://schemas.openxmlformats.org/officeDocument/2006/relationships/font" Target="fonts/MontserratMedium-bold.fntdata"/><Relationship Id="rId10" Type="http://schemas.openxmlformats.org/officeDocument/2006/relationships/slide" Target="slides/slide5.xml"/><Relationship Id="rId21" Type="http://schemas.openxmlformats.org/officeDocument/2006/relationships/font" Target="fonts/MontserratMedium-regular.fntdata"/><Relationship Id="rId13" Type="http://schemas.openxmlformats.org/officeDocument/2006/relationships/font" Target="fonts/MontserratSemiBold-regular.fntdata"/><Relationship Id="rId24" Type="http://schemas.openxmlformats.org/officeDocument/2006/relationships/font" Target="fonts/MontserratMedium-boldItalic.fntdata"/><Relationship Id="rId12" Type="http://schemas.openxmlformats.org/officeDocument/2006/relationships/slide" Target="slides/slide7.xml"/><Relationship Id="rId23" Type="http://schemas.openxmlformats.org/officeDocument/2006/relationships/font" Target="fonts/MontserratMedium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SemiBold-italic.fntdata"/><Relationship Id="rId14" Type="http://schemas.openxmlformats.org/officeDocument/2006/relationships/font" Target="fonts/MontserratSemiBold-bold.fntdata"/><Relationship Id="rId17" Type="http://schemas.openxmlformats.org/officeDocument/2006/relationships/font" Target="fonts/Montserrat-regular.fntdata"/><Relationship Id="rId16" Type="http://schemas.openxmlformats.org/officeDocument/2006/relationships/font" Target="fonts/MontserratSemiBold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ontserrat-italic.fntdata"/><Relationship Id="rId6" Type="http://schemas.openxmlformats.org/officeDocument/2006/relationships/slide" Target="slides/slide1.xml"/><Relationship Id="rId18" Type="http://schemas.openxmlformats.org/officeDocument/2006/relationships/font" Target="fonts/Montserrat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7158c58547_0_3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" name="Google Shape;53;g37158c58547_0_3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934288f847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" name="Google Shape;60;g3934288f847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934885b273_0_2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" name="Google Shape;95;g3934885b273_0_2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9367bd4828_0_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" name="Google Shape;121;g39367bd4828_0_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9367bd4828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9" name="Google Shape;139;g39367bd4828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934fa6788e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2" name="Google Shape;162;g3934fa6788e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4558ba40b8_0_3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7" name="Google Shape;197;g34558ba40b8_0_3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ий слайд 1">
  <p:cSld name="Титульний слайд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SemiBold"/>
              <a:buNone/>
              <a:defRPr sz="28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3429000" y="-25"/>
            <a:ext cx="19569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" name="Google Shape;56;p14"/>
          <p:cNvSpPr txBox="1"/>
          <p:nvPr/>
        </p:nvSpPr>
        <p:spPr>
          <a:xfrm>
            <a:off x="3538375" y="230275"/>
            <a:ext cx="1751100" cy="45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uk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AI Coder: Vibe Coder to Agentic Engineer</a:t>
            </a:r>
            <a:endParaRPr b="1"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1" lang="uk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The Missing Manual</a:t>
            </a:r>
            <a:endParaRPr i="1"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1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Week 2</a:t>
            </a:r>
            <a:endParaRPr sz="1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1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Day 4</a:t>
            </a:r>
            <a:endParaRPr sz="1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57" name="Google Shape;5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5"/>
            <a:ext cx="3429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/>
        </p:nvSpPr>
        <p:spPr>
          <a:xfrm>
            <a:off x="316814" y="1138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 Weeks to Expert Agentic Coder</a:t>
            </a:r>
            <a:endParaRPr b="0" i="0" sz="2400" u="none" cap="none" strike="noStrike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3" name="Google Shape;63;p15"/>
          <p:cNvSpPr/>
          <p:nvPr/>
        </p:nvSpPr>
        <p:spPr>
          <a:xfrm>
            <a:off x="243825" y="3743708"/>
            <a:ext cx="5247000" cy="1029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" name="Google Shape;64;p15"/>
          <p:cNvSpPr/>
          <p:nvPr/>
        </p:nvSpPr>
        <p:spPr>
          <a:xfrm>
            <a:off x="384025" y="4110058"/>
            <a:ext cx="934800" cy="538200"/>
          </a:xfrm>
          <a:prstGeom prst="rect">
            <a:avLst/>
          </a:prstGeom>
          <a:solidFill>
            <a:srgbClr val="572A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Agentic Coding Landscape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" name="Google Shape;65;p15"/>
          <p:cNvSpPr/>
          <p:nvPr/>
        </p:nvSpPr>
        <p:spPr>
          <a:xfrm>
            <a:off x="1395072" y="4110058"/>
            <a:ext cx="934800" cy="538200"/>
          </a:xfrm>
          <a:prstGeom prst="rect">
            <a:avLst/>
          </a:prstGeom>
          <a:solidFill>
            <a:srgbClr val="572A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Foundations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AGENTS.md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Context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15"/>
          <p:cNvSpPr/>
          <p:nvPr/>
        </p:nvSpPr>
        <p:spPr>
          <a:xfrm>
            <a:off x="2406118" y="41100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Cursor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Copilot, Codex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Antigravity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" name="Google Shape;67;p15"/>
          <p:cNvSpPr/>
          <p:nvPr/>
        </p:nvSpPr>
        <p:spPr>
          <a:xfrm>
            <a:off x="3417153" y="4110058"/>
            <a:ext cx="934800" cy="538200"/>
          </a:xfrm>
          <a:prstGeom prst="rect">
            <a:avLst/>
          </a:prstGeom>
          <a:solidFill>
            <a:srgbClr val="0E4E6B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Project 1:</a:t>
            </a:r>
            <a:b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YOLO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" name="Google Shape;68;p15"/>
          <p:cNvSpPr/>
          <p:nvPr/>
        </p:nvSpPr>
        <p:spPr>
          <a:xfrm>
            <a:off x="4445172" y="4110058"/>
            <a:ext cx="934800" cy="538200"/>
          </a:xfrm>
          <a:prstGeom prst="rect">
            <a:avLst/>
          </a:prstGeom>
          <a:solidFill>
            <a:srgbClr val="0E4E6B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Project 2: Commercial MVP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393675" y="37437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Week 1: Vibe Coding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for fun and profit</a:t>
            </a:r>
            <a:endParaRPr b="0"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0" name="Google Shape;70;p15"/>
          <p:cNvSpPr/>
          <p:nvPr/>
        </p:nvSpPr>
        <p:spPr>
          <a:xfrm>
            <a:off x="243825" y="2638508"/>
            <a:ext cx="5247000" cy="1029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" name="Google Shape;71;p15"/>
          <p:cNvSpPr/>
          <p:nvPr/>
        </p:nvSpPr>
        <p:spPr>
          <a:xfrm>
            <a:off x="384025" y="30048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Claude Code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OpenCode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others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" name="Google Shape;72;p15"/>
          <p:cNvSpPr/>
          <p:nvPr/>
        </p:nvSpPr>
        <p:spPr>
          <a:xfrm>
            <a:off x="1395072" y="30048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Commands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Checkpoints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Ralph Loops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" name="Google Shape;73;p15"/>
          <p:cNvSpPr/>
          <p:nvPr/>
        </p:nvSpPr>
        <p:spPr>
          <a:xfrm>
            <a:off x="2406118" y="3004858"/>
            <a:ext cx="934800" cy="538200"/>
          </a:xfrm>
          <a:prstGeom prst="rect">
            <a:avLst/>
          </a:prstGeom>
          <a:solidFill>
            <a:srgbClr val="572A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MCP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Skills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Plugins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" name="Google Shape;74;p15"/>
          <p:cNvSpPr/>
          <p:nvPr/>
        </p:nvSpPr>
        <p:spPr>
          <a:xfrm>
            <a:off x="3417153" y="3004858"/>
            <a:ext cx="934800" cy="538200"/>
          </a:xfrm>
          <a:prstGeom prst="rect">
            <a:avLst/>
          </a:prstGeom>
          <a:solidFill>
            <a:srgbClr val="CAA5DC"/>
          </a:solidFill>
          <a:ln cap="flat" cmpd="sng" w="28575">
            <a:solidFill>
              <a:srgbClr val="5829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Workflows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Team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Debugging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4445172" y="3004858"/>
            <a:ext cx="934800" cy="538200"/>
          </a:xfrm>
          <a:prstGeom prst="rect">
            <a:avLst/>
          </a:prstGeom>
          <a:solidFill>
            <a:srgbClr val="D0E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Project 3: SaaS Platform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393675" y="26385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Week 2: Vibe Engineering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as a professional</a:t>
            </a:r>
            <a:endParaRPr b="0"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243825" y="1533308"/>
            <a:ext cx="5247000" cy="1029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384025" y="18996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Multi-Agents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Sub-Agents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Hooks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" name="Google Shape;79;p15"/>
          <p:cNvSpPr/>
          <p:nvPr/>
        </p:nvSpPr>
        <p:spPr>
          <a:xfrm>
            <a:off x="1395072" y="18996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Sandboxing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" name="Google Shape;80;p15"/>
          <p:cNvSpPr/>
          <p:nvPr/>
        </p:nvSpPr>
        <p:spPr>
          <a:xfrm>
            <a:off x="2406118" y="18996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Large Codebase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Workflow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1" name="Google Shape;81;p15"/>
          <p:cNvSpPr/>
          <p:nvPr/>
        </p:nvSpPr>
        <p:spPr>
          <a:xfrm>
            <a:off x="3417153" y="18996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Swarms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Orchestrators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" name="Google Shape;82;p15"/>
          <p:cNvSpPr/>
          <p:nvPr/>
        </p:nvSpPr>
        <p:spPr>
          <a:xfrm>
            <a:off x="4445172" y="1899658"/>
            <a:ext cx="934800" cy="538200"/>
          </a:xfrm>
          <a:prstGeom prst="rect">
            <a:avLst/>
          </a:prstGeom>
          <a:solidFill>
            <a:srgbClr val="D0E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Project 4: Capstone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" name="Google Shape;83;p15"/>
          <p:cNvSpPr txBox="1"/>
          <p:nvPr/>
        </p:nvSpPr>
        <p:spPr>
          <a:xfrm>
            <a:off x="393675" y="15333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Week 3: Agentic Engineering 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as an expert  </a:t>
            </a:r>
            <a:endParaRPr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84" name="Google Shape;84;p15"/>
          <p:cNvGrpSpPr/>
          <p:nvPr/>
        </p:nvGrpSpPr>
        <p:grpSpPr>
          <a:xfrm>
            <a:off x="837139" y="852239"/>
            <a:ext cx="1215893" cy="323100"/>
            <a:chOff x="316825" y="809164"/>
            <a:chExt cx="1215893" cy="323100"/>
          </a:xfrm>
        </p:grpSpPr>
        <p:sp>
          <p:nvSpPr>
            <p:cNvPr id="85" name="Google Shape;85;p15"/>
            <p:cNvSpPr/>
            <p:nvPr/>
          </p:nvSpPr>
          <p:spPr>
            <a:xfrm>
              <a:off x="316825" y="879951"/>
              <a:ext cx="237300" cy="178500"/>
            </a:xfrm>
            <a:prstGeom prst="rect">
              <a:avLst/>
            </a:prstGeom>
            <a:solidFill>
              <a:srgbClr val="CAA5DC"/>
            </a:solidFill>
            <a:ln cap="flat" cmpd="sng" w="9525">
              <a:solidFill>
                <a:srgbClr val="572A6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6" name="Google Shape;86;p15"/>
            <p:cNvSpPr txBox="1"/>
            <p:nvPr/>
          </p:nvSpPr>
          <p:spPr>
            <a:xfrm>
              <a:off x="541818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Core skills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87" name="Google Shape;87;p15"/>
          <p:cNvGrpSpPr/>
          <p:nvPr/>
        </p:nvGrpSpPr>
        <p:grpSpPr>
          <a:xfrm>
            <a:off x="1974077" y="852250"/>
            <a:ext cx="1564798" cy="323100"/>
            <a:chOff x="1365775" y="809175"/>
            <a:chExt cx="1564798" cy="323100"/>
          </a:xfrm>
        </p:grpSpPr>
        <p:sp>
          <p:nvSpPr>
            <p:cNvPr id="88" name="Google Shape;88;p15"/>
            <p:cNvSpPr/>
            <p:nvPr/>
          </p:nvSpPr>
          <p:spPr>
            <a:xfrm>
              <a:off x="1365775" y="879951"/>
              <a:ext cx="237300" cy="178500"/>
            </a:xfrm>
            <a:prstGeom prst="rect">
              <a:avLst/>
            </a:prstGeom>
            <a:solidFill>
              <a:srgbClr val="FBE097"/>
            </a:solidFill>
            <a:ln cap="flat" cmpd="sng" w="9525">
              <a:solidFill>
                <a:srgbClr val="B1810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9" name="Google Shape;89;p15"/>
            <p:cNvSpPr txBox="1"/>
            <p:nvPr/>
          </p:nvSpPr>
          <p:spPr>
            <a:xfrm>
              <a:off x="1590773" y="809175"/>
              <a:ext cx="13398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Products / Features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90" name="Google Shape;90;p15"/>
          <p:cNvGrpSpPr/>
          <p:nvPr/>
        </p:nvGrpSpPr>
        <p:grpSpPr>
          <a:xfrm>
            <a:off x="3720614" y="852239"/>
            <a:ext cx="1215893" cy="323100"/>
            <a:chOff x="3200300" y="809164"/>
            <a:chExt cx="1215893" cy="323100"/>
          </a:xfrm>
        </p:grpSpPr>
        <p:sp>
          <p:nvSpPr>
            <p:cNvPr id="91" name="Google Shape;91;p15"/>
            <p:cNvSpPr/>
            <p:nvPr/>
          </p:nvSpPr>
          <p:spPr>
            <a:xfrm>
              <a:off x="3200300" y="879951"/>
              <a:ext cx="237300" cy="178500"/>
            </a:xfrm>
            <a:prstGeom prst="rect">
              <a:avLst/>
            </a:prstGeom>
            <a:solidFill>
              <a:srgbClr val="D0EBF8"/>
            </a:solidFill>
            <a:ln cap="flat" cmpd="sng" w="9525">
              <a:solidFill>
                <a:srgbClr val="1775A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92" name="Google Shape;92;p15"/>
            <p:cNvSpPr txBox="1"/>
            <p:nvPr/>
          </p:nvSpPr>
          <p:spPr>
            <a:xfrm>
              <a:off x="3425293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Projects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Google Shape;97;p16"/>
          <p:cNvGrpSpPr/>
          <p:nvPr/>
        </p:nvGrpSpPr>
        <p:grpSpPr>
          <a:xfrm>
            <a:off x="3349350" y="724575"/>
            <a:ext cx="1968000" cy="3917415"/>
            <a:chOff x="3349350" y="724575"/>
            <a:chExt cx="1968000" cy="3917415"/>
          </a:xfrm>
        </p:grpSpPr>
        <p:sp>
          <p:nvSpPr>
            <p:cNvPr id="98" name="Google Shape;98;p16"/>
            <p:cNvSpPr/>
            <p:nvPr/>
          </p:nvSpPr>
          <p:spPr>
            <a:xfrm>
              <a:off x="3457882" y="724575"/>
              <a:ext cx="1737900" cy="3495000"/>
            </a:xfrm>
            <a:prstGeom prst="rect">
              <a:avLst/>
            </a:prstGeom>
            <a:noFill/>
            <a:ln cap="flat" cmpd="sng" w="38100">
              <a:solidFill>
                <a:schemeClr val="accent3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99" name="Google Shape;99;p16"/>
            <p:cNvSpPr txBox="1"/>
            <p:nvPr/>
          </p:nvSpPr>
          <p:spPr>
            <a:xfrm>
              <a:off x="3349350" y="4164990"/>
              <a:ext cx="1968000" cy="4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 sz="1900">
                  <a:solidFill>
                    <a:schemeClr val="accent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START HERE!!</a:t>
              </a:r>
              <a:endParaRPr sz="2200">
                <a:solidFill>
                  <a:schemeClr val="accent3"/>
                </a:solidFill>
              </a:endParaRPr>
            </a:p>
          </p:txBody>
        </p:sp>
      </p:grpSp>
      <p:sp>
        <p:nvSpPr>
          <p:cNvPr id="100" name="Google Shape;100;p16"/>
          <p:cNvSpPr txBox="1"/>
          <p:nvPr/>
        </p:nvSpPr>
        <p:spPr>
          <a:xfrm>
            <a:off x="160614" y="17006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 ways to give Claude abilities</a:t>
            </a:r>
            <a:endParaRPr b="0" i="0" sz="24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101" name="Google Shape;101;p16"/>
          <p:cNvGrpSpPr/>
          <p:nvPr/>
        </p:nvGrpSpPr>
        <p:grpSpPr>
          <a:xfrm>
            <a:off x="0" y="943053"/>
            <a:ext cx="1921800" cy="1516836"/>
            <a:chOff x="953250" y="667414"/>
            <a:chExt cx="1921800" cy="1516836"/>
          </a:xfrm>
        </p:grpSpPr>
        <p:sp>
          <p:nvSpPr>
            <p:cNvPr id="102" name="Google Shape;102;p16"/>
            <p:cNvSpPr txBox="1"/>
            <p:nvPr/>
          </p:nvSpPr>
          <p:spPr>
            <a:xfrm>
              <a:off x="953250" y="1607050"/>
              <a:ext cx="1921800" cy="5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lang="uk" sz="11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MCP</a:t>
              </a:r>
              <a:endParaRPr b="1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uk" sz="11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Connect Claude Code</a:t>
              </a:r>
              <a:br>
                <a:rPr lang="uk" sz="11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</a:br>
              <a:r>
                <a:rPr lang="uk" sz="11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to someone else’s tools</a:t>
              </a:r>
              <a:endParaRPr sz="11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03" name="Google Shape;103;p16"/>
            <p:cNvSpPr/>
            <p:nvPr/>
          </p:nvSpPr>
          <p:spPr>
            <a:xfrm>
              <a:off x="1480758" y="667414"/>
              <a:ext cx="897000" cy="897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104" name="Google Shape;104;p1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600446" y="779063"/>
              <a:ext cx="657600" cy="657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5" name="Google Shape;105;p16"/>
          <p:cNvGrpSpPr/>
          <p:nvPr/>
        </p:nvGrpSpPr>
        <p:grpSpPr>
          <a:xfrm>
            <a:off x="1707275" y="943053"/>
            <a:ext cx="1921800" cy="1516836"/>
            <a:chOff x="977575" y="2214564"/>
            <a:chExt cx="1921800" cy="1516836"/>
          </a:xfrm>
        </p:grpSpPr>
        <p:sp>
          <p:nvSpPr>
            <p:cNvPr id="106" name="Google Shape;106;p16"/>
            <p:cNvSpPr txBox="1"/>
            <p:nvPr/>
          </p:nvSpPr>
          <p:spPr>
            <a:xfrm>
              <a:off x="977575" y="3154200"/>
              <a:ext cx="1921800" cy="5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lang="uk" sz="11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Skills</a:t>
              </a:r>
              <a:endParaRPr b="1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uk" sz="11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Add expertise &amp; capabilities</a:t>
              </a:r>
              <a:endParaRPr sz="11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07" name="Google Shape;107;p16"/>
            <p:cNvSpPr/>
            <p:nvPr/>
          </p:nvSpPr>
          <p:spPr>
            <a:xfrm>
              <a:off x="1480758" y="2214564"/>
              <a:ext cx="897000" cy="897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108" name="Google Shape;108;p1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600450" y="2334275"/>
              <a:ext cx="657600" cy="657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9" name="Google Shape;109;p16"/>
          <p:cNvGrpSpPr/>
          <p:nvPr/>
        </p:nvGrpSpPr>
        <p:grpSpPr>
          <a:xfrm>
            <a:off x="3439450" y="943053"/>
            <a:ext cx="1737900" cy="1516836"/>
            <a:chOff x="1081100" y="3761714"/>
            <a:chExt cx="1737900" cy="1516836"/>
          </a:xfrm>
        </p:grpSpPr>
        <p:sp>
          <p:nvSpPr>
            <p:cNvPr id="110" name="Google Shape;110;p16"/>
            <p:cNvSpPr txBox="1"/>
            <p:nvPr/>
          </p:nvSpPr>
          <p:spPr>
            <a:xfrm>
              <a:off x="1081100" y="4701350"/>
              <a:ext cx="1737900" cy="5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lang="uk" sz="11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Plugins</a:t>
              </a:r>
              <a:endParaRPr b="1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uk" sz="11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Convenient bundle of</a:t>
              </a:r>
              <a:br>
                <a:rPr lang="uk" sz="11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</a:br>
              <a:r>
                <a:rPr lang="uk" sz="11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MCP, Skills and more  </a:t>
              </a:r>
              <a:endParaRPr sz="11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11" name="Google Shape;111;p16"/>
            <p:cNvSpPr/>
            <p:nvPr/>
          </p:nvSpPr>
          <p:spPr>
            <a:xfrm>
              <a:off x="1480758" y="3761714"/>
              <a:ext cx="897000" cy="897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112" name="Google Shape;112;p1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639037" y="3896775"/>
              <a:ext cx="580425" cy="5804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3" name="Google Shape;113;p16"/>
          <p:cNvSpPr/>
          <p:nvPr/>
        </p:nvSpPr>
        <p:spPr>
          <a:xfrm>
            <a:off x="160625" y="2613889"/>
            <a:ext cx="1546800" cy="628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900">
                <a:latin typeface="Montserrat"/>
                <a:ea typeface="Montserrat"/>
                <a:cs typeface="Montserrat"/>
                <a:sym typeface="Montserrat"/>
              </a:rPr>
              <a:t>Massive ecosystem</a:t>
            </a:r>
            <a:endParaRPr b="1" sz="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900">
                <a:latin typeface="Montserrat"/>
                <a:ea typeface="Montserrat"/>
                <a:cs typeface="Montserrat"/>
                <a:sym typeface="Montserrat"/>
              </a:rPr>
              <a:t>Highly flexible</a:t>
            </a:r>
            <a:endParaRPr b="1" sz="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900">
                <a:latin typeface="Montserrat"/>
                <a:ea typeface="Montserrat"/>
                <a:cs typeface="Montserrat"/>
                <a:sym typeface="Montserrat"/>
              </a:rPr>
              <a:t>Mature marketplaces</a:t>
            </a:r>
            <a:endParaRPr b="1"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4" name="Google Shape;114;p16"/>
          <p:cNvSpPr/>
          <p:nvPr/>
        </p:nvSpPr>
        <p:spPr>
          <a:xfrm>
            <a:off x="160625" y="3323114"/>
            <a:ext cx="1546800" cy="628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Context hog</a:t>
            </a:r>
            <a:endParaRPr b="1"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Complex setup</a:t>
            </a:r>
            <a:endParaRPr b="1"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5" name="Google Shape;115;p16"/>
          <p:cNvSpPr/>
          <p:nvPr/>
        </p:nvSpPr>
        <p:spPr>
          <a:xfrm>
            <a:off x="1849688" y="2613889"/>
            <a:ext cx="1546800" cy="628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900">
                <a:latin typeface="Montserrat"/>
                <a:ea typeface="Montserrat"/>
                <a:cs typeface="Montserrat"/>
                <a:sym typeface="Montserrat"/>
              </a:rPr>
              <a:t>Context efficiency</a:t>
            </a:r>
            <a:endParaRPr b="1" sz="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900">
                <a:latin typeface="Montserrat"/>
                <a:ea typeface="Montserrat"/>
                <a:cs typeface="Montserrat"/>
                <a:sym typeface="Montserrat"/>
              </a:rPr>
              <a:t>Simple setup</a:t>
            </a:r>
            <a:endParaRPr b="1" sz="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900">
                <a:latin typeface="Montserrat"/>
                <a:ea typeface="Montserrat"/>
                <a:cs typeface="Montserrat"/>
                <a:sym typeface="Montserrat"/>
              </a:rPr>
              <a:t>Strong results</a:t>
            </a:r>
            <a:endParaRPr b="1"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6" name="Google Shape;116;p16"/>
          <p:cNvSpPr/>
          <p:nvPr/>
        </p:nvSpPr>
        <p:spPr>
          <a:xfrm>
            <a:off x="1849688" y="3323114"/>
            <a:ext cx="1546800" cy="628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Limited flexibility</a:t>
            </a:r>
            <a:endParaRPr b="1"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Still immature</a:t>
            </a:r>
            <a:endParaRPr b="1"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" name="Google Shape;117;p16"/>
          <p:cNvSpPr/>
          <p:nvPr/>
        </p:nvSpPr>
        <p:spPr>
          <a:xfrm>
            <a:off x="3538738" y="2613889"/>
            <a:ext cx="1546800" cy="628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900">
                <a:latin typeface="Montserrat"/>
                <a:ea typeface="Montserrat"/>
                <a:cs typeface="Montserrat"/>
                <a:sym typeface="Montserrat"/>
              </a:rPr>
              <a:t>Best of both</a:t>
            </a:r>
            <a:endParaRPr b="1" sz="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900">
                <a:latin typeface="Montserrat"/>
                <a:ea typeface="Montserrat"/>
                <a:cs typeface="Montserrat"/>
                <a:sym typeface="Montserrat"/>
              </a:rPr>
              <a:t>Simplest setup</a:t>
            </a:r>
            <a:endParaRPr b="1" sz="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900">
                <a:latin typeface="Montserrat"/>
                <a:ea typeface="Montserrat"/>
                <a:cs typeface="Montserrat"/>
                <a:sym typeface="Montserrat"/>
              </a:rPr>
              <a:t>Explicit instructions</a:t>
            </a:r>
            <a:endParaRPr b="1"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" name="Google Shape;118;p16"/>
          <p:cNvSpPr/>
          <p:nvPr/>
        </p:nvSpPr>
        <p:spPr>
          <a:xfrm>
            <a:off x="3538738" y="3323114"/>
            <a:ext cx="1546800" cy="628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Only Claude Code</a:t>
            </a:r>
            <a:endParaRPr b="1"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Don’t over-use</a:t>
            </a:r>
            <a:endParaRPr b="1"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7"/>
          <p:cNvSpPr txBox="1"/>
          <p:nvPr/>
        </p:nvSpPr>
        <p:spPr>
          <a:xfrm>
            <a:off x="160614" y="17006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Debugging Strategy</a:t>
            </a:r>
            <a:endParaRPr b="0" i="0" sz="24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124" name="Google Shape;124;p17"/>
          <p:cNvGrpSpPr/>
          <p:nvPr/>
        </p:nvGrpSpPr>
        <p:grpSpPr>
          <a:xfrm>
            <a:off x="-55275" y="1112300"/>
            <a:ext cx="1921800" cy="1316736"/>
            <a:chOff x="-44850" y="1789250"/>
            <a:chExt cx="1921800" cy="1316736"/>
          </a:xfrm>
        </p:grpSpPr>
        <p:sp>
          <p:nvSpPr>
            <p:cNvPr id="125" name="Google Shape;125;p17"/>
            <p:cNvSpPr txBox="1"/>
            <p:nvPr/>
          </p:nvSpPr>
          <p:spPr>
            <a:xfrm>
              <a:off x="-44850" y="2728886"/>
              <a:ext cx="1921800" cy="3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lang="uk" sz="10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Snapshot</a:t>
              </a:r>
              <a:endParaRPr b="1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uk" sz="10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Do a git commit</a:t>
              </a:r>
              <a:endParaRPr sz="10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26" name="Google Shape;126;p17"/>
            <p:cNvSpPr/>
            <p:nvPr/>
          </p:nvSpPr>
          <p:spPr>
            <a:xfrm>
              <a:off x="482658" y="1789250"/>
              <a:ext cx="897000" cy="897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127" name="Google Shape;127;p1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89200" y="2004873"/>
              <a:ext cx="465775" cy="4657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8" name="Google Shape;128;p17"/>
          <p:cNvGrpSpPr/>
          <p:nvPr/>
        </p:nvGrpSpPr>
        <p:grpSpPr>
          <a:xfrm>
            <a:off x="1327913" y="1112300"/>
            <a:ext cx="1921800" cy="1316736"/>
            <a:chOff x="1338338" y="1789250"/>
            <a:chExt cx="1921800" cy="1316736"/>
          </a:xfrm>
        </p:grpSpPr>
        <p:sp>
          <p:nvSpPr>
            <p:cNvPr id="129" name="Google Shape;129;p17"/>
            <p:cNvSpPr txBox="1"/>
            <p:nvPr/>
          </p:nvSpPr>
          <p:spPr>
            <a:xfrm>
              <a:off x="1338338" y="2728886"/>
              <a:ext cx="1921800" cy="3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lang="uk" sz="10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Paste the trace</a:t>
              </a:r>
              <a:endParaRPr b="1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uk" sz="10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Let it figure out</a:t>
              </a:r>
              <a:endParaRPr sz="10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30" name="Google Shape;130;p17"/>
            <p:cNvSpPr/>
            <p:nvPr/>
          </p:nvSpPr>
          <p:spPr>
            <a:xfrm>
              <a:off x="1865845" y="1789250"/>
              <a:ext cx="897000" cy="897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131" name="Google Shape;131;p1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068225" y="1991648"/>
              <a:ext cx="492250" cy="4922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2" name="Google Shape;132;p17"/>
          <p:cNvGrpSpPr/>
          <p:nvPr/>
        </p:nvGrpSpPr>
        <p:grpSpPr>
          <a:xfrm>
            <a:off x="2711100" y="1112300"/>
            <a:ext cx="2500200" cy="1947925"/>
            <a:chOff x="2721525" y="1789250"/>
            <a:chExt cx="2500200" cy="1947925"/>
          </a:xfrm>
        </p:grpSpPr>
        <p:sp>
          <p:nvSpPr>
            <p:cNvPr id="133" name="Google Shape;133;p17"/>
            <p:cNvSpPr txBox="1"/>
            <p:nvPr/>
          </p:nvSpPr>
          <p:spPr>
            <a:xfrm>
              <a:off x="2721525" y="2728875"/>
              <a:ext cx="2500200" cy="100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lang="uk" sz="11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Guide with debug.md</a:t>
              </a:r>
              <a:endParaRPr b="1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uk" sz="10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1. Reproduce consistently</a:t>
              </a:r>
              <a:br>
                <a:rPr lang="uk" sz="10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</a:br>
              <a:r>
                <a:rPr lang="uk" sz="10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2. Investigate, hypothesis</a:t>
              </a:r>
              <a:endParaRPr sz="10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uk" sz="10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3. Demonstrate root cause</a:t>
              </a:r>
              <a:endParaRPr sz="10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uk" sz="10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4. Fix and prove</a:t>
              </a:r>
              <a:endParaRPr sz="10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uk" sz="10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5. Lessons learned in CLAUDE.md</a:t>
              </a:r>
              <a:endParaRPr sz="10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34" name="Google Shape;134;p17"/>
            <p:cNvSpPr/>
            <p:nvPr/>
          </p:nvSpPr>
          <p:spPr>
            <a:xfrm>
              <a:off x="3473733" y="1789250"/>
              <a:ext cx="897000" cy="897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135" name="Google Shape;135;p1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656563" y="1972100"/>
              <a:ext cx="531323" cy="5313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6" name="Google Shape;136;p17"/>
          <p:cNvSpPr txBox="1"/>
          <p:nvPr/>
        </p:nvSpPr>
        <p:spPr>
          <a:xfrm>
            <a:off x="239550" y="3603425"/>
            <a:ext cx="5546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Or consider a Skill like this one:</a:t>
            </a:r>
            <a:br>
              <a:rPr lang="uk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uk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https://skills.sh/obra/superpowers/systematic-debugging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" name="Google Shape;141;p18"/>
          <p:cNvGrpSpPr/>
          <p:nvPr/>
        </p:nvGrpSpPr>
        <p:grpSpPr>
          <a:xfrm>
            <a:off x="120625" y="864325"/>
            <a:ext cx="5472000" cy="3228000"/>
            <a:chOff x="120625" y="864325"/>
            <a:chExt cx="5472000" cy="3228000"/>
          </a:xfrm>
        </p:grpSpPr>
        <p:sp>
          <p:nvSpPr>
            <p:cNvPr id="142" name="Google Shape;142;p18"/>
            <p:cNvSpPr/>
            <p:nvPr/>
          </p:nvSpPr>
          <p:spPr>
            <a:xfrm>
              <a:off x="120625" y="864325"/>
              <a:ext cx="5472000" cy="3228000"/>
            </a:xfrm>
            <a:prstGeom prst="rect">
              <a:avLst/>
            </a:prstGeom>
            <a:solidFill>
              <a:schemeClr val="accent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43" name="Google Shape;143;p18"/>
            <p:cNvSpPr txBox="1"/>
            <p:nvPr/>
          </p:nvSpPr>
          <p:spPr>
            <a:xfrm>
              <a:off x="152400" y="914400"/>
              <a:ext cx="30000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700">
                  <a:latin typeface="Montserrat"/>
                  <a:ea typeface="Montserrat"/>
                  <a:cs typeface="Montserrat"/>
                  <a:sym typeface="Montserrat"/>
                </a:rPr>
                <a:t>Claude Code</a:t>
              </a:r>
              <a:endParaRPr sz="2100"/>
            </a:p>
          </p:txBody>
        </p:sp>
      </p:grpSp>
      <p:sp>
        <p:nvSpPr>
          <p:cNvPr id="144" name="Google Shape;144;p18"/>
          <p:cNvSpPr txBox="1"/>
          <p:nvPr/>
        </p:nvSpPr>
        <p:spPr>
          <a:xfrm>
            <a:off x="160614" y="17006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Recap</a:t>
            </a:r>
            <a:endParaRPr b="0" i="0" sz="24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145" name="Google Shape;145;p18"/>
          <p:cNvGrpSpPr/>
          <p:nvPr/>
        </p:nvGrpSpPr>
        <p:grpSpPr>
          <a:xfrm>
            <a:off x="-50250" y="1629953"/>
            <a:ext cx="1921800" cy="1516836"/>
            <a:chOff x="-50250" y="1629953"/>
            <a:chExt cx="1921800" cy="1516836"/>
          </a:xfrm>
        </p:grpSpPr>
        <p:sp>
          <p:nvSpPr>
            <p:cNvPr id="146" name="Google Shape;146;p18"/>
            <p:cNvSpPr txBox="1"/>
            <p:nvPr/>
          </p:nvSpPr>
          <p:spPr>
            <a:xfrm>
              <a:off x="-50250" y="2569589"/>
              <a:ext cx="1921800" cy="5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lang="uk" sz="11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Read Jira Issue</a:t>
              </a:r>
              <a:endParaRPr b="1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uk" sz="11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Via Atlassian</a:t>
              </a:r>
              <a:br>
                <a:rPr lang="uk" sz="11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</a:br>
              <a:r>
                <a:rPr lang="uk" sz="11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MCP Server</a:t>
              </a:r>
              <a:endParaRPr sz="11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47" name="Google Shape;147;p18"/>
            <p:cNvSpPr/>
            <p:nvPr/>
          </p:nvSpPr>
          <p:spPr>
            <a:xfrm>
              <a:off x="477258" y="1629953"/>
              <a:ext cx="897000" cy="897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148" name="Google Shape;148;p1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96946" y="1741602"/>
              <a:ext cx="657600" cy="657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9" name="Google Shape;149;p18"/>
          <p:cNvGrpSpPr/>
          <p:nvPr/>
        </p:nvGrpSpPr>
        <p:grpSpPr>
          <a:xfrm>
            <a:off x="1902288" y="1629953"/>
            <a:ext cx="1737900" cy="1516836"/>
            <a:chOff x="1902288" y="1629953"/>
            <a:chExt cx="1737900" cy="1516836"/>
          </a:xfrm>
        </p:grpSpPr>
        <p:sp>
          <p:nvSpPr>
            <p:cNvPr id="150" name="Google Shape;150;p18"/>
            <p:cNvSpPr txBox="1"/>
            <p:nvPr/>
          </p:nvSpPr>
          <p:spPr>
            <a:xfrm>
              <a:off x="1902288" y="2569589"/>
              <a:ext cx="1737900" cy="5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lang="uk" sz="11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Implement</a:t>
              </a:r>
              <a:endParaRPr b="1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uk" sz="11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Via feature-dev plugin</a:t>
              </a:r>
              <a:endParaRPr sz="11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51" name="Google Shape;151;p18"/>
            <p:cNvSpPr/>
            <p:nvPr/>
          </p:nvSpPr>
          <p:spPr>
            <a:xfrm>
              <a:off x="2301945" y="1629953"/>
              <a:ext cx="897000" cy="897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152" name="Google Shape;152;p1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460225" y="1765014"/>
              <a:ext cx="580425" cy="5804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3" name="Google Shape;153;p18"/>
          <p:cNvGrpSpPr/>
          <p:nvPr/>
        </p:nvGrpSpPr>
        <p:grpSpPr>
          <a:xfrm>
            <a:off x="3670925" y="1629953"/>
            <a:ext cx="1921800" cy="1516836"/>
            <a:chOff x="3670925" y="1629953"/>
            <a:chExt cx="1921800" cy="1516836"/>
          </a:xfrm>
        </p:grpSpPr>
        <p:sp>
          <p:nvSpPr>
            <p:cNvPr id="154" name="Google Shape;154;p18"/>
            <p:cNvSpPr txBox="1"/>
            <p:nvPr/>
          </p:nvSpPr>
          <p:spPr>
            <a:xfrm>
              <a:off x="3670925" y="2569589"/>
              <a:ext cx="1921800" cy="5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lang="uk" sz="11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Create PR </a:t>
              </a:r>
              <a:endParaRPr b="1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uk" sz="11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Via Github</a:t>
              </a:r>
              <a:br>
                <a:rPr lang="uk" sz="11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</a:br>
              <a:r>
                <a:rPr lang="uk" sz="11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MCP Server</a:t>
              </a:r>
              <a:endParaRPr sz="11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55" name="Google Shape;155;p18"/>
            <p:cNvSpPr/>
            <p:nvPr/>
          </p:nvSpPr>
          <p:spPr>
            <a:xfrm>
              <a:off x="4198433" y="1629953"/>
              <a:ext cx="897000" cy="897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156" name="Google Shape;156;p1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18121" y="1741602"/>
              <a:ext cx="657600" cy="657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7" name="Google Shape;157;p18"/>
          <p:cNvSpPr/>
          <p:nvPr/>
        </p:nvSpPr>
        <p:spPr>
          <a:xfrm>
            <a:off x="1802725" y="1963575"/>
            <a:ext cx="259800" cy="360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8" name="Google Shape;158;p18"/>
          <p:cNvSpPr/>
          <p:nvPr/>
        </p:nvSpPr>
        <p:spPr>
          <a:xfrm>
            <a:off x="3640200" y="1963575"/>
            <a:ext cx="259800" cy="360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9" name="Google Shape;159;p18"/>
          <p:cNvSpPr txBox="1"/>
          <p:nvPr/>
        </p:nvSpPr>
        <p:spPr>
          <a:xfrm>
            <a:off x="265125" y="3421347"/>
            <a:ext cx="50520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000">
                <a:latin typeface="Montserrat"/>
                <a:ea typeface="Montserrat"/>
                <a:cs typeface="Montserrat"/>
                <a:sym typeface="Montserrat"/>
              </a:rPr>
              <a:t>/feature-dev:feature-dev please implement jira issue PL-3 with a NextJS application in a directory called frontend, then raise a PR when done </a:t>
            </a:r>
            <a:endParaRPr b="1" sz="10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9"/>
          <p:cNvSpPr txBox="1"/>
          <p:nvPr/>
        </p:nvSpPr>
        <p:spPr>
          <a:xfrm>
            <a:off x="316814" y="1138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 Weeks to Expert Agentic Coder</a:t>
            </a:r>
            <a:endParaRPr b="0" i="0" sz="2400" u="none" cap="none" strike="noStrike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65" name="Google Shape;165;p19"/>
          <p:cNvSpPr/>
          <p:nvPr/>
        </p:nvSpPr>
        <p:spPr>
          <a:xfrm>
            <a:off x="243825" y="3743708"/>
            <a:ext cx="5247000" cy="1029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6" name="Google Shape;166;p19"/>
          <p:cNvSpPr/>
          <p:nvPr/>
        </p:nvSpPr>
        <p:spPr>
          <a:xfrm>
            <a:off x="384025" y="4110058"/>
            <a:ext cx="934800" cy="538200"/>
          </a:xfrm>
          <a:prstGeom prst="rect">
            <a:avLst/>
          </a:prstGeom>
          <a:solidFill>
            <a:srgbClr val="572A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Agentic Coding Landscape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7" name="Google Shape;167;p19"/>
          <p:cNvSpPr/>
          <p:nvPr/>
        </p:nvSpPr>
        <p:spPr>
          <a:xfrm>
            <a:off x="1395072" y="4110058"/>
            <a:ext cx="934800" cy="538200"/>
          </a:xfrm>
          <a:prstGeom prst="rect">
            <a:avLst/>
          </a:prstGeom>
          <a:solidFill>
            <a:srgbClr val="572A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Foundations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AGENTS.md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Context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8" name="Google Shape;168;p19"/>
          <p:cNvSpPr/>
          <p:nvPr/>
        </p:nvSpPr>
        <p:spPr>
          <a:xfrm>
            <a:off x="2406118" y="41100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Cursor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Copilot, Codex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Antigravity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9" name="Google Shape;169;p19"/>
          <p:cNvSpPr/>
          <p:nvPr/>
        </p:nvSpPr>
        <p:spPr>
          <a:xfrm>
            <a:off x="3417153" y="4110058"/>
            <a:ext cx="934800" cy="538200"/>
          </a:xfrm>
          <a:prstGeom prst="rect">
            <a:avLst/>
          </a:prstGeom>
          <a:solidFill>
            <a:srgbClr val="0E4E6B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Project 1:</a:t>
            </a:r>
            <a:b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YOLO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0" name="Google Shape;170;p19"/>
          <p:cNvSpPr/>
          <p:nvPr/>
        </p:nvSpPr>
        <p:spPr>
          <a:xfrm>
            <a:off x="4445172" y="4110058"/>
            <a:ext cx="934800" cy="538200"/>
          </a:xfrm>
          <a:prstGeom prst="rect">
            <a:avLst/>
          </a:prstGeom>
          <a:solidFill>
            <a:srgbClr val="0E4E6B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Project 2: Commercial MVP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1" name="Google Shape;171;p19"/>
          <p:cNvSpPr txBox="1"/>
          <p:nvPr/>
        </p:nvSpPr>
        <p:spPr>
          <a:xfrm>
            <a:off x="393675" y="37437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Week 1: Vibe Coding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for fun and profit</a:t>
            </a:r>
            <a:endParaRPr b="0"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72" name="Google Shape;172;p19"/>
          <p:cNvSpPr/>
          <p:nvPr/>
        </p:nvSpPr>
        <p:spPr>
          <a:xfrm>
            <a:off x="243825" y="2638508"/>
            <a:ext cx="5247000" cy="1029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3" name="Google Shape;173;p19"/>
          <p:cNvSpPr/>
          <p:nvPr/>
        </p:nvSpPr>
        <p:spPr>
          <a:xfrm>
            <a:off x="384025" y="30048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Claude Code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OpenCode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others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4" name="Google Shape;174;p19"/>
          <p:cNvSpPr/>
          <p:nvPr/>
        </p:nvSpPr>
        <p:spPr>
          <a:xfrm>
            <a:off x="1395072" y="30048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Commands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Checkpoints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Ralph Loops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5" name="Google Shape;175;p19"/>
          <p:cNvSpPr/>
          <p:nvPr/>
        </p:nvSpPr>
        <p:spPr>
          <a:xfrm>
            <a:off x="2406118" y="3004858"/>
            <a:ext cx="934800" cy="538200"/>
          </a:xfrm>
          <a:prstGeom prst="rect">
            <a:avLst/>
          </a:prstGeom>
          <a:solidFill>
            <a:srgbClr val="572A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MCP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Skills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Plugins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6" name="Google Shape;176;p19"/>
          <p:cNvSpPr/>
          <p:nvPr/>
        </p:nvSpPr>
        <p:spPr>
          <a:xfrm>
            <a:off x="3417153" y="3004858"/>
            <a:ext cx="934800" cy="538200"/>
          </a:xfrm>
          <a:prstGeom prst="rect">
            <a:avLst/>
          </a:prstGeom>
          <a:solidFill>
            <a:srgbClr val="572A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Workflows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Team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Debugging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7" name="Google Shape;177;p19"/>
          <p:cNvSpPr/>
          <p:nvPr/>
        </p:nvSpPr>
        <p:spPr>
          <a:xfrm>
            <a:off x="4445172" y="3004858"/>
            <a:ext cx="934800" cy="538200"/>
          </a:xfrm>
          <a:prstGeom prst="rect">
            <a:avLst/>
          </a:prstGeom>
          <a:solidFill>
            <a:srgbClr val="D0E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Project 3: SaaS Platform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8" name="Google Shape;178;p19"/>
          <p:cNvSpPr txBox="1"/>
          <p:nvPr/>
        </p:nvSpPr>
        <p:spPr>
          <a:xfrm>
            <a:off x="393675" y="26385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Week 2: Vibe Engineering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as a professional</a:t>
            </a:r>
            <a:endParaRPr b="0"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79" name="Google Shape;179;p19"/>
          <p:cNvSpPr/>
          <p:nvPr/>
        </p:nvSpPr>
        <p:spPr>
          <a:xfrm>
            <a:off x="243825" y="1533308"/>
            <a:ext cx="5247000" cy="1029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0" name="Google Shape;180;p19"/>
          <p:cNvSpPr/>
          <p:nvPr/>
        </p:nvSpPr>
        <p:spPr>
          <a:xfrm>
            <a:off x="384025" y="18996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Multi-Agents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Sub-Agents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Hooks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1" name="Google Shape;181;p19"/>
          <p:cNvSpPr/>
          <p:nvPr/>
        </p:nvSpPr>
        <p:spPr>
          <a:xfrm>
            <a:off x="1395072" y="18996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Sandboxing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2" name="Google Shape;182;p19"/>
          <p:cNvSpPr/>
          <p:nvPr/>
        </p:nvSpPr>
        <p:spPr>
          <a:xfrm>
            <a:off x="2406118" y="18996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Large Codebase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Workflow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3" name="Google Shape;183;p19"/>
          <p:cNvSpPr/>
          <p:nvPr/>
        </p:nvSpPr>
        <p:spPr>
          <a:xfrm>
            <a:off x="3417153" y="18996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Swarms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Orchestrators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4" name="Google Shape;184;p19"/>
          <p:cNvSpPr/>
          <p:nvPr/>
        </p:nvSpPr>
        <p:spPr>
          <a:xfrm>
            <a:off x="4445172" y="1899658"/>
            <a:ext cx="934800" cy="538200"/>
          </a:xfrm>
          <a:prstGeom prst="rect">
            <a:avLst/>
          </a:prstGeom>
          <a:solidFill>
            <a:srgbClr val="D0E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Project 4: Capstone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5" name="Google Shape;185;p19"/>
          <p:cNvSpPr txBox="1"/>
          <p:nvPr/>
        </p:nvSpPr>
        <p:spPr>
          <a:xfrm>
            <a:off x="393675" y="15333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Week 3: Agentic Engineering 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as an expert  </a:t>
            </a:r>
            <a:endParaRPr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186" name="Google Shape;186;p19"/>
          <p:cNvGrpSpPr/>
          <p:nvPr/>
        </p:nvGrpSpPr>
        <p:grpSpPr>
          <a:xfrm>
            <a:off x="837139" y="852239"/>
            <a:ext cx="1215893" cy="323100"/>
            <a:chOff x="316825" y="809164"/>
            <a:chExt cx="1215893" cy="323100"/>
          </a:xfrm>
        </p:grpSpPr>
        <p:sp>
          <p:nvSpPr>
            <p:cNvPr id="187" name="Google Shape;187;p19"/>
            <p:cNvSpPr/>
            <p:nvPr/>
          </p:nvSpPr>
          <p:spPr>
            <a:xfrm>
              <a:off x="316825" y="879951"/>
              <a:ext cx="237300" cy="178500"/>
            </a:xfrm>
            <a:prstGeom prst="rect">
              <a:avLst/>
            </a:prstGeom>
            <a:solidFill>
              <a:srgbClr val="CAA5DC"/>
            </a:solidFill>
            <a:ln cap="flat" cmpd="sng" w="9525">
              <a:solidFill>
                <a:srgbClr val="572A6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88" name="Google Shape;188;p19"/>
            <p:cNvSpPr txBox="1"/>
            <p:nvPr/>
          </p:nvSpPr>
          <p:spPr>
            <a:xfrm>
              <a:off x="541818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Core skills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189" name="Google Shape;189;p19"/>
          <p:cNvGrpSpPr/>
          <p:nvPr/>
        </p:nvGrpSpPr>
        <p:grpSpPr>
          <a:xfrm>
            <a:off x="1974077" y="852250"/>
            <a:ext cx="1564798" cy="323100"/>
            <a:chOff x="1365775" y="809175"/>
            <a:chExt cx="1564798" cy="323100"/>
          </a:xfrm>
        </p:grpSpPr>
        <p:sp>
          <p:nvSpPr>
            <p:cNvPr id="190" name="Google Shape;190;p19"/>
            <p:cNvSpPr/>
            <p:nvPr/>
          </p:nvSpPr>
          <p:spPr>
            <a:xfrm>
              <a:off x="1365775" y="879951"/>
              <a:ext cx="237300" cy="178500"/>
            </a:xfrm>
            <a:prstGeom prst="rect">
              <a:avLst/>
            </a:prstGeom>
            <a:solidFill>
              <a:srgbClr val="FBE097"/>
            </a:solidFill>
            <a:ln cap="flat" cmpd="sng" w="9525">
              <a:solidFill>
                <a:srgbClr val="B1810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91" name="Google Shape;191;p19"/>
            <p:cNvSpPr txBox="1"/>
            <p:nvPr/>
          </p:nvSpPr>
          <p:spPr>
            <a:xfrm>
              <a:off x="1590773" y="809175"/>
              <a:ext cx="13398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Products / Features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192" name="Google Shape;192;p19"/>
          <p:cNvGrpSpPr/>
          <p:nvPr/>
        </p:nvGrpSpPr>
        <p:grpSpPr>
          <a:xfrm>
            <a:off x="3720614" y="852239"/>
            <a:ext cx="1215893" cy="323100"/>
            <a:chOff x="3200300" y="809164"/>
            <a:chExt cx="1215893" cy="323100"/>
          </a:xfrm>
        </p:grpSpPr>
        <p:sp>
          <p:nvSpPr>
            <p:cNvPr id="193" name="Google Shape;193;p19"/>
            <p:cNvSpPr/>
            <p:nvPr/>
          </p:nvSpPr>
          <p:spPr>
            <a:xfrm>
              <a:off x="3200300" y="879951"/>
              <a:ext cx="237300" cy="178500"/>
            </a:xfrm>
            <a:prstGeom prst="rect">
              <a:avLst/>
            </a:prstGeom>
            <a:solidFill>
              <a:srgbClr val="D0EBF8"/>
            </a:solidFill>
            <a:ln cap="flat" cmpd="sng" w="9525">
              <a:solidFill>
                <a:srgbClr val="1775A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94" name="Google Shape;194;p19"/>
            <p:cNvSpPr txBox="1"/>
            <p:nvPr/>
          </p:nvSpPr>
          <p:spPr>
            <a:xfrm>
              <a:off x="3425293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Projects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0"/>
          <p:cNvSpPr/>
          <p:nvPr/>
        </p:nvSpPr>
        <p:spPr>
          <a:xfrm>
            <a:off x="3429000" y="-25"/>
            <a:ext cx="19569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3538375" y="230275"/>
            <a:ext cx="1751100" cy="46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uk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AI Coder: Vibe Coder to Agentic Engineer</a:t>
            </a:r>
            <a:endParaRPr b="1"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1" lang="uk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The Missing Manual</a:t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4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60%</a:t>
            </a:r>
            <a:endParaRPr sz="4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1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Complete</a:t>
            </a:r>
            <a:endParaRPr sz="1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201" name="Google Shape;20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32147"/>
      </a:dk1>
      <a:lt1>
        <a:srgbClr val="FFFFFF"/>
      </a:lt1>
      <a:dk2>
        <a:srgbClr val="032147"/>
      </a:dk2>
      <a:lt2>
        <a:srgbClr val="EEEEEE"/>
      </a:lt2>
      <a:accent1>
        <a:srgbClr val="209DD7"/>
      </a:accent1>
      <a:accent2>
        <a:srgbClr val="753991"/>
      </a:accent2>
      <a:accent3>
        <a:srgbClr val="ECAD0A"/>
      </a:accent3>
      <a:accent4>
        <a:srgbClr val="4CBB17"/>
      </a:accent4>
      <a:accent5>
        <a:srgbClr val="BC101F"/>
      </a:accent5>
      <a:accent6>
        <a:srgbClr val="BC101F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