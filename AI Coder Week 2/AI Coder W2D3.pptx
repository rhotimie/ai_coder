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Montserrat SemiBold"/>
      <p:regular r:id="rId21"/>
      <p:bold r:id="rId22"/>
      <p:italic r:id="rId23"/>
      <p:boldItalic r:id="rId24"/>
    </p:embeddedFont>
    <p:embeddedFont>
      <p:font typeface="Montserrat"/>
      <p:regular r:id="rId25"/>
      <p:bold r:id="rId26"/>
      <p:italic r:id="rId27"/>
      <p:boldItalic r:id="rId28"/>
    </p:embeddedFont>
    <p:embeddedFont>
      <p:font typeface="Montserrat Medium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MontserratSemiBold-bold.fntdata"/><Relationship Id="rId21" Type="http://schemas.openxmlformats.org/officeDocument/2006/relationships/font" Target="fonts/MontserratSemiBold-regular.fntdata"/><Relationship Id="rId24" Type="http://schemas.openxmlformats.org/officeDocument/2006/relationships/font" Target="fonts/MontserratSemiBold-boldItalic.fntdata"/><Relationship Id="rId23" Type="http://schemas.openxmlformats.org/officeDocument/2006/relationships/font" Target="fonts/MontserratSemiBold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bold.fntdata"/><Relationship Id="rId25" Type="http://schemas.openxmlformats.org/officeDocument/2006/relationships/font" Target="fonts/Montserrat-regular.fntdata"/><Relationship Id="rId28" Type="http://schemas.openxmlformats.org/officeDocument/2006/relationships/font" Target="fonts/Montserrat-boldItalic.fntdata"/><Relationship Id="rId27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Medium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Medium-italic.fntdata"/><Relationship Id="rId30" Type="http://schemas.openxmlformats.org/officeDocument/2006/relationships/font" Target="fonts/MontserratMedium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MontserratMedium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7158c58547_0_3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" name="Google Shape;53;g37158c58547_0_3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933f41461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g3933f41461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34885b273_0_1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g3934885b273_0_1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34885b27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g3934885b27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34885b273_0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g3934885b273_0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34885b273_0_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g3934885b273_0_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34885b273_0_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g3934885b273_0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34885b273_0_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g3934885b273_0_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933f41461a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g3933f41461a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933d1164cc_0_1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" name="Google Shape;199;g3933d1164cc_0_1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934885b273_0_2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g3934885b273_0_2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934885b273_0_2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g3934885b273_0_2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934885b273_0_2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g3934885b273_0_2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934288f84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4" name="Google Shape;264;g3934288f84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4558ba40b8_0_3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9" name="Google Shape;299;g34558ba40b8_0_3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ий слайд 1">
  <p:cSld name="Титульний слайд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SemiBold"/>
              <a:buNone/>
              <a:defRPr sz="2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3429000" y="-25"/>
            <a:ext cx="19569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4"/>
          <p:cNvSpPr txBox="1"/>
          <p:nvPr/>
        </p:nvSpPr>
        <p:spPr>
          <a:xfrm>
            <a:off x="3538375" y="230275"/>
            <a:ext cx="1751100" cy="45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AI Coder: Vibe Coder to Agentic Engineer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Missing Manual</a:t>
            </a:r>
            <a:endParaRPr i="1"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2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3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57" name="Google Shape;5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5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Expert Agentic Coder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Coding Landscape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Foundations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AGENTS.md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Context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Cursor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Copilot, Codex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Antigravity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1:</a:t>
            </a:r>
            <a:b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YOLO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2: Commercial MVP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1: Vibe Coding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for fun and profit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Claude Code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OpenCode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others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Commands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Checkpoints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Ralph Loops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CAA5DC"/>
          </a:solidFill>
          <a:ln cap="flat" cmpd="sng" w="28575">
            <a:solidFill>
              <a:srgbClr val="572A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Skills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Plugins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Workflows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Team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Debugging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3: SaaS Platform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2: Vibe Engineering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as a professional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Multi-Agents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Sub-Agents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Hooks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Sandboxing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Large Codebase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Workflow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Swarms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Orchestrators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4: Capstone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3: Agentic Engineering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as an expert  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84" name="Google Shape;84;p15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85" name="Google Shape;85;p15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6" name="Google Shape;86;p15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87" name="Google Shape;87;p15"/>
          <p:cNvGrpSpPr/>
          <p:nvPr/>
        </p:nvGrpSpPr>
        <p:grpSpPr>
          <a:xfrm>
            <a:off x="1974077" y="852250"/>
            <a:ext cx="1564798" cy="323100"/>
            <a:chOff x="1365775" y="809175"/>
            <a:chExt cx="1564798" cy="323100"/>
          </a:xfrm>
        </p:grpSpPr>
        <p:sp>
          <p:nvSpPr>
            <p:cNvPr id="88" name="Google Shape;88;p15"/>
            <p:cNvSpPr/>
            <p:nvPr/>
          </p:nvSpPr>
          <p:spPr>
            <a:xfrm>
              <a:off x="13657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9" name="Google Shape;89;p15"/>
            <p:cNvSpPr txBox="1"/>
            <p:nvPr/>
          </p:nvSpPr>
          <p:spPr>
            <a:xfrm>
              <a:off x="1590773" y="809175"/>
              <a:ext cx="1339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Products / Features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90" name="Google Shape;90;p15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91" name="Google Shape;91;p15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2" name="Google Shape;92;p15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/>
        </p:nvSpPr>
        <p:spPr>
          <a:xfrm>
            <a:off x="160614" y="17006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ways to give Claude abilities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98" name="Google Shape;98;p16"/>
          <p:cNvGrpSpPr/>
          <p:nvPr/>
        </p:nvGrpSpPr>
        <p:grpSpPr>
          <a:xfrm>
            <a:off x="0" y="1581989"/>
            <a:ext cx="1921800" cy="1516836"/>
            <a:chOff x="953250" y="667414"/>
            <a:chExt cx="1921800" cy="1516836"/>
          </a:xfrm>
        </p:grpSpPr>
        <p:sp>
          <p:nvSpPr>
            <p:cNvPr id="99" name="Google Shape;99;p16"/>
            <p:cNvSpPr txBox="1"/>
            <p:nvPr/>
          </p:nvSpPr>
          <p:spPr>
            <a:xfrm>
              <a:off x="953250" y="1607050"/>
              <a:ext cx="1921800" cy="5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lang="uk" sz="11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MCP</a:t>
              </a:r>
              <a:endParaRPr b="1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uk" sz="11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Connect Claude Code</a:t>
              </a:r>
              <a:br>
                <a:rPr lang="uk" sz="11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</a:br>
              <a:r>
                <a:rPr lang="uk" sz="11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to someone else’s tools</a:t>
              </a:r>
              <a:endParaRPr sz="11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00" name="Google Shape;100;p16"/>
            <p:cNvSpPr/>
            <p:nvPr/>
          </p:nvSpPr>
          <p:spPr>
            <a:xfrm>
              <a:off x="1480758" y="667414"/>
              <a:ext cx="897000" cy="897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01" name="Google Shape;101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600446" y="779063"/>
              <a:ext cx="657600" cy="657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2" name="Google Shape;102;p16"/>
          <p:cNvGrpSpPr/>
          <p:nvPr/>
        </p:nvGrpSpPr>
        <p:grpSpPr>
          <a:xfrm>
            <a:off x="1707275" y="1581989"/>
            <a:ext cx="1921800" cy="1516836"/>
            <a:chOff x="977575" y="2214564"/>
            <a:chExt cx="1921800" cy="1516836"/>
          </a:xfrm>
        </p:grpSpPr>
        <p:sp>
          <p:nvSpPr>
            <p:cNvPr id="103" name="Google Shape;103;p16"/>
            <p:cNvSpPr txBox="1"/>
            <p:nvPr/>
          </p:nvSpPr>
          <p:spPr>
            <a:xfrm>
              <a:off x="977575" y="3154200"/>
              <a:ext cx="1921800" cy="5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lang="uk" sz="11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Skills</a:t>
              </a:r>
              <a:endParaRPr b="1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uk" sz="11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Add expertise &amp; capabilities</a:t>
              </a:r>
              <a:endParaRPr sz="11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04" name="Google Shape;104;p16"/>
            <p:cNvSpPr/>
            <p:nvPr/>
          </p:nvSpPr>
          <p:spPr>
            <a:xfrm>
              <a:off x="1480758" y="2214564"/>
              <a:ext cx="897000" cy="897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05" name="Google Shape;105;p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600450" y="2334275"/>
              <a:ext cx="657600" cy="657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6" name="Google Shape;106;p16"/>
          <p:cNvGrpSpPr/>
          <p:nvPr/>
        </p:nvGrpSpPr>
        <p:grpSpPr>
          <a:xfrm>
            <a:off x="3439450" y="1581989"/>
            <a:ext cx="1737900" cy="1516836"/>
            <a:chOff x="1081100" y="3761714"/>
            <a:chExt cx="1737900" cy="1516836"/>
          </a:xfrm>
        </p:grpSpPr>
        <p:sp>
          <p:nvSpPr>
            <p:cNvPr id="107" name="Google Shape;107;p16"/>
            <p:cNvSpPr txBox="1"/>
            <p:nvPr/>
          </p:nvSpPr>
          <p:spPr>
            <a:xfrm>
              <a:off x="1081100" y="4701350"/>
              <a:ext cx="1737900" cy="5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lang="uk" sz="11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Plugins</a:t>
              </a:r>
              <a:endParaRPr b="1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uk" sz="11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Convenient bundle of</a:t>
              </a:r>
              <a:br>
                <a:rPr lang="uk" sz="11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</a:br>
              <a:r>
                <a:rPr lang="uk" sz="11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MCP, Skills and more  </a:t>
              </a:r>
              <a:endParaRPr sz="11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08" name="Google Shape;108;p16"/>
            <p:cNvSpPr/>
            <p:nvPr/>
          </p:nvSpPr>
          <p:spPr>
            <a:xfrm>
              <a:off x="1480758" y="3761714"/>
              <a:ext cx="897000" cy="897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09" name="Google Shape;109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639037" y="3896775"/>
              <a:ext cx="580425" cy="5804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/>
        </p:nvSpPr>
        <p:spPr>
          <a:xfrm>
            <a:off x="160614" y="17006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Remember the 4 tricks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225150" y="1000350"/>
            <a:ext cx="2372100" cy="18993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2689325" y="1000350"/>
            <a:ext cx="2372100" cy="18993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225150" y="2991850"/>
            <a:ext cx="2372100" cy="18993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2689325" y="2991850"/>
            <a:ext cx="2372100" cy="18993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225150" y="1011150"/>
            <a:ext cx="23721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latin typeface="Montserrat"/>
                <a:ea typeface="Montserrat"/>
                <a:cs typeface="Montserrat"/>
                <a:sym typeface="Montserrat"/>
              </a:rPr>
              <a:t>Trick 1: Illusion of memory</a:t>
            </a:r>
            <a:endParaRPr b="1"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latin typeface="Montserrat"/>
                <a:ea typeface="Montserrat"/>
                <a:cs typeface="Montserrat"/>
                <a:sym typeface="Montserrat"/>
              </a:rPr>
              <a:t>I’m Ed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&gt;&gt; Hi Ed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latin typeface="Montserrat"/>
                <a:ea typeface="Montserrat"/>
                <a:cs typeface="Montserrat"/>
                <a:sym typeface="Montserrat"/>
              </a:rPr>
              <a:t>Who am I?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&gt;&gt; I don’t know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latin typeface="Montserrat"/>
                <a:ea typeface="Montserrat"/>
                <a:cs typeface="Montserrat"/>
                <a:sym typeface="Montserrat"/>
              </a:rPr>
              <a:t>I’m Ed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&gt;&gt; Hello Ed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Montserrat"/>
                <a:ea typeface="Montserrat"/>
                <a:cs typeface="Montserrat"/>
                <a:sym typeface="Montserrat"/>
              </a:rPr>
              <a:t>I’m Ed • Hi Ed </a:t>
            </a:r>
            <a:r>
              <a:rPr b="1" lang="uk" sz="1000">
                <a:latin typeface="Montserrat"/>
                <a:ea typeface="Montserrat"/>
                <a:cs typeface="Montserrat"/>
                <a:sym typeface="Montserrat"/>
              </a:rPr>
              <a:t>• Who am I?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&gt;&gt; You’re Ed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2689325" y="1002188"/>
            <a:ext cx="23721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latin typeface="Montserrat"/>
                <a:ea typeface="Montserrat"/>
                <a:cs typeface="Montserrat"/>
                <a:sym typeface="Montserrat"/>
              </a:rPr>
              <a:t>Trick 2: Reasoning / Thinking</a:t>
            </a:r>
            <a:endParaRPr b="1"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Montserrat"/>
                <a:ea typeface="Montserrat"/>
                <a:cs typeface="Montserrat"/>
                <a:sym typeface="Montserrat"/>
              </a:rPr>
              <a:t>Toss 2 coins.</a:t>
            </a:r>
            <a:br>
              <a:rPr lang="uk" sz="100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1000">
                <a:latin typeface="Montserrat"/>
                <a:ea typeface="Montserrat"/>
                <a:cs typeface="Montserrat"/>
                <a:sym typeface="Montserrat"/>
              </a:rPr>
              <a:t>One of them is heads.</a:t>
            </a:r>
            <a:br>
              <a:rPr lang="uk" sz="100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1000">
                <a:latin typeface="Montserrat"/>
                <a:ea typeface="Montserrat"/>
                <a:cs typeface="Montserrat"/>
                <a:sym typeface="Montserrat"/>
              </a:rPr>
              <a:t>What’s the chances the</a:t>
            </a:r>
            <a:br>
              <a:rPr lang="uk" sz="100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1000">
                <a:latin typeface="Montserrat"/>
                <a:ea typeface="Montserrat"/>
                <a:cs typeface="Montserrat"/>
                <a:sym typeface="Montserrat"/>
              </a:rPr>
              <a:t>other is tails?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225150" y="3098252"/>
            <a:ext cx="2372100" cy="14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Trick 3: Tools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To use Python code to respond to the next question, just reply: PYTHON: (a python expression here)</a:t>
            </a:r>
            <a:br>
              <a:rPr lang="uk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uk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Question: What's the square root of pi?</a:t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&gt;&gt; PYTHON: math.sqrt(math.pi)</a:t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2689325" y="3098252"/>
            <a:ext cx="23721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Trick 4: The Loop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Step 1: Ask LLM to make progress</a:t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Step 2: Test to see if goal is met</a:t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Step 3: If not, go to Step 1</a:t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3523850" y="4303325"/>
            <a:ext cx="651000" cy="36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E4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4" name="Google Shape;12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0925" y="4175924"/>
            <a:ext cx="243150" cy="24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/>
          <p:nvPr/>
        </p:nvSpPr>
        <p:spPr>
          <a:xfrm>
            <a:off x="225150" y="1000350"/>
            <a:ext cx="2372100" cy="1899300"/>
          </a:xfrm>
          <a:prstGeom prst="rect">
            <a:avLst/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" name="Google Shape;130;p18"/>
          <p:cNvSpPr txBox="1"/>
          <p:nvPr/>
        </p:nvSpPr>
        <p:spPr>
          <a:xfrm>
            <a:off x="225150" y="1011150"/>
            <a:ext cx="23721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latin typeface="Montserrat"/>
                <a:ea typeface="Montserrat"/>
                <a:cs typeface="Montserrat"/>
                <a:sym typeface="Montserrat"/>
              </a:rPr>
              <a:t>Trick 1: Illusion of memory</a:t>
            </a:r>
            <a:endParaRPr b="1"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latin typeface="Montserrat"/>
                <a:ea typeface="Montserrat"/>
                <a:cs typeface="Montserrat"/>
                <a:sym typeface="Montserrat"/>
              </a:rPr>
              <a:t>I’m Ed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&gt;&gt; Hi Ed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latin typeface="Montserrat"/>
                <a:ea typeface="Montserrat"/>
                <a:cs typeface="Montserrat"/>
                <a:sym typeface="Montserrat"/>
              </a:rPr>
              <a:t>Who am I?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&gt;&gt; I don’t know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latin typeface="Montserrat"/>
                <a:ea typeface="Montserrat"/>
                <a:cs typeface="Montserrat"/>
                <a:sym typeface="Montserrat"/>
              </a:rPr>
              <a:t>I’m Ed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&gt;&gt; Hello Ed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Montserrat"/>
                <a:ea typeface="Montserrat"/>
                <a:cs typeface="Montserrat"/>
                <a:sym typeface="Montserrat"/>
              </a:rPr>
              <a:t>I’m Ed • Hi Ed </a:t>
            </a:r>
            <a:r>
              <a:rPr b="1" lang="uk" sz="1000">
                <a:latin typeface="Montserrat"/>
                <a:ea typeface="Montserrat"/>
                <a:cs typeface="Montserrat"/>
                <a:sym typeface="Montserrat"/>
              </a:rPr>
              <a:t>• Who am I?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&gt;&gt; You’re Ed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160614" y="17006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key trick is Tools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2689325" y="1000350"/>
            <a:ext cx="2372100" cy="1899300"/>
          </a:xfrm>
          <a:prstGeom prst="rect">
            <a:avLst/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225150" y="2991850"/>
            <a:ext cx="2372100" cy="18993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2689325" y="2991850"/>
            <a:ext cx="2372100" cy="1899300"/>
          </a:xfrm>
          <a:prstGeom prst="rect">
            <a:avLst/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p18"/>
          <p:cNvSpPr txBox="1"/>
          <p:nvPr/>
        </p:nvSpPr>
        <p:spPr>
          <a:xfrm>
            <a:off x="2689325" y="1002188"/>
            <a:ext cx="23721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latin typeface="Montserrat"/>
                <a:ea typeface="Montserrat"/>
                <a:cs typeface="Montserrat"/>
                <a:sym typeface="Montserrat"/>
              </a:rPr>
              <a:t>Trick 2: Reasoning / Thinking</a:t>
            </a:r>
            <a:endParaRPr b="1"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Montserrat"/>
                <a:ea typeface="Montserrat"/>
                <a:cs typeface="Montserrat"/>
                <a:sym typeface="Montserrat"/>
              </a:rPr>
              <a:t>Toss 2 coins.</a:t>
            </a:r>
            <a:br>
              <a:rPr lang="uk" sz="100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1000">
                <a:latin typeface="Montserrat"/>
                <a:ea typeface="Montserrat"/>
                <a:cs typeface="Montserrat"/>
                <a:sym typeface="Montserrat"/>
              </a:rPr>
              <a:t>One of them is heads.</a:t>
            </a:r>
            <a:br>
              <a:rPr lang="uk" sz="100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1000">
                <a:latin typeface="Montserrat"/>
                <a:ea typeface="Montserrat"/>
                <a:cs typeface="Montserrat"/>
                <a:sym typeface="Montserrat"/>
              </a:rPr>
              <a:t>What’s the chances the</a:t>
            </a:r>
            <a:br>
              <a:rPr lang="uk" sz="100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1000">
                <a:latin typeface="Montserrat"/>
                <a:ea typeface="Montserrat"/>
                <a:cs typeface="Montserrat"/>
                <a:sym typeface="Montserrat"/>
              </a:rPr>
              <a:t>other is tails?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" name="Google Shape;136;p18"/>
          <p:cNvSpPr txBox="1"/>
          <p:nvPr/>
        </p:nvSpPr>
        <p:spPr>
          <a:xfrm>
            <a:off x="225150" y="3098252"/>
            <a:ext cx="2372100" cy="14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Trick 3: Tools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To use Python code to respond to the next question, just reply: PYTHON: (a python expression here)</a:t>
            </a:r>
            <a:br>
              <a:rPr lang="uk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uk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Question: What's the square root of pi?</a:t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&gt;&gt; PYTHON: math.sqrt(math.pi)</a:t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2689325" y="3098252"/>
            <a:ext cx="23721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Trick 4: The Loop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Step 1: Ask LLM to make progress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Step 2: Test to see if goal is met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Step 3: If not, go to Step 1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3523850" y="4303325"/>
            <a:ext cx="651000" cy="36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E4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9" name="Google Shape;13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0925" y="4175924"/>
            <a:ext cx="243150" cy="24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/>
          <p:nvPr/>
        </p:nvSpPr>
        <p:spPr>
          <a:xfrm>
            <a:off x="160614" y="17006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innovation is Tools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45" name="Google Shape;145;p19"/>
          <p:cNvGrpSpPr/>
          <p:nvPr/>
        </p:nvGrpSpPr>
        <p:grpSpPr>
          <a:xfrm>
            <a:off x="120108" y="667414"/>
            <a:ext cx="3618300" cy="1347640"/>
            <a:chOff x="120108" y="910799"/>
            <a:chExt cx="3618300" cy="1347640"/>
          </a:xfrm>
        </p:grpSpPr>
        <p:sp>
          <p:nvSpPr>
            <p:cNvPr id="146" name="Google Shape;146;p19"/>
            <p:cNvSpPr txBox="1"/>
            <p:nvPr/>
          </p:nvSpPr>
          <p:spPr>
            <a:xfrm>
              <a:off x="120108" y="1850439"/>
              <a:ext cx="3618300" cy="4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uk" sz="11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An LLM used to generate content</a:t>
              </a:r>
              <a:endParaRPr sz="11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lang="uk" sz="11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Now it makes decisions &amp; takes action</a:t>
              </a:r>
              <a:endParaRPr b="1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7" name="Google Shape;147;p19"/>
            <p:cNvSpPr/>
            <p:nvPr/>
          </p:nvSpPr>
          <p:spPr>
            <a:xfrm>
              <a:off x="1480758" y="910799"/>
              <a:ext cx="897000" cy="897000"/>
            </a:xfrm>
            <a:prstGeom prst="ellipse">
              <a:avLst/>
            </a:prstGeom>
            <a:solidFill>
              <a:srgbClr val="7539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48" name="Google Shape;148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678171" y="1108213"/>
              <a:ext cx="502175" cy="5021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9" name="Google Shape;149;p19"/>
          <p:cNvGrpSpPr/>
          <p:nvPr/>
        </p:nvGrpSpPr>
        <p:grpSpPr>
          <a:xfrm>
            <a:off x="120108" y="2214564"/>
            <a:ext cx="3618300" cy="1347640"/>
            <a:chOff x="120108" y="2425499"/>
            <a:chExt cx="3618300" cy="1347640"/>
          </a:xfrm>
        </p:grpSpPr>
        <p:sp>
          <p:nvSpPr>
            <p:cNvPr id="150" name="Google Shape;150;p19"/>
            <p:cNvSpPr txBox="1"/>
            <p:nvPr/>
          </p:nvSpPr>
          <p:spPr>
            <a:xfrm>
              <a:off x="120108" y="3365139"/>
              <a:ext cx="3618300" cy="4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uk" sz="11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Claude Code has tools baked into it</a:t>
              </a:r>
              <a:endParaRPr sz="11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lang="uk" sz="11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ToDo list is a simple &amp; effective example</a:t>
              </a:r>
              <a:endParaRPr b="1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1" name="Google Shape;151;p19"/>
            <p:cNvSpPr/>
            <p:nvPr/>
          </p:nvSpPr>
          <p:spPr>
            <a:xfrm>
              <a:off x="1480758" y="2425499"/>
              <a:ext cx="897000" cy="897000"/>
            </a:xfrm>
            <a:prstGeom prst="ellipse">
              <a:avLst/>
            </a:prstGeom>
            <a:solidFill>
              <a:srgbClr val="7539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52" name="Google Shape;152;p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709958" y="2648175"/>
              <a:ext cx="438600" cy="438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3" name="Google Shape;153;p19"/>
          <p:cNvGrpSpPr/>
          <p:nvPr/>
        </p:nvGrpSpPr>
        <p:grpSpPr>
          <a:xfrm>
            <a:off x="120108" y="3761714"/>
            <a:ext cx="3618300" cy="1347640"/>
            <a:chOff x="120108" y="3761714"/>
            <a:chExt cx="3618300" cy="1347640"/>
          </a:xfrm>
        </p:grpSpPr>
        <p:sp>
          <p:nvSpPr>
            <p:cNvPr id="154" name="Google Shape;154;p19"/>
            <p:cNvSpPr txBox="1"/>
            <p:nvPr/>
          </p:nvSpPr>
          <p:spPr>
            <a:xfrm>
              <a:off x="120108" y="4701354"/>
              <a:ext cx="3618300" cy="4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uk" sz="11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More tools = more functionality</a:t>
              </a:r>
              <a:endParaRPr sz="11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lang="uk" sz="11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Anthropic needed a way to easily add tools</a:t>
              </a:r>
              <a:endParaRPr b="1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5" name="Google Shape;155;p19"/>
            <p:cNvSpPr/>
            <p:nvPr/>
          </p:nvSpPr>
          <p:spPr>
            <a:xfrm>
              <a:off x="1480758" y="3761714"/>
              <a:ext cx="897000" cy="897000"/>
            </a:xfrm>
            <a:prstGeom prst="ellipse">
              <a:avLst/>
            </a:prstGeom>
            <a:solidFill>
              <a:srgbClr val="7539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56" name="Google Shape;156;p1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709958" y="3997428"/>
              <a:ext cx="438600" cy="438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/>
        </p:nvSpPr>
        <p:spPr>
          <a:xfrm>
            <a:off x="316814" y="146727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And so Anthropic made MCP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376789" y="3446086"/>
            <a:ext cx="4429200" cy="15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“The usb-c port for AI applications”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“an open-source standard for connecting AI applications to external systems” 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It’s a way to connect applications like</a:t>
            </a:r>
            <a:b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Claude Code to someone else’s Tools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63" name="Google Shape;16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789" y="651302"/>
            <a:ext cx="4093187" cy="27287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 txBox="1"/>
          <p:nvPr/>
        </p:nvSpPr>
        <p:spPr>
          <a:xfrm>
            <a:off x="316814" y="146727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What MCP is and what it’s not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9" name="Google Shape;169;p21"/>
          <p:cNvSpPr txBox="1"/>
          <p:nvPr/>
        </p:nvSpPr>
        <p:spPr>
          <a:xfrm>
            <a:off x="657214" y="1037764"/>
            <a:ext cx="4429200" cy="15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Easy way to use Tools written by someone else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Easy way to share your Tools with others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Easy way to connect LLMs with Tools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game-changer is the ADOPTION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70" name="Google Shape;170;p21"/>
          <p:cNvSpPr txBox="1"/>
          <p:nvPr/>
        </p:nvSpPr>
        <p:spPr>
          <a:xfrm>
            <a:off x="657225" y="2898602"/>
            <a:ext cx="4463100" cy="20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It’s the interface, not the tools themselves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It’s an agreed standard, not major innovation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It’s not efficient - overuse can fill up the context window and lead to poor results, even with recent context use improvements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71" name="Google Shape;171;p21"/>
          <p:cNvSpPr/>
          <p:nvPr/>
        </p:nvSpPr>
        <p:spPr>
          <a:xfrm>
            <a:off x="419000" y="1023850"/>
            <a:ext cx="148500" cy="162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" name="Google Shape;172;p21"/>
          <p:cNvSpPr/>
          <p:nvPr/>
        </p:nvSpPr>
        <p:spPr>
          <a:xfrm>
            <a:off x="419000" y="2930547"/>
            <a:ext cx="148500" cy="1493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3" name="Google Shape;173;p21"/>
          <p:cNvSpPr txBox="1"/>
          <p:nvPr/>
        </p:nvSpPr>
        <p:spPr>
          <a:xfrm>
            <a:off x="366425" y="4520627"/>
            <a:ext cx="4936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Skills (coming next) is simpler and more context efficient and might replace MCP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2"/>
          <p:cNvSpPr txBox="1"/>
          <p:nvPr/>
        </p:nvSpPr>
        <p:spPr>
          <a:xfrm>
            <a:off x="316814" y="301251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MCP Technicalities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79" name="Google Shape;179;p22"/>
          <p:cNvSpPr txBox="1"/>
          <p:nvPr/>
        </p:nvSpPr>
        <p:spPr>
          <a:xfrm>
            <a:off x="442545" y="854283"/>
            <a:ext cx="4191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Terminology isn’t important, but just so you know it:</a:t>
            </a:r>
            <a:endParaRPr sz="1100"/>
          </a:p>
        </p:txBody>
      </p:sp>
      <p:grpSp>
        <p:nvGrpSpPr>
          <p:cNvPr id="180" name="Google Shape;180;p22"/>
          <p:cNvGrpSpPr/>
          <p:nvPr/>
        </p:nvGrpSpPr>
        <p:grpSpPr>
          <a:xfrm>
            <a:off x="381000" y="1258753"/>
            <a:ext cx="1374650" cy="1206900"/>
            <a:chOff x="381000" y="1258753"/>
            <a:chExt cx="1374650" cy="1206900"/>
          </a:xfrm>
        </p:grpSpPr>
        <p:sp>
          <p:nvSpPr>
            <p:cNvPr id="181" name="Google Shape;181;p22"/>
            <p:cNvSpPr/>
            <p:nvPr/>
          </p:nvSpPr>
          <p:spPr>
            <a:xfrm>
              <a:off x="381000" y="1258753"/>
              <a:ext cx="1374600" cy="1206900"/>
            </a:xfrm>
            <a:prstGeom prst="rect">
              <a:avLst/>
            </a:prstGeom>
            <a:solidFill>
              <a:srgbClr val="B179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Claude Code</a:t>
              </a:r>
              <a:endParaRPr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2" name="Google Shape;182;p22"/>
            <p:cNvSpPr txBox="1"/>
            <p:nvPr/>
          </p:nvSpPr>
          <p:spPr>
            <a:xfrm>
              <a:off x="442550" y="1316509"/>
              <a:ext cx="1313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MCP Host</a:t>
              </a:r>
              <a:endParaRPr b="1">
                <a:solidFill>
                  <a:schemeClr val="lt1"/>
                </a:solidFill>
              </a:endParaRPr>
            </a:p>
          </p:txBody>
        </p:sp>
      </p:grpSp>
      <p:grpSp>
        <p:nvGrpSpPr>
          <p:cNvPr id="183" name="Google Shape;183;p22"/>
          <p:cNvGrpSpPr/>
          <p:nvPr/>
        </p:nvGrpSpPr>
        <p:grpSpPr>
          <a:xfrm>
            <a:off x="1850599" y="1258753"/>
            <a:ext cx="1374751" cy="1206900"/>
            <a:chOff x="1850599" y="1258753"/>
            <a:chExt cx="1374751" cy="1206900"/>
          </a:xfrm>
        </p:grpSpPr>
        <p:sp>
          <p:nvSpPr>
            <p:cNvPr id="184" name="Google Shape;184;p22"/>
            <p:cNvSpPr/>
            <p:nvPr/>
          </p:nvSpPr>
          <p:spPr>
            <a:xfrm>
              <a:off x="1850750" y="1258753"/>
              <a:ext cx="1374600" cy="1206900"/>
            </a:xfrm>
            <a:prstGeom prst="rect">
              <a:avLst/>
            </a:prstGeom>
            <a:solidFill>
              <a:srgbClr val="58296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Inside C</a:t>
              </a:r>
              <a:r>
                <a:rPr lang="uk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laude Code</a:t>
              </a:r>
              <a:endParaRPr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5" name="Google Shape;185;p22"/>
            <p:cNvSpPr txBox="1"/>
            <p:nvPr/>
          </p:nvSpPr>
          <p:spPr>
            <a:xfrm>
              <a:off x="1850599" y="1328584"/>
              <a:ext cx="1374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MCP Client</a:t>
              </a:r>
              <a:endParaRPr b="1">
                <a:solidFill>
                  <a:schemeClr val="lt1"/>
                </a:solidFill>
              </a:endParaRPr>
            </a:p>
          </p:txBody>
        </p:sp>
      </p:grpSp>
      <p:grpSp>
        <p:nvGrpSpPr>
          <p:cNvPr id="186" name="Google Shape;186;p22"/>
          <p:cNvGrpSpPr/>
          <p:nvPr/>
        </p:nvGrpSpPr>
        <p:grpSpPr>
          <a:xfrm>
            <a:off x="3320500" y="1258753"/>
            <a:ext cx="1374600" cy="1206900"/>
            <a:chOff x="3320500" y="1258753"/>
            <a:chExt cx="1374600" cy="1206900"/>
          </a:xfrm>
        </p:grpSpPr>
        <p:sp>
          <p:nvSpPr>
            <p:cNvPr id="187" name="Google Shape;187;p22"/>
            <p:cNvSpPr/>
            <p:nvPr/>
          </p:nvSpPr>
          <p:spPr>
            <a:xfrm>
              <a:off x="3320500" y="1258753"/>
              <a:ext cx="1374600" cy="1206900"/>
            </a:xfrm>
            <a:prstGeom prst="rect">
              <a:avLst/>
            </a:prstGeom>
            <a:solidFill>
              <a:srgbClr val="3A1D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tools written by someone else</a:t>
              </a:r>
              <a:endParaRPr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8" name="Google Shape;188;p22"/>
            <p:cNvSpPr txBox="1"/>
            <p:nvPr/>
          </p:nvSpPr>
          <p:spPr>
            <a:xfrm>
              <a:off x="3320500" y="1313634"/>
              <a:ext cx="1374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MCP Server</a:t>
              </a:r>
              <a:endParaRPr b="1">
                <a:solidFill>
                  <a:schemeClr val="lt1"/>
                </a:solidFill>
              </a:endParaRPr>
            </a:p>
          </p:txBody>
        </p:sp>
      </p:grpSp>
      <p:sp>
        <p:nvSpPr>
          <p:cNvPr id="189" name="Google Shape;189;p22"/>
          <p:cNvSpPr txBox="1"/>
          <p:nvPr/>
        </p:nvSpPr>
        <p:spPr>
          <a:xfrm>
            <a:off x="161750" y="4116011"/>
            <a:ext cx="48309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uk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This is a common source of confusion</a:t>
            </a:r>
            <a:endParaRPr i="1"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uk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This refers to where the tools run. A tool that runs locally will still often make API calls remotely.</a:t>
            </a:r>
            <a:endParaRPr i="1"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uk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Local is more common than remote. It still has all the benefits of MCP; the code is retrieved remotely, run on your box.</a:t>
            </a:r>
            <a:endParaRPr i="1"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90" name="Google Shape;190;p22"/>
          <p:cNvSpPr txBox="1"/>
          <p:nvPr/>
        </p:nvSpPr>
        <p:spPr>
          <a:xfrm>
            <a:off x="442545" y="2525212"/>
            <a:ext cx="4191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They can run in two different ways (“transport”)</a:t>
            </a:r>
            <a:endParaRPr sz="1100"/>
          </a:p>
        </p:txBody>
      </p:sp>
      <p:grpSp>
        <p:nvGrpSpPr>
          <p:cNvPr id="191" name="Google Shape;191;p22"/>
          <p:cNvGrpSpPr/>
          <p:nvPr/>
        </p:nvGrpSpPr>
        <p:grpSpPr>
          <a:xfrm>
            <a:off x="1187574" y="2879207"/>
            <a:ext cx="1374751" cy="1152900"/>
            <a:chOff x="1187574" y="2879207"/>
            <a:chExt cx="1374751" cy="1152900"/>
          </a:xfrm>
        </p:grpSpPr>
        <p:sp>
          <p:nvSpPr>
            <p:cNvPr id="192" name="Google Shape;192;p22"/>
            <p:cNvSpPr/>
            <p:nvPr/>
          </p:nvSpPr>
          <p:spPr>
            <a:xfrm>
              <a:off x="1187725" y="2879207"/>
              <a:ext cx="1374600" cy="115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3" name="Google Shape;193;p22"/>
            <p:cNvSpPr txBox="1"/>
            <p:nvPr/>
          </p:nvSpPr>
          <p:spPr>
            <a:xfrm>
              <a:off x="1187574" y="2949038"/>
              <a:ext cx="1374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Local</a:t>
              </a:r>
              <a:endParaRPr b="1">
                <a:solidFill>
                  <a:schemeClr val="lt1"/>
                </a:solidFill>
              </a:endParaRPr>
            </a:p>
          </p:txBody>
        </p:sp>
      </p:grpSp>
      <p:grpSp>
        <p:nvGrpSpPr>
          <p:cNvPr id="194" name="Google Shape;194;p22"/>
          <p:cNvGrpSpPr/>
          <p:nvPr/>
        </p:nvGrpSpPr>
        <p:grpSpPr>
          <a:xfrm>
            <a:off x="2657475" y="2879207"/>
            <a:ext cx="1374600" cy="1152900"/>
            <a:chOff x="2657475" y="2879207"/>
            <a:chExt cx="1374600" cy="1152900"/>
          </a:xfrm>
        </p:grpSpPr>
        <p:sp>
          <p:nvSpPr>
            <p:cNvPr id="195" name="Google Shape;195;p22"/>
            <p:cNvSpPr/>
            <p:nvPr/>
          </p:nvSpPr>
          <p:spPr>
            <a:xfrm>
              <a:off x="2657475" y="2879207"/>
              <a:ext cx="1374600" cy="1152900"/>
            </a:xfrm>
            <a:prstGeom prst="rect">
              <a:avLst/>
            </a:prstGeom>
            <a:solidFill>
              <a:srgbClr val="0E4E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SSE (legacy)</a:t>
              </a:r>
              <a:endParaRPr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Streamable HTTP</a:t>
              </a:r>
              <a:endParaRPr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6" name="Google Shape;196;p22"/>
            <p:cNvSpPr txBox="1"/>
            <p:nvPr/>
          </p:nvSpPr>
          <p:spPr>
            <a:xfrm>
              <a:off x="2657475" y="2934088"/>
              <a:ext cx="1374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Remote</a:t>
              </a:r>
              <a:endParaRPr b="1"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/>
          <p:cNvSpPr txBox="1"/>
          <p:nvPr/>
        </p:nvSpPr>
        <p:spPr>
          <a:xfrm>
            <a:off x="280339" y="103351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Skills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02" name="Google Shape;202;p23"/>
          <p:cNvSpPr txBox="1"/>
          <p:nvPr/>
        </p:nvSpPr>
        <p:spPr>
          <a:xfrm>
            <a:off x="657225" y="1190175"/>
            <a:ext cx="4941300" cy="17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Lightweight and simple - anyone can make them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“Progressive disclosure” reduces context overhead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Also supports running scripts locally; this provides an interesting alternative type of tools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Easy to make and share Skills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03" name="Google Shape;203;p23"/>
          <p:cNvSpPr txBox="1"/>
          <p:nvPr/>
        </p:nvSpPr>
        <p:spPr>
          <a:xfrm>
            <a:off x="657225" y="3268650"/>
            <a:ext cx="5207700" cy="15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Not as flexible and powerful as Tools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Discovery is a Wild West; usually install as Plugin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Triggering a skill is ad-hoc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04" name="Google Shape;204;p23"/>
          <p:cNvSpPr/>
          <p:nvPr/>
        </p:nvSpPr>
        <p:spPr>
          <a:xfrm>
            <a:off x="419000" y="1176250"/>
            <a:ext cx="148500" cy="1793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5" name="Google Shape;205;p23"/>
          <p:cNvSpPr/>
          <p:nvPr/>
        </p:nvSpPr>
        <p:spPr>
          <a:xfrm>
            <a:off x="419000" y="3288362"/>
            <a:ext cx="148500" cy="1173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p23"/>
          <p:cNvSpPr txBox="1"/>
          <p:nvPr/>
        </p:nvSpPr>
        <p:spPr>
          <a:xfrm>
            <a:off x="280350" y="510225"/>
            <a:ext cx="5356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Introduced after MCP; primarily focused on instructions as Markdown files rather than Tools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07" name="Google Shape;207;p23"/>
          <p:cNvSpPr txBox="1"/>
          <p:nvPr/>
        </p:nvSpPr>
        <p:spPr>
          <a:xfrm>
            <a:off x="280350" y="4527900"/>
            <a:ext cx="5057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Skills feel like the more compelling solution for Claude Code, but this is evolving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4"/>
          <p:cNvSpPr txBox="1"/>
          <p:nvPr/>
        </p:nvSpPr>
        <p:spPr>
          <a:xfrm>
            <a:off x="316814" y="301251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levels of “Progressive Disclosure”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213" name="Google Shape;213;p24"/>
          <p:cNvGrpSpPr/>
          <p:nvPr/>
        </p:nvGrpSpPr>
        <p:grpSpPr>
          <a:xfrm>
            <a:off x="381000" y="940452"/>
            <a:ext cx="1374650" cy="1206900"/>
            <a:chOff x="381000" y="1258753"/>
            <a:chExt cx="1374650" cy="1206900"/>
          </a:xfrm>
        </p:grpSpPr>
        <p:sp>
          <p:nvSpPr>
            <p:cNvPr id="214" name="Google Shape;214;p24"/>
            <p:cNvSpPr/>
            <p:nvPr/>
          </p:nvSpPr>
          <p:spPr>
            <a:xfrm>
              <a:off x="381000" y="1258753"/>
              <a:ext cx="1374600" cy="1206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Name + description: When should </a:t>
              </a:r>
              <a:r>
                <a:rPr lang="uk" sz="1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this skill be triggered?</a:t>
              </a:r>
              <a:endParaRPr sz="2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15" name="Google Shape;215;p24"/>
            <p:cNvSpPr txBox="1"/>
            <p:nvPr/>
          </p:nvSpPr>
          <p:spPr>
            <a:xfrm>
              <a:off x="442550" y="1316509"/>
              <a:ext cx="1313100" cy="400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Metadata</a:t>
              </a:r>
              <a:endParaRPr b="1">
                <a:solidFill>
                  <a:schemeClr val="lt1"/>
                </a:solidFill>
              </a:endParaRPr>
            </a:p>
          </p:txBody>
        </p:sp>
      </p:grpSp>
      <p:grpSp>
        <p:nvGrpSpPr>
          <p:cNvPr id="216" name="Google Shape;216;p24"/>
          <p:cNvGrpSpPr/>
          <p:nvPr/>
        </p:nvGrpSpPr>
        <p:grpSpPr>
          <a:xfrm>
            <a:off x="1850599" y="940452"/>
            <a:ext cx="1374751" cy="1206900"/>
            <a:chOff x="1850599" y="1258753"/>
            <a:chExt cx="1374751" cy="1206900"/>
          </a:xfrm>
        </p:grpSpPr>
        <p:sp>
          <p:nvSpPr>
            <p:cNvPr id="217" name="Google Shape;217;p24"/>
            <p:cNvSpPr/>
            <p:nvPr/>
          </p:nvSpPr>
          <p:spPr>
            <a:xfrm>
              <a:off x="1850750" y="1258753"/>
              <a:ext cx="1374600" cy="1206900"/>
            </a:xfrm>
            <a:prstGeom prst="rect">
              <a:avLst/>
            </a:prstGeom>
            <a:solidFill>
              <a:srgbClr val="1775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Information with workflows, guidance, code snippets</a:t>
              </a:r>
              <a:endParaRPr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18" name="Google Shape;218;p24"/>
            <p:cNvSpPr txBox="1"/>
            <p:nvPr/>
          </p:nvSpPr>
          <p:spPr>
            <a:xfrm>
              <a:off x="1850599" y="1328584"/>
              <a:ext cx="1374600" cy="400200"/>
            </a:xfrm>
            <a:prstGeom prst="rect">
              <a:avLst/>
            </a:prstGeom>
            <a:solidFill>
              <a:srgbClr val="1775A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Instructions</a:t>
              </a:r>
              <a:endParaRPr b="1">
                <a:solidFill>
                  <a:schemeClr val="lt1"/>
                </a:solidFill>
              </a:endParaRPr>
            </a:p>
          </p:txBody>
        </p:sp>
      </p:grpSp>
      <p:grpSp>
        <p:nvGrpSpPr>
          <p:cNvPr id="219" name="Google Shape;219;p24"/>
          <p:cNvGrpSpPr/>
          <p:nvPr/>
        </p:nvGrpSpPr>
        <p:grpSpPr>
          <a:xfrm>
            <a:off x="3320500" y="940452"/>
            <a:ext cx="1374600" cy="1206900"/>
            <a:chOff x="3320500" y="1258753"/>
            <a:chExt cx="1374600" cy="1206900"/>
          </a:xfrm>
        </p:grpSpPr>
        <p:sp>
          <p:nvSpPr>
            <p:cNvPr id="220" name="Google Shape;220;p24"/>
            <p:cNvSpPr/>
            <p:nvPr/>
          </p:nvSpPr>
          <p:spPr>
            <a:xfrm>
              <a:off x="3320500" y="1258753"/>
              <a:ext cx="1374600" cy="1206900"/>
            </a:xfrm>
            <a:prstGeom prst="rect">
              <a:avLst/>
            </a:prstGeom>
            <a:solidFill>
              <a:srgbClr val="0E4E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Info that can be accessed &amp; scripts that can be run</a:t>
              </a:r>
              <a:endParaRPr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1" name="Google Shape;221;p24"/>
            <p:cNvSpPr txBox="1"/>
            <p:nvPr/>
          </p:nvSpPr>
          <p:spPr>
            <a:xfrm>
              <a:off x="3320500" y="1313634"/>
              <a:ext cx="13746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Resources + Code</a:t>
              </a:r>
              <a:endParaRPr b="1">
                <a:solidFill>
                  <a:schemeClr val="lt1"/>
                </a:solidFill>
              </a:endParaRPr>
            </a:p>
          </p:txBody>
        </p:sp>
      </p:grpSp>
      <p:sp>
        <p:nvSpPr>
          <p:cNvPr id="222" name="Google Shape;222;p24"/>
          <p:cNvSpPr txBox="1"/>
          <p:nvPr/>
        </p:nvSpPr>
        <p:spPr>
          <a:xfrm>
            <a:off x="316825" y="2571740"/>
            <a:ext cx="48309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Skills are implemented with a “File System Architecture”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.claude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skills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  my-great-skill/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    SKILL.md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    more_stuff_here_referenced_above.md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    and_more_stuff.md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    </a:t>
            </a:r>
            <a:r>
              <a:rPr b="1"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scripts</a:t>
            </a:r>
            <a:r>
              <a:rPr lang="uk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/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      scripts_in_any_language_with_instructions_above.py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script itself stays out of context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structure can be in your home directory (all projects)</a:t>
            </a:r>
            <a:br>
              <a:rPr b="1"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or project directory (project only)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3" name="Google Shape;223;p24"/>
          <p:cNvSpPr/>
          <p:nvPr/>
        </p:nvSpPr>
        <p:spPr>
          <a:xfrm>
            <a:off x="381025" y="2271854"/>
            <a:ext cx="2844300" cy="249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SKILL.md file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4" name="Google Shape;224;p24"/>
          <p:cNvSpPr/>
          <p:nvPr/>
        </p:nvSpPr>
        <p:spPr>
          <a:xfrm>
            <a:off x="3320500" y="2271849"/>
            <a:ext cx="1374600" cy="249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Other files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"/>
          <p:cNvSpPr txBox="1"/>
          <p:nvPr/>
        </p:nvSpPr>
        <p:spPr>
          <a:xfrm>
            <a:off x="280339" y="103351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Plugins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30" name="Google Shape;230;p25"/>
          <p:cNvSpPr txBox="1"/>
          <p:nvPr/>
        </p:nvSpPr>
        <p:spPr>
          <a:xfrm>
            <a:off x="657225" y="1567152"/>
            <a:ext cx="4941300" cy="11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most simple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Best trade-offs of context and capability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Commands are explicitly triggered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31" name="Google Shape;231;p25"/>
          <p:cNvSpPr txBox="1"/>
          <p:nvPr/>
        </p:nvSpPr>
        <p:spPr>
          <a:xfrm>
            <a:off x="657225" y="2974748"/>
            <a:ext cx="4463100" cy="15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Only available in Claude Code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Least configuration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May give more functionality than needed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32" name="Google Shape;232;p25"/>
          <p:cNvSpPr/>
          <p:nvPr/>
        </p:nvSpPr>
        <p:spPr>
          <a:xfrm>
            <a:off x="419000" y="1553227"/>
            <a:ext cx="148500" cy="1173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3" name="Google Shape;233;p25"/>
          <p:cNvSpPr/>
          <p:nvPr/>
        </p:nvSpPr>
        <p:spPr>
          <a:xfrm>
            <a:off x="419000" y="2994448"/>
            <a:ext cx="148500" cy="1173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4" name="Google Shape;234;p25"/>
          <p:cNvSpPr txBox="1"/>
          <p:nvPr/>
        </p:nvSpPr>
        <p:spPr>
          <a:xfrm>
            <a:off x="280350" y="593288"/>
            <a:ext cx="5356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highest level construct. A bundle of features that can include MCP Servers, Skills, Commands, along with other Claude Code features not yet covered.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35" name="Google Shape;235;p25"/>
          <p:cNvSpPr txBox="1"/>
          <p:nvPr/>
        </p:nvSpPr>
        <p:spPr>
          <a:xfrm>
            <a:off x="280350" y="4464006"/>
            <a:ext cx="505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Most of the time, start with Plugins!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0" name="Google Shape;240;p26"/>
          <p:cNvGrpSpPr/>
          <p:nvPr/>
        </p:nvGrpSpPr>
        <p:grpSpPr>
          <a:xfrm>
            <a:off x="3349350" y="724575"/>
            <a:ext cx="1968000" cy="3917415"/>
            <a:chOff x="3349350" y="724575"/>
            <a:chExt cx="1968000" cy="3917415"/>
          </a:xfrm>
        </p:grpSpPr>
        <p:sp>
          <p:nvSpPr>
            <p:cNvPr id="241" name="Google Shape;241;p26"/>
            <p:cNvSpPr/>
            <p:nvPr/>
          </p:nvSpPr>
          <p:spPr>
            <a:xfrm>
              <a:off x="3457882" y="724575"/>
              <a:ext cx="1737900" cy="3495000"/>
            </a:xfrm>
            <a:prstGeom prst="rect">
              <a:avLst/>
            </a:prstGeom>
            <a:noFill/>
            <a:ln cap="flat" cmpd="sng" w="38100">
              <a:solidFill>
                <a:schemeClr val="accent3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2" name="Google Shape;242;p26"/>
            <p:cNvSpPr txBox="1"/>
            <p:nvPr/>
          </p:nvSpPr>
          <p:spPr>
            <a:xfrm>
              <a:off x="3349350" y="4164990"/>
              <a:ext cx="1968000" cy="4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 sz="1900">
                  <a:solidFill>
                    <a:schemeClr val="accent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START HERE!!</a:t>
              </a:r>
              <a:endParaRPr sz="2200">
                <a:solidFill>
                  <a:schemeClr val="accent3"/>
                </a:solidFill>
              </a:endParaRPr>
            </a:p>
          </p:txBody>
        </p:sp>
      </p:grpSp>
      <p:sp>
        <p:nvSpPr>
          <p:cNvPr id="243" name="Google Shape;243;p26"/>
          <p:cNvSpPr txBox="1"/>
          <p:nvPr/>
        </p:nvSpPr>
        <p:spPr>
          <a:xfrm>
            <a:off x="160614" y="17006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ways to give Claude abilities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244" name="Google Shape;244;p26"/>
          <p:cNvGrpSpPr/>
          <p:nvPr/>
        </p:nvGrpSpPr>
        <p:grpSpPr>
          <a:xfrm>
            <a:off x="0" y="943053"/>
            <a:ext cx="1921800" cy="1516836"/>
            <a:chOff x="953250" y="667414"/>
            <a:chExt cx="1921800" cy="1516836"/>
          </a:xfrm>
        </p:grpSpPr>
        <p:sp>
          <p:nvSpPr>
            <p:cNvPr id="245" name="Google Shape;245;p26"/>
            <p:cNvSpPr txBox="1"/>
            <p:nvPr/>
          </p:nvSpPr>
          <p:spPr>
            <a:xfrm>
              <a:off x="953250" y="1607050"/>
              <a:ext cx="1921800" cy="5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lang="uk" sz="11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MCP</a:t>
              </a:r>
              <a:endParaRPr b="1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uk" sz="11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Connect Claude Code</a:t>
              </a:r>
              <a:br>
                <a:rPr lang="uk" sz="11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</a:br>
              <a:r>
                <a:rPr lang="uk" sz="11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to someone else’s tools</a:t>
              </a:r>
              <a:endParaRPr sz="11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246" name="Google Shape;246;p26"/>
            <p:cNvSpPr/>
            <p:nvPr/>
          </p:nvSpPr>
          <p:spPr>
            <a:xfrm>
              <a:off x="1480758" y="667414"/>
              <a:ext cx="897000" cy="897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247" name="Google Shape;247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600446" y="779063"/>
              <a:ext cx="657600" cy="657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8" name="Google Shape;248;p26"/>
          <p:cNvGrpSpPr/>
          <p:nvPr/>
        </p:nvGrpSpPr>
        <p:grpSpPr>
          <a:xfrm>
            <a:off x="1707275" y="943053"/>
            <a:ext cx="1921800" cy="1516836"/>
            <a:chOff x="977575" y="2214564"/>
            <a:chExt cx="1921800" cy="1516836"/>
          </a:xfrm>
        </p:grpSpPr>
        <p:sp>
          <p:nvSpPr>
            <p:cNvPr id="249" name="Google Shape;249;p26"/>
            <p:cNvSpPr txBox="1"/>
            <p:nvPr/>
          </p:nvSpPr>
          <p:spPr>
            <a:xfrm>
              <a:off x="977575" y="3154200"/>
              <a:ext cx="1921800" cy="5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lang="uk" sz="11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Skills</a:t>
              </a:r>
              <a:endParaRPr b="1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uk" sz="11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Add expertise &amp; capabilities</a:t>
              </a:r>
              <a:endParaRPr sz="11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250" name="Google Shape;250;p26"/>
            <p:cNvSpPr/>
            <p:nvPr/>
          </p:nvSpPr>
          <p:spPr>
            <a:xfrm>
              <a:off x="1480758" y="2214564"/>
              <a:ext cx="897000" cy="897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251" name="Google Shape;251;p2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600450" y="2334275"/>
              <a:ext cx="657600" cy="657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2" name="Google Shape;252;p26"/>
          <p:cNvGrpSpPr/>
          <p:nvPr/>
        </p:nvGrpSpPr>
        <p:grpSpPr>
          <a:xfrm>
            <a:off x="3439450" y="943053"/>
            <a:ext cx="1737900" cy="1516836"/>
            <a:chOff x="1081100" y="3761714"/>
            <a:chExt cx="1737900" cy="1516836"/>
          </a:xfrm>
        </p:grpSpPr>
        <p:sp>
          <p:nvSpPr>
            <p:cNvPr id="253" name="Google Shape;253;p26"/>
            <p:cNvSpPr txBox="1"/>
            <p:nvPr/>
          </p:nvSpPr>
          <p:spPr>
            <a:xfrm>
              <a:off x="1081100" y="4701350"/>
              <a:ext cx="1737900" cy="5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lang="uk" sz="11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Plugins</a:t>
              </a:r>
              <a:endParaRPr b="1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uk" sz="11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Convenient bundle of</a:t>
              </a:r>
              <a:br>
                <a:rPr lang="uk" sz="11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</a:br>
              <a:r>
                <a:rPr lang="uk" sz="11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MCP, Skills and more  </a:t>
              </a:r>
              <a:endParaRPr sz="11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254" name="Google Shape;254;p26"/>
            <p:cNvSpPr/>
            <p:nvPr/>
          </p:nvSpPr>
          <p:spPr>
            <a:xfrm>
              <a:off x="1480758" y="3761714"/>
              <a:ext cx="897000" cy="897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255" name="Google Shape;255;p2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639037" y="3896775"/>
              <a:ext cx="580425" cy="5804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6" name="Google Shape;256;p26"/>
          <p:cNvSpPr/>
          <p:nvPr/>
        </p:nvSpPr>
        <p:spPr>
          <a:xfrm>
            <a:off x="160625" y="2613889"/>
            <a:ext cx="1546800" cy="628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900">
                <a:latin typeface="Montserrat"/>
                <a:ea typeface="Montserrat"/>
                <a:cs typeface="Montserrat"/>
                <a:sym typeface="Montserrat"/>
              </a:rPr>
              <a:t>Massive ecosystem</a:t>
            </a:r>
            <a:endParaRPr b="1" sz="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900">
                <a:latin typeface="Montserrat"/>
                <a:ea typeface="Montserrat"/>
                <a:cs typeface="Montserrat"/>
                <a:sym typeface="Montserrat"/>
              </a:rPr>
              <a:t>Highly flexible</a:t>
            </a:r>
            <a:endParaRPr b="1" sz="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900">
                <a:latin typeface="Montserrat"/>
                <a:ea typeface="Montserrat"/>
                <a:cs typeface="Montserrat"/>
                <a:sym typeface="Montserrat"/>
              </a:rPr>
              <a:t>Mature marketplaces</a:t>
            </a:r>
            <a:endParaRPr b="1"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7" name="Google Shape;257;p26"/>
          <p:cNvSpPr/>
          <p:nvPr/>
        </p:nvSpPr>
        <p:spPr>
          <a:xfrm>
            <a:off x="160625" y="3323114"/>
            <a:ext cx="1546800" cy="628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Context hog</a:t>
            </a:r>
            <a:endParaRPr b="1"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Complex setup</a:t>
            </a:r>
            <a:endParaRPr b="1"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8" name="Google Shape;258;p26"/>
          <p:cNvSpPr/>
          <p:nvPr/>
        </p:nvSpPr>
        <p:spPr>
          <a:xfrm>
            <a:off x="1849688" y="2613889"/>
            <a:ext cx="1546800" cy="628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900">
                <a:latin typeface="Montserrat"/>
                <a:ea typeface="Montserrat"/>
                <a:cs typeface="Montserrat"/>
                <a:sym typeface="Montserrat"/>
              </a:rPr>
              <a:t>Context efficiency</a:t>
            </a:r>
            <a:endParaRPr b="1" sz="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900">
                <a:latin typeface="Montserrat"/>
                <a:ea typeface="Montserrat"/>
                <a:cs typeface="Montserrat"/>
                <a:sym typeface="Montserrat"/>
              </a:rPr>
              <a:t>Simple setup</a:t>
            </a:r>
            <a:endParaRPr b="1" sz="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900">
                <a:latin typeface="Montserrat"/>
                <a:ea typeface="Montserrat"/>
                <a:cs typeface="Montserrat"/>
                <a:sym typeface="Montserrat"/>
              </a:rPr>
              <a:t>Strong results</a:t>
            </a:r>
            <a:endParaRPr b="1"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9" name="Google Shape;259;p26"/>
          <p:cNvSpPr/>
          <p:nvPr/>
        </p:nvSpPr>
        <p:spPr>
          <a:xfrm>
            <a:off x="1849688" y="3323114"/>
            <a:ext cx="1546800" cy="628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Limited flexibility</a:t>
            </a:r>
            <a:endParaRPr b="1"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Still immature</a:t>
            </a:r>
            <a:endParaRPr b="1"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0" name="Google Shape;260;p26"/>
          <p:cNvSpPr/>
          <p:nvPr/>
        </p:nvSpPr>
        <p:spPr>
          <a:xfrm>
            <a:off x="3538738" y="2613889"/>
            <a:ext cx="1546800" cy="628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900">
                <a:latin typeface="Montserrat"/>
                <a:ea typeface="Montserrat"/>
                <a:cs typeface="Montserrat"/>
                <a:sym typeface="Montserrat"/>
              </a:rPr>
              <a:t>Best of both</a:t>
            </a:r>
            <a:endParaRPr b="1" sz="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900">
                <a:latin typeface="Montserrat"/>
                <a:ea typeface="Montserrat"/>
                <a:cs typeface="Montserrat"/>
                <a:sym typeface="Montserrat"/>
              </a:rPr>
              <a:t>Simplest setup</a:t>
            </a:r>
            <a:endParaRPr b="1" sz="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900">
                <a:latin typeface="Montserrat"/>
                <a:ea typeface="Montserrat"/>
                <a:cs typeface="Montserrat"/>
                <a:sym typeface="Montserrat"/>
              </a:rPr>
              <a:t>Explicit instructions</a:t>
            </a:r>
            <a:endParaRPr b="1"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1" name="Google Shape;261;p26"/>
          <p:cNvSpPr/>
          <p:nvPr/>
        </p:nvSpPr>
        <p:spPr>
          <a:xfrm>
            <a:off x="3538738" y="3323114"/>
            <a:ext cx="1546800" cy="628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Only Claude Code</a:t>
            </a:r>
            <a:endParaRPr b="1"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Don’t over-use</a:t>
            </a:r>
            <a:endParaRPr b="1"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7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Expert Agentic Coder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67" name="Google Shape;267;p27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8" name="Google Shape;268;p27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Coding Landscape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9" name="Google Shape;269;p27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Foundations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AGENTS.md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Context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0" name="Google Shape;270;p27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Cursor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Copilot, Codex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Antigravity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1" name="Google Shape;271;p27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1:</a:t>
            </a:r>
            <a:b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YOLO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2" name="Google Shape;272;p27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2: Commercial MVP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3" name="Google Shape;273;p27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1: Vibe Coding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for fun and profit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74" name="Google Shape;274;p27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5" name="Google Shape;275;p27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Claude Code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OpenCode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others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6" name="Google Shape;276;p27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Commands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Checkpoints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Ralph Loops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7" name="Google Shape;277;p27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Skills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Plugins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" name="Google Shape;278;p27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Workflows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Team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Debugging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9" name="Google Shape;279;p27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3: SaaS Platform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0" name="Google Shape;280;p27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2: Vibe Engineering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as a professional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81" name="Google Shape;281;p27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2" name="Google Shape;282;p27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Multi-Agents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Sub-Agents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Hooks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3" name="Google Shape;283;p27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Sandboxing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4" name="Google Shape;284;p27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Large Codebase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Workflow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5" name="Google Shape;285;p27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Swarms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Orchestrators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6" name="Google Shape;286;p27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4: Capstone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7" name="Google Shape;287;p27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3: Agentic Engineering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as an expert  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288" name="Google Shape;288;p27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289" name="Google Shape;289;p27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90" name="Google Shape;290;p27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291" name="Google Shape;291;p27"/>
          <p:cNvGrpSpPr/>
          <p:nvPr/>
        </p:nvGrpSpPr>
        <p:grpSpPr>
          <a:xfrm>
            <a:off x="1974077" y="852250"/>
            <a:ext cx="1564798" cy="323100"/>
            <a:chOff x="1365775" y="809175"/>
            <a:chExt cx="1564798" cy="323100"/>
          </a:xfrm>
        </p:grpSpPr>
        <p:sp>
          <p:nvSpPr>
            <p:cNvPr id="292" name="Google Shape;292;p27"/>
            <p:cNvSpPr/>
            <p:nvPr/>
          </p:nvSpPr>
          <p:spPr>
            <a:xfrm>
              <a:off x="13657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93" name="Google Shape;293;p27"/>
            <p:cNvSpPr txBox="1"/>
            <p:nvPr/>
          </p:nvSpPr>
          <p:spPr>
            <a:xfrm>
              <a:off x="1590773" y="809175"/>
              <a:ext cx="1339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Products / Features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294" name="Google Shape;294;p27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295" name="Google Shape;295;p27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96" name="Google Shape;296;p27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8"/>
          <p:cNvSpPr/>
          <p:nvPr/>
        </p:nvSpPr>
        <p:spPr>
          <a:xfrm>
            <a:off x="3429000" y="-25"/>
            <a:ext cx="19569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2" name="Google Shape;302;p28"/>
          <p:cNvSpPr txBox="1"/>
          <p:nvPr/>
        </p:nvSpPr>
        <p:spPr>
          <a:xfrm>
            <a:off x="3538375" y="230275"/>
            <a:ext cx="1751100" cy="46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AI Coder: Vibe Coder to Agentic Engineer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Missing Manual</a:t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4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53%</a:t>
            </a:r>
            <a:endParaRPr sz="4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303" name="Google Shape;30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32147"/>
      </a:dk1>
      <a:lt1>
        <a:srgbClr val="FFFFFF"/>
      </a:lt1>
      <a:dk2>
        <a:srgbClr val="032147"/>
      </a:dk2>
      <a:lt2>
        <a:srgbClr val="EEEEEE"/>
      </a:lt2>
      <a:accent1>
        <a:srgbClr val="209DD7"/>
      </a:accent1>
      <a:accent2>
        <a:srgbClr val="753991"/>
      </a:accent2>
      <a:accent3>
        <a:srgbClr val="ECAD0A"/>
      </a:accent3>
      <a:accent4>
        <a:srgbClr val="4CBB17"/>
      </a:accent4>
      <a:accent5>
        <a:srgbClr val="BC101F"/>
      </a:accent5>
      <a:accent6>
        <a:srgbClr val="BC101F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