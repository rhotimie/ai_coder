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bold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regular.fntdata"/><Relationship Id="rId13" Type="http://schemas.openxmlformats.org/officeDocument/2006/relationships/font" Target="fonts/MontserratSemiBold-regular.fntdata"/><Relationship Id="rId24" Type="http://schemas.openxmlformats.org/officeDocument/2006/relationships/font" Target="fonts/Montserrat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34fa6788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34fa6788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34885b273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34885b273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367bd482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9367bd482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36e5eb79a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936e5eb79a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36e5eb79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936e5eb79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 cap="flat" cmpd="sng" w="28575">
            <a:solidFill>
              <a:srgbClr val="0E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6"/>
          <p:cNvGrpSpPr/>
          <p:nvPr/>
        </p:nvGrpSpPr>
        <p:grpSpPr>
          <a:xfrm>
            <a:off x="3349350" y="724575"/>
            <a:ext cx="1968000" cy="3917415"/>
            <a:chOff x="3349350" y="724575"/>
            <a:chExt cx="1968000" cy="3917415"/>
          </a:xfrm>
        </p:grpSpPr>
        <p:sp>
          <p:nvSpPr>
            <p:cNvPr id="98" name="Google Shape;98;p16"/>
            <p:cNvSpPr/>
            <p:nvPr/>
          </p:nvSpPr>
          <p:spPr>
            <a:xfrm>
              <a:off x="3457882" y="724575"/>
              <a:ext cx="1737900" cy="3495000"/>
            </a:xfrm>
            <a:prstGeom prst="rect">
              <a:avLst/>
            </a:prstGeom>
            <a:noFill/>
            <a:ln cap="flat" cmpd="sng" w="38100">
              <a:solidFill>
                <a:schemeClr val="accent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3349350" y="4164990"/>
              <a:ext cx="19680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900">
                  <a:solidFill>
                    <a:schemeClr val="accent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START HERE!!</a:t>
              </a:r>
              <a:endParaRPr sz="2200">
                <a:solidFill>
                  <a:schemeClr val="accent3"/>
                </a:solidFill>
              </a:endParaRPr>
            </a:p>
          </p:txBody>
        </p:sp>
      </p:grpSp>
      <p:sp>
        <p:nvSpPr>
          <p:cNvPr id="100" name="Google Shape;100;p16"/>
          <p:cNvSpPr txBox="1"/>
          <p:nvPr/>
        </p:nvSpPr>
        <p:spPr>
          <a:xfrm>
            <a:off x="160614" y="1700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ways to give Claude abilities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01" name="Google Shape;101;p16"/>
          <p:cNvGrpSpPr/>
          <p:nvPr/>
        </p:nvGrpSpPr>
        <p:grpSpPr>
          <a:xfrm>
            <a:off x="0" y="943053"/>
            <a:ext cx="1921800" cy="1516836"/>
            <a:chOff x="953250" y="667414"/>
            <a:chExt cx="1921800" cy="1516836"/>
          </a:xfrm>
        </p:grpSpPr>
        <p:sp>
          <p:nvSpPr>
            <p:cNvPr id="102" name="Google Shape;102;p16"/>
            <p:cNvSpPr txBox="1"/>
            <p:nvPr/>
          </p:nvSpPr>
          <p:spPr>
            <a:xfrm>
              <a:off x="953250" y="1607050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MCP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Connect Claude Code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to someone else’s tools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1480758" y="66741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4" name="Google Shape;104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00446" y="779063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6"/>
          <p:cNvGrpSpPr/>
          <p:nvPr/>
        </p:nvGrpSpPr>
        <p:grpSpPr>
          <a:xfrm>
            <a:off x="1707275" y="943053"/>
            <a:ext cx="1921800" cy="1516836"/>
            <a:chOff x="977575" y="2214564"/>
            <a:chExt cx="1921800" cy="1516836"/>
          </a:xfrm>
        </p:grpSpPr>
        <p:sp>
          <p:nvSpPr>
            <p:cNvPr id="106" name="Google Shape;106;p16"/>
            <p:cNvSpPr txBox="1"/>
            <p:nvPr/>
          </p:nvSpPr>
          <p:spPr>
            <a:xfrm>
              <a:off x="977575" y="3154200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Skills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Add expertise &amp; capabilities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1480758" y="221456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8" name="Google Shape;108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00450" y="2334275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6"/>
          <p:cNvGrpSpPr/>
          <p:nvPr/>
        </p:nvGrpSpPr>
        <p:grpSpPr>
          <a:xfrm>
            <a:off x="3439450" y="943053"/>
            <a:ext cx="1737900" cy="1516836"/>
            <a:chOff x="1081100" y="3761714"/>
            <a:chExt cx="1737900" cy="1516836"/>
          </a:xfrm>
        </p:grpSpPr>
        <p:sp>
          <p:nvSpPr>
            <p:cNvPr id="110" name="Google Shape;110;p16"/>
            <p:cNvSpPr txBox="1"/>
            <p:nvPr/>
          </p:nvSpPr>
          <p:spPr>
            <a:xfrm>
              <a:off x="1081100" y="4701350"/>
              <a:ext cx="17379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Plugins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Convenient bundle of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MCP, Skills and more  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1480758" y="3761714"/>
              <a:ext cx="897000" cy="89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2" name="Google Shape;112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39037" y="3896775"/>
              <a:ext cx="580425" cy="580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6"/>
          <p:cNvSpPr/>
          <p:nvPr/>
        </p:nvSpPr>
        <p:spPr>
          <a:xfrm>
            <a:off x="160625" y="2613889"/>
            <a:ext cx="1546800" cy="62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Massive ecosystem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Highly flexible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Mature marketplaces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60625" y="3323114"/>
            <a:ext cx="1546800" cy="62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 hog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Complex setup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1849688" y="2613889"/>
            <a:ext cx="1546800" cy="62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Context efficiency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Simple setup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Strong results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1849688" y="3323114"/>
            <a:ext cx="1546800" cy="62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Limited flexibility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Still immature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538738" y="2613889"/>
            <a:ext cx="1546800" cy="62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Best of both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Simplest setup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latin typeface="Montserrat"/>
                <a:ea typeface="Montserrat"/>
                <a:cs typeface="Montserrat"/>
                <a:sym typeface="Montserrat"/>
              </a:rPr>
              <a:t>Explicit instructions</a:t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538738" y="3323114"/>
            <a:ext cx="1546800" cy="62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Only Claude Code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Don’t over-use</a:t>
            </a:r>
            <a:endParaRPr b="1"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7"/>
          <p:cNvGrpSpPr/>
          <p:nvPr/>
        </p:nvGrpSpPr>
        <p:grpSpPr>
          <a:xfrm>
            <a:off x="120625" y="864325"/>
            <a:ext cx="5472000" cy="3228000"/>
            <a:chOff x="120625" y="864325"/>
            <a:chExt cx="5472000" cy="3228000"/>
          </a:xfrm>
        </p:grpSpPr>
        <p:sp>
          <p:nvSpPr>
            <p:cNvPr id="124" name="Google Shape;124;p17"/>
            <p:cNvSpPr/>
            <p:nvPr/>
          </p:nvSpPr>
          <p:spPr>
            <a:xfrm>
              <a:off x="120625" y="864325"/>
              <a:ext cx="5472000" cy="3228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152400" y="914400"/>
              <a:ext cx="30000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700">
                  <a:latin typeface="Montserrat"/>
                  <a:ea typeface="Montserrat"/>
                  <a:cs typeface="Montserrat"/>
                  <a:sym typeface="Montserrat"/>
                </a:rPr>
                <a:t>Claude Code</a:t>
              </a:r>
              <a:endParaRPr sz="2100"/>
            </a:p>
          </p:txBody>
        </p:sp>
      </p:grpSp>
      <p:sp>
        <p:nvSpPr>
          <p:cNvPr id="126" name="Google Shape;126;p17"/>
          <p:cNvSpPr txBox="1"/>
          <p:nvPr/>
        </p:nvSpPr>
        <p:spPr>
          <a:xfrm>
            <a:off x="160614" y="1700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Recap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27" name="Google Shape;127;p17"/>
          <p:cNvGrpSpPr/>
          <p:nvPr/>
        </p:nvGrpSpPr>
        <p:grpSpPr>
          <a:xfrm>
            <a:off x="-50250" y="1629953"/>
            <a:ext cx="1921800" cy="1516836"/>
            <a:chOff x="-50250" y="1629953"/>
            <a:chExt cx="1921800" cy="1516836"/>
          </a:xfrm>
        </p:grpSpPr>
        <p:sp>
          <p:nvSpPr>
            <p:cNvPr id="128" name="Google Shape;128;p17"/>
            <p:cNvSpPr txBox="1"/>
            <p:nvPr/>
          </p:nvSpPr>
          <p:spPr>
            <a:xfrm>
              <a:off x="-50250" y="2569589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 Jira Issue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Via Atlassian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MCP Server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477258" y="1629953"/>
              <a:ext cx="897000" cy="89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0" name="Google Shape;130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6946" y="1741602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17"/>
          <p:cNvGrpSpPr/>
          <p:nvPr/>
        </p:nvGrpSpPr>
        <p:grpSpPr>
          <a:xfrm>
            <a:off x="1902288" y="1629953"/>
            <a:ext cx="1737900" cy="1516836"/>
            <a:chOff x="1902288" y="1629953"/>
            <a:chExt cx="1737900" cy="1516836"/>
          </a:xfrm>
        </p:grpSpPr>
        <p:sp>
          <p:nvSpPr>
            <p:cNvPr id="132" name="Google Shape;132;p17"/>
            <p:cNvSpPr txBox="1"/>
            <p:nvPr/>
          </p:nvSpPr>
          <p:spPr>
            <a:xfrm>
              <a:off x="1902288" y="2569589"/>
              <a:ext cx="17379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Implement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Via feature-dev plugin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2301945" y="1629953"/>
              <a:ext cx="897000" cy="89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4" name="Google Shape;134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60225" y="1765014"/>
              <a:ext cx="580425" cy="580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" name="Google Shape;135;p17"/>
          <p:cNvGrpSpPr/>
          <p:nvPr/>
        </p:nvGrpSpPr>
        <p:grpSpPr>
          <a:xfrm>
            <a:off x="3670925" y="1629953"/>
            <a:ext cx="1921800" cy="1516836"/>
            <a:chOff x="3670925" y="1629953"/>
            <a:chExt cx="1921800" cy="1516836"/>
          </a:xfrm>
        </p:grpSpPr>
        <p:sp>
          <p:nvSpPr>
            <p:cNvPr id="136" name="Google Shape;136;p17"/>
            <p:cNvSpPr txBox="1"/>
            <p:nvPr/>
          </p:nvSpPr>
          <p:spPr>
            <a:xfrm>
              <a:off x="3670925" y="2569589"/>
              <a:ext cx="19218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PR </a:t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Via Github</a:t>
              </a:r>
              <a:b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uk" sz="11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MCP Server</a:t>
              </a:r>
              <a:endParaRPr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4198433" y="1629953"/>
              <a:ext cx="897000" cy="89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8" name="Google Shape;138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18121" y="1741602"/>
              <a:ext cx="657600" cy="657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17"/>
          <p:cNvSpPr/>
          <p:nvPr/>
        </p:nvSpPr>
        <p:spPr>
          <a:xfrm>
            <a:off x="1802725" y="1963575"/>
            <a:ext cx="259800" cy="36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3640200" y="1963575"/>
            <a:ext cx="259800" cy="36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265125" y="3421347"/>
            <a:ext cx="5052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/feature-dev:feature-dev please implement jira issue PL-3 with a NextJS application in a directory called frontend, then raise a PR when done 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/>
        </p:nvSpPr>
        <p:spPr>
          <a:xfrm>
            <a:off x="316814" y="3012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Recap on skills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316825" y="2571740"/>
            <a:ext cx="48309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 are implemented with a “File System Architecture”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.claude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skills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my-great-skill/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SKILL.md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more_stuff_here_referenced_above.md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and_more_stuff.md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</a:t>
            </a: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scripts</a:t>
            </a: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    scripts_in_any_language_with_instructions_above.py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script itself stays out of context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structure can be in your home directory (all projects)</a:t>
            </a:r>
            <a:b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 project directory (project only)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8" name="Google Shape;148;p18"/>
          <p:cNvGrpSpPr/>
          <p:nvPr/>
        </p:nvGrpSpPr>
        <p:grpSpPr>
          <a:xfrm>
            <a:off x="381000" y="940452"/>
            <a:ext cx="4314100" cy="1580702"/>
            <a:chOff x="381000" y="940452"/>
            <a:chExt cx="4314100" cy="1580702"/>
          </a:xfrm>
        </p:grpSpPr>
        <p:grpSp>
          <p:nvGrpSpPr>
            <p:cNvPr id="149" name="Google Shape;149;p18"/>
            <p:cNvGrpSpPr/>
            <p:nvPr/>
          </p:nvGrpSpPr>
          <p:grpSpPr>
            <a:xfrm>
              <a:off x="381000" y="940452"/>
              <a:ext cx="1374650" cy="1206900"/>
              <a:chOff x="381000" y="1258753"/>
              <a:chExt cx="1374650" cy="1206900"/>
            </a:xfrm>
          </p:grpSpPr>
          <p:sp>
            <p:nvSpPr>
              <p:cNvPr id="150" name="Google Shape;150;p18"/>
              <p:cNvSpPr/>
              <p:nvPr/>
            </p:nvSpPr>
            <p:spPr>
              <a:xfrm>
                <a:off x="381000" y="1258753"/>
                <a:ext cx="1374600" cy="1206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Name + description: When should this skill be triggered?</a:t>
                </a:r>
                <a:endParaRPr sz="2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1" name="Google Shape;151;p18"/>
              <p:cNvSpPr txBox="1"/>
              <p:nvPr/>
            </p:nvSpPr>
            <p:spPr>
              <a:xfrm>
                <a:off x="442550" y="1316509"/>
                <a:ext cx="1313100" cy="400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Metadata</a:t>
                </a:r>
                <a:endParaRPr b="1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52" name="Google Shape;152;p18"/>
            <p:cNvGrpSpPr/>
            <p:nvPr/>
          </p:nvGrpSpPr>
          <p:grpSpPr>
            <a:xfrm>
              <a:off x="1850599" y="940452"/>
              <a:ext cx="1374751" cy="1206900"/>
              <a:chOff x="1850599" y="1258753"/>
              <a:chExt cx="1374751" cy="1206900"/>
            </a:xfrm>
          </p:grpSpPr>
          <p:sp>
            <p:nvSpPr>
              <p:cNvPr id="153" name="Google Shape;153;p18"/>
              <p:cNvSpPr/>
              <p:nvPr/>
            </p:nvSpPr>
            <p:spPr>
              <a:xfrm>
                <a:off x="1850750" y="1258753"/>
                <a:ext cx="1374600" cy="1206900"/>
              </a:xfrm>
              <a:prstGeom prst="rect">
                <a:avLst/>
              </a:prstGeom>
              <a:solidFill>
                <a:srgbClr val="1775A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Information with workflows, guidance, code snippets</a:t>
                </a:r>
                <a:endParaRPr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4" name="Google Shape;154;p18"/>
              <p:cNvSpPr txBox="1"/>
              <p:nvPr/>
            </p:nvSpPr>
            <p:spPr>
              <a:xfrm>
                <a:off x="1850599" y="1328584"/>
                <a:ext cx="1374600" cy="400200"/>
              </a:xfrm>
              <a:prstGeom prst="rect">
                <a:avLst/>
              </a:prstGeom>
              <a:solidFill>
                <a:srgbClr val="1775A1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Instructions</a:t>
                </a:r>
                <a:endParaRPr b="1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55" name="Google Shape;155;p18"/>
            <p:cNvGrpSpPr/>
            <p:nvPr/>
          </p:nvGrpSpPr>
          <p:grpSpPr>
            <a:xfrm>
              <a:off x="3320500" y="940452"/>
              <a:ext cx="1374600" cy="1206900"/>
              <a:chOff x="3320500" y="1258753"/>
              <a:chExt cx="1374600" cy="1206900"/>
            </a:xfrm>
          </p:grpSpPr>
          <p:sp>
            <p:nvSpPr>
              <p:cNvPr id="156" name="Google Shape;156;p18"/>
              <p:cNvSpPr/>
              <p:nvPr/>
            </p:nvSpPr>
            <p:spPr>
              <a:xfrm>
                <a:off x="3320500" y="1258753"/>
                <a:ext cx="1374600" cy="1206900"/>
              </a:xfrm>
              <a:prstGeom prst="rect">
                <a:avLst/>
              </a:prstGeom>
              <a:solidFill>
                <a:srgbClr val="0E4E6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Info that can be accessed &amp; scripts that can be run</a:t>
                </a:r>
                <a:endParaRPr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7" name="Google Shape;157;p18"/>
              <p:cNvSpPr txBox="1"/>
              <p:nvPr/>
            </p:nvSpPr>
            <p:spPr>
              <a:xfrm>
                <a:off x="3320500" y="1313634"/>
                <a:ext cx="13746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Resources + Code</a:t>
                </a:r>
                <a:endParaRPr b="1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158" name="Google Shape;158;p18"/>
            <p:cNvSpPr/>
            <p:nvPr/>
          </p:nvSpPr>
          <p:spPr>
            <a:xfrm>
              <a:off x="381025" y="2271854"/>
              <a:ext cx="2844300" cy="249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SKILL.md file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3320500" y="2271849"/>
              <a:ext cx="1374600" cy="249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Other files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86" name="Google Shape;186;p19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87" name="Google Shape;187;p19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89" name="Google Shape;189;p19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190" name="Google Shape;190;p19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92" name="Google Shape;192;p19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93" name="Google Shape;193;p19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67%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