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 SemiBold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Montserrat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MontserratMedium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MontserratMedium-italic.fntdata"/><Relationship Id="rId23" Type="http://schemas.openxmlformats.org/officeDocument/2006/relationships/font" Target="fonts/Montserrat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ontserrat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29bfa5b2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c29bfa5b2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33d1164cc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933d1164cc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33d1164cc_0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3933d1164cc_0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33d1164cc_0_1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933d1164cc_0_1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29bfa5b20_0_1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c29bfa5b20_0_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33d1164cc_0_2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3933d1164cc_0_2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i="1"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2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1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FBE097"/>
          </a:solidFill>
          <a:ln cap="flat" cmpd="sng" w="28575">
            <a:solidFill>
              <a:srgbClr val="B18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68725" y="63100"/>
            <a:ext cx="496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“Evolution of the Programmer in 2024–2026” by Steve Yegge</a:t>
            </a:r>
            <a:endParaRPr sz="1200"/>
          </a:p>
        </p:txBody>
      </p:sp>
      <p:grpSp>
        <p:nvGrpSpPr>
          <p:cNvPr id="98" name="Google Shape;98;p16"/>
          <p:cNvGrpSpPr/>
          <p:nvPr/>
        </p:nvGrpSpPr>
        <p:grpSpPr>
          <a:xfrm>
            <a:off x="94750" y="448650"/>
            <a:ext cx="1203000" cy="1206000"/>
            <a:chOff x="94750" y="448650"/>
            <a:chExt cx="1203000" cy="1206000"/>
          </a:xfrm>
        </p:grpSpPr>
        <p:sp>
          <p:nvSpPr>
            <p:cNvPr id="99" name="Google Shape;99;p16"/>
            <p:cNvSpPr/>
            <p:nvPr/>
          </p:nvSpPr>
          <p:spPr>
            <a:xfrm>
              <a:off x="94750" y="448650"/>
              <a:ext cx="1203000" cy="12060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112600" y="514213"/>
              <a:ext cx="1167300" cy="4002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1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94750" y="862425"/>
              <a:ext cx="1203000" cy="4617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ChatGPT</a:t>
              </a:r>
              <a:endPara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AI auto-complete</a:t>
              </a:r>
              <a:endPara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1345900" y="448650"/>
            <a:ext cx="1203000" cy="1206000"/>
            <a:chOff x="1345900" y="448650"/>
            <a:chExt cx="1203000" cy="1206000"/>
          </a:xfrm>
        </p:grpSpPr>
        <p:sp>
          <p:nvSpPr>
            <p:cNvPr id="103" name="Google Shape;103;p16"/>
            <p:cNvSpPr/>
            <p:nvPr/>
          </p:nvSpPr>
          <p:spPr>
            <a:xfrm>
              <a:off x="1345900" y="448650"/>
              <a:ext cx="1203000" cy="12060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1363750" y="514213"/>
              <a:ext cx="1167300" cy="4002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2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05" name="Google Shape;105;p16"/>
            <p:cNvSpPr txBox="1"/>
            <p:nvPr/>
          </p:nvSpPr>
          <p:spPr>
            <a:xfrm>
              <a:off x="1345900" y="862425"/>
              <a:ext cx="1203000" cy="7389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Coding agent in IDE sidebar, asks permission before changes</a:t>
              </a:r>
              <a:endPara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06" name="Google Shape;106;p16"/>
          <p:cNvGrpSpPr/>
          <p:nvPr/>
        </p:nvGrpSpPr>
        <p:grpSpPr>
          <a:xfrm>
            <a:off x="2597050" y="448650"/>
            <a:ext cx="1203000" cy="1206000"/>
            <a:chOff x="2597050" y="448650"/>
            <a:chExt cx="1203000" cy="1206000"/>
          </a:xfrm>
        </p:grpSpPr>
        <p:sp>
          <p:nvSpPr>
            <p:cNvPr id="107" name="Google Shape;107;p16"/>
            <p:cNvSpPr/>
            <p:nvPr/>
          </p:nvSpPr>
          <p:spPr>
            <a:xfrm>
              <a:off x="2597050" y="448650"/>
              <a:ext cx="1203000" cy="12060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8" name="Google Shape;108;p16"/>
            <p:cNvSpPr txBox="1"/>
            <p:nvPr/>
          </p:nvSpPr>
          <p:spPr>
            <a:xfrm>
              <a:off x="2614900" y="514213"/>
              <a:ext cx="1167300" cy="4002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3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2597050" y="862425"/>
              <a:ext cx="1203000" cy="6003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Coding agent in IDE sidebar, YOLO mode</a:t>
              </a:r>
              <a:endPara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10" name="Google Shape;110;p16"/>
          <p:cNvGrpSpPr/>
          <p:nvPr/>
        </p:nvGrpSpPr>
        <p:grpSpPr>
          <a:xfrm>
            <a:off x="3848200" y="448650"/>
            <a:ext cx="1203000" cy="1206000"/>
            <a:chOff x="3848200" y="448650"/>
            <a:chExt cx="1203000" cy="1206000"/>
          </a:xfrm>
        </p:grpSpPr>
        <p:sp>
          <p:nvSpPr>
            <p:cNvPr id="111" name="Google Shape;111;p16"/>
            <p:cNvSpPr/>
            <p:nvPr/>
          </p:nvSpPr>
          <p:spPr>
            <a:xfrm>
              <a:off x="3848200" y="448650"/>
              <a:ext cx="1203000" cy="12060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3866050" y="514213"/>
              <a:ext cx="1167300" cy="4002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4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3848200" y="862425"/>
              <a:ext cx="1203000" cy="7389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36000" spcFirstLastPara="1" rIns="36000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Coding agent in IDE main window, YOLO mode, check diffs</a:t>
              </a:r>
              <a:endPara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14" name="Google Shape;114;p16"/>
          <p:cNvGrpSpPr/>
          <p:nvPr/>
        </p:nvGrpSpPr>
        <p:grpSpPr>
          <a:xfrm>
            <a:off x="94750" y="1692800"/>
            <a:ext cx="1203000" cy="1206000"/>
            <a:chOff x="94750" y="1692800"/>
            <a:chExt cx="1203000" cy="1206000"/>
          </a:xfrm>
        </p:grpSpPr>
        <p:sp>
          <p:nvSpPr>
            <p:cNvPr id="115" name="Google Shape;115;p16"/>
            <p:cNvSpPr/>
            <p:nvPr/>
          </p:nvSpPr>
          <p:spPr>
            <a:xfrm>
              <a:off x="94750" y="1692800"/>
              <a:ext cx="1203000" cy="1206000"/>
            </a:xfrm>
            <a:prstGeom prst="rect">
              <a:avLst/>
            </a:prstGeom>
            <a:solidFill>
              <a:srgbClr val="1775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112600" y="1758363"/>
              <a:ext cx="1167300" cy="400200"/>
            </a:xfrm>
            <a:prstGeom prst="rect">
              <a:avLst/>
            </a:prstGeom>
            <a:solidFill>
              <a:srgbClr val="1775A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5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94750" y="2258975"/>
              <a:ext cx="1203000" cy="600300"/>
            </a:xfrm>
            <a:prstGeom prst="rect">
              <a:avLst/>
            </a:prstGeom>
            <a:solidFill>
              <a:srgbClr val="1775A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Coding agent in CLI, YOLO, diffs scroll by</a:t>
              </a:r>
              <a:endPara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18" name="Google Shape;118;p16"/>
          <p:cNvGrpSpPr/>
          <p:nvPr/>
        </p:nvGrpSpPr>
        <p:grpSpPr>
          <a:xfrm>
            <a:off x="1345900" y="1692800"/>
            <a:ext cx="1203000" cy="1206000"/>
            <a:chOff x="1345900" y="1692800"/>
            <a:chExt cx="1203000" cy="1206000"/>
          </a:xfrm>
        </p:grpSpPr>
        <p:sp>
          <p:nvSpPr>
            <p:cNvPr id="119" name="Google Shape;119;p16"/>
            <p:cNvSpPr/>
            <p:nvPr/>
          </p:nvSpPr>
          <p:spPr>
            <a:xfrm>
              <a:off x="1345900" y="1692800"/>
              <a:ext cx="1203000" cy="12060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1363750" y="1758363"/>
              <a:ext cx="1167300" cy="4002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6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1345900" y="2258975"/>
              <a:ext cx="1203000" cy="4617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Multi-agent in CLI, 3-5 agents</a:t>
              </a:r>
              <a:endPara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2" name="Google Shape;122;p16"/>
          <p:cNvGrpSpPr/>
          <p:nvPr/>
        </p:nvGrpSpPr>
        <p:grpSpPr>
          <a:xfrm>
            <a:off x="2597050" y="1692800"/>
            <a:ext cx="1203000" cy="1206000"/>
            <a:chOff x="2597050" y="1692800"/>
            <a:chExt cx="1203000" cy="1206000"/>
          </a:xfrm>
        </p:grpSpPr>
        <p:sp>
          <p:nvSpPr>
            <p:cNvPr id="123" name="Google Shape;123;p16"/>
            <p:cNvSpPr/>
            <p:nvPr/>
          </p:nvSpPr>
          <p:spPr>
            <a:xfrm>
              <a:off x="2597050" y="1692800"/>
              <a:ext cx="1203000" cy="12060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2614900" y="1758363"/>
              <a:ext cx="1167300" cy="4002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7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2597050" y="2258975"/>
              <a:ext cx="1203000" cy="6003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10+ agents in CLI manually managed</a:t>
              </a:r>
              <a:endPara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3848200" y="1692800"/>
            <a:ext cx="1203000" cy="1206000"/>
            <a:chOff x="3848200" y="1692800"/>
            <a:chExt cx="1203000" cy="1206000"/>
          </a:xfrm>
        </p:grpSpPr>
        <p:sp>
          <p:nvSpPr>
            <p:cNvPr id="127" name="Google Shape;127;p16"/>
            <p:cNvSpPr/>
            <p:nvPr/>
          </p:nvSpPr>
          <p:spPr>
            <a:xfrm>
              <a:off x="3848200" y="1692800"/>
              <a:ext cx="1203000" cy="12060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3866050" y="1758363"/>
              <a:ext cx="1167300" cy="4002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8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3848200" y="2258975"/>
              <a:ext cx="1203000" cy="6003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Agents orchestrate agents </a:t>
              </a:r>
              <a:endPara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130" name="Google Shape;13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775" y="2898800"/>
            <a:ext cx="4148992" cy="22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/>
        </p:nvSpPr>
        <p:spPr>
          <a:xfrm>
            <a:off x="0" y="756672"/>
            <a:ext cx="508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Mission critical software, large codebase, highly innovative code</a:t>
            </a:r>
            <a:endParaRPr b="1" sz="11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Which approach is right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37" name="Google Shape;137;p17"/>
          <p:cNvGrpSpPr/>
          <p:nvPr/>
        </p:nvGrpSpPr>
        <p:grpSpPr>
          <a:xfrm>
            <a:off x="420425" y="1174422"/>
            <a:ext cx="4236200" cy="1359000"/>
            <a:chOff x="420425" y="1174422"/>
            <a:chExt cx="4236200" cy="1359000"/>
          </a:xfrm>
        </p:grpSpPr>
        <p:sp>
          <p:nvSpPr>
            <p:cNvPr id="138" name="Google Shape;138;p17"/>
            <p:cNvSpPr/>
            <p:nvPr/>
          </p:nvSpPr>
          <p:spPr>
            <a:xfrm>
              <a:off x="420425" y="1174422"/>
              <a:ext cx="1359000" cy="1359000"/>
            </a:xfrm>
            <a:prstGeom prst="ellipse">
              <a:avLst/>
            </a:prstGeom>
            <a:solidFill>
              <a:srgbClr val="FBE0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  <a:t>Micro-</a:t>
              </a:r>
              <a:b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  <a:t>manage, Approve, Frequent resets</a:t>
              </a:r>
              <a:endParaRPr sz="1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1859025" y="1174422"/>
              <a:ext cx="1359000" cy="1359000"/>
            </a:xfrm>
            <a:prstGeom prst="ellipse">
              <a:avLst/>
            </a:prstGeom>
            <a:solidFill>
              <a:srgbClr val="ECAD0A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  <a:t>Plan, Execute, Review,</a:t>
              </a:r>
              <a:b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  <a:t>Test</a:t>
              </a:r>
              <a:endParaRPr sz="1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3297625" y="1174422"/>
              <a:ext cx="1359000" cy="1359000"/>
            </a:xfrm>
            <a:prstGeom prst="ellipse">
              <a:avLst/>
            </a:prstGeom>
            <a:solidFill>
              <a:srgbClr val="B181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SDD;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Trust but verify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41" name="Google Shape;141;p17"/>
          <p:cNvGrpSpPr/>
          <p:nvPr/>
        </p:nvGrpSpPr>
        <p:grpSpPr>
          <a:xfrm>
            <a:off x="420426" y="3169503"/>
            <a:ext cx="4236200" cy="1359000"/>
            <a:chOff x="420426" y="3169503"/>
            <a:chExt cx="4236200" cy="1359000"/>
          </a:xfrm>
        </p:grpSpPr>
        <p:sp>
          <p:nvSpPr>
            <p:cNvPr id="142" name="Google Shape;142;p17"/>
            <p:cNvSpPr/>
            <p:nvPr/>
          </p:nvSpPr>
          <p:spPr>
            <a:xfrm>
              <a:off x="420426" y="3169503"/>
              <a:ext cx="1359000" cy="1359000"/>
            </a:xfrm>
            <a:prstGeom prst="ellipse">
              <a:avLst/>
            </a:prstGeom>
            <a:solidFill>
              <a:srgbClr val="B179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YOLO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1859026" y="3169503"/>
              <a:ext cx="1359000" cy="1359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Ralph Loops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3297626" y="3169503"/>
              <a:ext cx="1359000" cy="1359000"/>
            </a:xfrm>
            <a:prstGeom prst="ellipse">
              <a:avLst/>
            </a:prstGeom>
            <a:solidFill>
              <a:srgbClr val="572A6C"/>
            </a:solidFill>
            <a:ln>
              <a:noFill/>
            </a:ln>
          </p:spPr>
          <p:txBody>
            <a:bodyPr anchorCtr="0" anchor="ctr" bIns="91425" lIns="36000" spcFirstLastPara="1" rIns="36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Multi-</a:t>
              </a:r>
              <a:b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agent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swarms,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orchestrate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45" name="Google Shape;145;p17"/>
          <p:cNvSpPr txBox="1"/>
          <p:nvPr/>
        </p:nvSpPr>
        <p:spPr>
          <a:xfrm>
            <a:off x="0" y="2789697"/>
            <a:ext cx="508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MVPs, new build, risk appetite, boilerplate code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0" y="4685147"/>
            <a:ext cx="508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Your job is to deliver code that is proven to work</a:t>
            </a:r>
            <a:endParaRPr b="1" i="1"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Vibe Engineering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52" name="Google Shape;15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5400" y="684851"/>
            <a:ext cx="5042659" cy="4296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/>
        </p:nvSpPr>
        <p:spPr>
          <a:xfrm>
            <a:off x="322289" y="9445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Rise of Claude Code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58" name="Google Shape;158;p19"/>
          <p:cNvGrpSpPr/>
          <p:nvPr/>
        </p:nvGrpSpPr>
        <p:grpSpPr>
          <a:xfrm>
            <a:off x="211450" y="612838"/>
            <a:ext cx="4297675" cy="788100"/>
            <a:chOff x="235750" y="612838"/>
            <a:chExt cx="4297675" cy="788100"/>
          </a:xfrm>
        </p:grpSpPr>
        <p:sp>
          <p:nvSpPr>
            <p:cNvPr id="159" name="Google Shape;159;p19"/>
            <p:cNvSpPr/>
            <p:nvPr/>
          </p:nvSpPr>
          <p:spPr>
            <a:xfrm>
              <a:off x="235750" y="612838"/>
              <a:ext cx="788100" cy="788100"/>
            </a:xfrm>
            <a:prstGeom prst="ellipse">
              <a:avLst/>
            </a:prstGeom>
            <a:solidFill>
              <a:srgbClr val="B181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0" name="Google Shape;160;p19"/>
            <p:cNvSpPr txBox="1"/>
            <p:nvPr/>
          </p:nvSpPr>
          <p:spPr>
            <a:xfrm>
              <a:off x="1098125" y="690079"/>
              <a:ext cx="3435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Created by Anthropic Engineer Boris Cherny, as a side-project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1" name="Google Shape;161;p19"/>
            <p:cNvSpPr txBox="1"/>
            <p:nvPr/>
          </p:nvSpPr>
          <p:spPr>
            <a:xfrm>
              <a:off x="235750" y="699100"/>
              <a:ext cx="788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Late</a:t>
              </a:r>
              <a:b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2024</a:t>
              </a:r>
              <a:endParaRPr b="1">
                <a:solidFill>
                  <a:schemeClr val="lt1"/>
                </a:solidFill>
              </a:endParaRPr>
            </a:p>
          </p:txBody>
        </p:sp>
      </p:grpSp>
      <p:grpSp>
        <p:nvGrpSpPr>
          <p:cNvPr id="162" name="Google Shape;162;p19"/>
          <p:cNvGrpSpPr/>
          <p:nvPr/>
        </p:nvGrpSpPr>
        <p:grpSpPr>
          <a:xfrm>
            <a:off x="211450" y="1501238"/>
            <a:ext cx="4297675" cy="788100"/>
            <a:chOff x="235750" y="1480738"/>
            <a:chExt cx="4297675" cy="788100"/>
          </a:xfrm>
        </p:grpSpPr>
        <p:sp>
          <p:nvSpPr>
            <p:cNvPr id="163" name="Google Shape;163;p19"/>
            <p:cNvSpPr/>
            <p:nvPr/>
          </p:nvSpPr>
          <p:spPr>
            <a:xfrm>
              <a:off x="235750" y="1480738"/>
              <a:ext cx="788100" cy="788100"/>
            </a:xfrm>
            <a:prstGeom prst="ellipse">
              <a:avLst/>
            </a:prstGeom>
            <a:solidFill>
              <a:srgbClr val="B181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4" name="Google Shape;164;p19"/>
            <p:cNvSpPr txBox="1"/>
            <p:nvPr/>
          </p:nvSpPr>
          <p:spPr>
            <a:xfrm>
              <a:off x="1098125" y="1536345"/>
              <a:ext cx="3435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General release, the first of the CLI based AI Coding Assistants 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5" name="Google Shape;165;p19"/>
            <p:cNvSpPr txBox="1"/>
            <p:nvPr/>
          </p:nvSpPr>
          <p:spPr>
            <a:xfrm>
              <a:off x="235750" y="1547589"/>
              <a:ext cx="788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Apr</a:t>
              </a:r>
              <a:b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2025</a:t>
              </a:r>
              <a:endParaRPr b="1">
                <a:solidFill>
                  <a:schemeClr val="lt1"/>
                </a:solidFill>
              </a:endParaRPr>
            </a:p>
          </p:txBody>
        </p:sp>
      </p:grpSp>
      <p:grpSp>
        <p:nvGrpSpPr>
          <p:cNvPr id="166" name="Google Shape;166;p19"/>
          <p:cNvGrpSpPr/>
          <p:nvPr/>
        </p:nvGrpSpPr>
        <p:grpSpPr>
          <a:xfrm>
            <a:off x="211450" y="2389638"/>
            <a:ext cx="4443775" cy="831300"/>
            <a:chOff x="235750" y="2348650"/>
            <a:chExt cx="4443775" cy="831300"/>
          </a:xfrm>
        </p:grpSpPr>
        <p:sp>
          <p:nvSpPr>
            <p:cNvPr id="167" name="Google Shape;167;p19"/>
            <p:cNvSpPr/>
            <p:nvPr/>
          </p:nvSpPr>
          <p:spPr>
            <a:xfrm>
              <a:off x="235750" y="2364863"/>
              <a:ext cx="788100" cy="788100"/>
            </a:xfrm>
            <a:prstGeom prst="ellipse">
              <a:avLst/>
            </a:prstGeom>
            <a:solidFill>
              <a:srgbClr val="B181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8" name="Google Shape;168;p19"/>
            <p:cNvSpPr txBox="1"/>
            <p:nvPr/>
          </p:nvSpPr>
          <p:spPr>
            <a:xfrm>
              <a:off x="1098125" y="2348650"/>
              <a:ext cx="35814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V2 brings VS Code extension, robust ecosystem (checkpoints, subagents, hooks, skills, background tasks, SDK …)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9" name="Google Shape;169;p19"/>
            <p:cNvSpPr txBox="1"/>
            <p:nvPr/>
          </p:nvSpPr>
          <p:spPr>
            <a:xfrm>
              <a:off x="235750" y="2437089"/>
              <a:ext cx="788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Sep</a:t>
              </a:r>
              <a:b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2025</a:t>
              </a:r>
              <a:endParaRPr b="1">
                <a:solidFill>
                  <a:schemeClr val="lt1"/>
                </a:solidFill>
              </a:endParaRPr>
            </a:p>
          </p:txBody>
        </p:sp>
      </p:grpSp>
      <p:grpSp>
        <p:nvGrpSpPr>
          <p:cNvPr id="170" name="Google Shape;170;p19"/>
          <p:cNvGrpSpPr/>
          <p:nvPr/>
        </p:nvGrpSpPr>
        <p:grpSpPr>
          <a:xfrm>
            <a:off x="211450" y="3321238"/>
            <a:ext cx="4346275" cy="788100"/>
            <a:chOff x="211450" y="3275963"/>
            <a:chExt cx="4346275" cy="788100"/>
          </a:xfrm>
        </p:grpSpPr>
        <p:sp>
          <p:nvSpPr>
            <p:cNvPr id="171" name="Google Shape;171;p19"/>
            <p:cNvSpPr/>
            <p:nvPr/>
          </p:nvSpPr>
          <p:spPr>
            <a:xfrm>
              <a:off x="211450" y="3275963"/>
              <a:ext cx="788100" cy="788100"/>
            </a:xfrm>
            <a:prstGeom prst="ellipse">
              <a:avLst/>
            </a:prstGeom>
            <a:solidFill>
              <a:srgbClr val="B181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1073825" y="3357103"/>
              <a:ext cx="34839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Opus 4.5 released, considered inflection point; $1B run-rate revenue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3" name="Google Shape;173;p19"/>
            <p:cNvSpPr txBox="1"/>
            <p:nvPr/>
          </p:nvSpPr>
          <p:spPr>
            <a:xfrm>
              <a:off x="211450" y="3345977"/>
              <a:ext cx="788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Nov</a:t>
              </a:r>
              <a:b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2025</a:t>
              </a:r>
              <a:endParaRPr b="1">
                <a:solidFill>
                  <a:schemeClr val="lt1"/>
                </a:solidFill>
              </a:endParaRPr>
            </a:p>
          </p:txBody>
        </p:sp>
      </p:grpSp>
      <p:grpSp>
        <p:nvGrpSpPr>
          <p:cNvPr id="174" name="Google Shape;174;p19"/>
          <p:cNvGrpSpPr/>
          <p:nvPr/>
        </p:nvGrpSpPr>
        <p:grpSpPr>
          <a:xfrm>
            <a:off x="211450" y="4209638"/>
            <a:ext cx="4297675" cy="788100"/>
            <a:chOff x="235750" y="4209638"/>
            <a:chExt cx="4297675" cy="788100"/>
          </a:xfrm>
        </p:grpSpPr>
        <p:sp>
          <p:nvSpPr>
            <p:cNvPr id="175" name="Google Shape;175;p19"/>
            <p:cNvSpPr/>
            <p:nvPr/>
          </p:nvSpPr>
          <p:spPr>
            <a:xfrm>
              <a:off x="235750" y="4209638"/>
              <a:ext cx="788100" cy="788100"/>
            </a:xfrm>
            <a:prstGeom prst="ellipse">
              <a:avLst/>
            </a:prstGeom>
            <a:solidFill>
              <a:srgbClr val="B181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1098125" y="4311660"/>
              <a:ext cx="3435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Cowork takes Claude Code beyond Coding (+Open Claw, etc)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235750" y="4293427"/>
              <a:ext cx="788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Jan</a:t>
              </a:r>
              <a:b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2026</a:t>
              </a:r>
              <a:endParaRPr b="1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04" name="Google Shape;204;p20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205" name="Google Shape;205;p20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6" name="Google Shape;206;p20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07" name="Google Shape;207;p20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208" name="Google Shape;208;p20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10" name="Google Shape;210;p20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211" name="Google Shape;211;p20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2" name="Google Shape;212;p20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40%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19" name="Google Shape;2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