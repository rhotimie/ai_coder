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Montserrat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ontserratMedium-bold.fntdata"/><Relationship Id="rId23" Type="http://schemas.openxmlformats.org/officeDocument/2006/relationships/font" Target="fonts/Montserra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boldItalic.fntdata"/><Relationship Id="rId25" Type="http://schemas.openxmlformats.org/officeDocument/2006/relationships/font" Target="fonts/Montserrat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36e5eb79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936e5eb79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6619821db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c6619821db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6619821db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c6619821db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6619821db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c6619821db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63e4dfaca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c63e4dfaca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63e4dfaca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c63e4dfaca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63e4dfac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c63e4dfac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 cap="flat" cmpd="sng" w="2857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68725" y="63100"/>
            <a:ext cx="49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“Evolution of the Programmer in 2024–2026” by Steve Yegge</a:t>
            </a:r>
            <a:endParaRPr sz="1200"/>
          </a:p>
        </p:txBody>
      </p:sp>
      <p:grpSp>
        <p:nvGrpSpPr>
          <p:cNvPr id="98" name="Google Shape;98;p16"/>
          <p:cNvGrpSpPr/>
          <p:nvPr/>
        </p:nvGrpSpPr>
        <p:grpSpPr>
          <a:xfrm>
            <a:off x="94750" y="448650"/>
            <a:ext cx="1203000" cy="1206000"/>
            <a:chOff x="94750" y="448650"/>
            <a:chExt cx="1203000" cy="1206000"/>
          </a:xfrm>
        </p:grpSpPr>
        <p:sp>
          <p:nvSpPr>
            <p:cNvPr id="99" name="Google Shape;99;p16"/>
            <p:cNvSpPr/>
            <p:nvPr/>
          </p:nvSpPr>
          <p:spPr>
            <a:xfrm>
              <a:off x="9475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11260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1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94750" y="862425"/>
              <a:ext cx="1203000" cy="4617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ChatGPT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AI auto-complete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1345900" y="448650"/>
            <a:ext cx="1203000" cy="1206000"/>
            <a:chOff x="1345900" y="448650"/>
            <a:chExt cx="1203000" cy="1206000"/>
          </a:xfrm>
        </p:grpSpPr>
        <p:sp>
          <p:nvSpPr>
            <p:cNvPr id="103" name="Google Shape;103;p16"/>
            <p:cNvSpPr/>
            <p:nvPr/>
          </p:nvSpPr>
          <p:spPr>
            <a:xfrm>
              <a:off x="134590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136375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2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1345900" y="862425"/>
              <a:ext cx="1203000" cy="7389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IDE sidebar, asks permission before changes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2597050" y="448650"/>
            <a:ext cx="1203000" cy="1206000"/>
            <a:chOff x="2597050" y="448650"/>
            <a:chExt cx="1203000" cy="1206000"/>
          </a:xfrm>
        </p:grpSpPr>
        <p:sp>
          <p:nvSpPr>
            <p:cNvPr id="107" name="Google Shape;107;p16"/>
            <p:cNvSpPr/>
            <p:nvPr/>
          </p:nvSpPr>
          <p:spPr>
            <a:xfrm>
              <a:off x="259705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261490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3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2597050" y="862425"/>
              <a:ext cx="1203000" cy="6003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IDE sidebar, YOLO mode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3848200" y="448650"/>
            <a:ext cx="1203000" cy="1206000"/>
            <a:chOff x="3848200" y="448650"/>
            <a:chExt cx="1203000" cy="1206000"/>
          </a:xfrm>
        </p:grpSpPr>
        <p:sp>
          <p:nvSpPr>
            <p:cNvPr id="111" name="Google Shape;111;p16"/>
            <p:cNvSpPr/>
            <p:nvPr/>
          </p:nvSpPr>
          <p:spPr>
            <a:xfrm>
              <a:off x="384820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386605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4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3848200" y="862425"/>
              <a:ext cx="1203000" cy="7389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36000" spcFirstLastPara="1" rIns="36000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IDE main window, YOLO mode, check diffs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94750" y="1692800"/>
            <a:ext cx="1203000" cy="1206000"/>
            <a:chOff x="94750" y="1692800"/>
            <a:chExt cx="1203000" cy="1206000"/>
          </a:xfrm>
        </p:grpSpPr>
        <p:sp>
          <p:nvSpPr>
            <p:cNvPr id="115" name="Google Shape;115;p16"/>
            <p:cNvSpPr/>
            <p:nvPr/>
          </p:nvSpPr>
          <p:spPr>
            <a:xfrm>
              <a:off x="94750" y="1692800"/>
              <a:ext cx="1203000" cy="12060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112600" y="1758363"/>
              <a:ext cx="1167300" cy="4002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5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94750" y="2258975"/>
              <a:ext cx="1203000" cy="6003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CLI, YOLO, diffs scroll by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8" name="Google Shape;118;p16"/>
          <p:cNvGrpSpPr/>
          <p:nvPr/>
        </p:nvGrpSpPr>
        <p:grpSpPr>
          <a:xfrm>
            <a:off x="1345900" y="1692800"/>
            <a:ext cx="1203000" cy="1206000"/>
            <a:chOff x="1345900" y="1692800"/>
            <a:chExt cx="1203000" cy="1206000"/>
          </a:xfrm>
        </p:grpSpPr>
        <p:sp>
          <p:nvSpPr>
            <p:cNvPr id="119" name="Google Shape;119;p16"/>
            <p:cNvSpPr/>
            <p:nvPr/>
          </p:nvSpPr>
          <p:spPr>
            <a:xfrm>
              <a:off x="1345900" y="1692800"/>
              <a:ext cx="1203000" cy="12060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1363750" y="1758363"/>
              <a:ext cx="1167300" cy="4002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6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1345900" y="2258975"/>
              <a:ext cx="1203000" cy="4617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Multi-agent in CLI, 3-5 agents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2597050" y="1692800"/>
            <a:ext cx="1203000" cy="1206000"/>
            <a:chOff x="2597050" y="1692800"/>
            <a:chExt cx="1203000" cy="1206000"/>
          </a:xfrm>
        </p:grpSpPr>
        <p:sp>
          <p:nvSpPr>
            <p:cNvPr id="123" name="Google Shape;123;p16"/>
            <p:cNvSpPr/>
            <p:nvPr/>
          </p:nvSpPr>
          <p:spPr>
            <a:xfrm>
              <a:off x="2597050" y="1692800"/>
              <a:ext cx="1203000" cy="12060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2614900" y="1758363"/>
              <a:ext cx="1167300" cy="4002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7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2597050" y="2258975"/>
              <a:ext cx="1203000" cy="6003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10+ agents in CLI manually managed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3848200" y="1692800"/>
            <a:ext cx="1203000" cy="1206000"/>
            <a:chOff x="3848200" y="1692800"/>
            <a:chExt cx="1203000" cy="1206000"/>
          </a:xfrm>
        </p:grpSpPr>
        <p:sp>
          <p:nvSpPr>
            <p:cNvPr id="127" name="Google Shape;127;p16"/>
            <p:cNvSpPr/>
            <p:nvPr/>
          </p:nvSpPr>
          <p:spPr>
            <a:xfrm>
              <a:off x="3848200" y="1692800"/>
              <a:ext cx="1203000" cy="12060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3866050" y="1758363"/>
              <a:ext cx="1167300" cy="4002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8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3848200" y="2258975"/>
              <a:ext cx="1203000" cy="6003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Agents orchestrate agents 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130" name="Google Shape;13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75" y="2898800"/>
            <a:ext cx="4148992" cy="22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0" y="756672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Mission critical software, large codebase, highly innovative code</a:t>
            </a:r>
            <a:endParaRPr b="1"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Which approach is right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37" name="Google Shape;137;p17"/>
          <p:cNvGrpSpPr/>
          <p:nvPr/>
        </p:nvGrpSpPr>
        <p:grpSpPr>
          <a:xfrm>
            <a:off x="420425" y="1174422"/>
            <a:ext cx="4236200" cy="1359000"/>
            <a:chOff x="420425" y="1174422"/>
            <a:chExt cx="4236200" cy="1359000"/>
          </a:xfrm>
        </p:grpSpPr>
        <p:sp>
          <p:nvSpPr>
            <p:cNvPr id="138" name="Google Shape;138;p17"/>
            <p:cNvSpPr/>
            <p:nvPr/>
          </p:nvSpPr>
          <p:spPr>
            <a:xfrm>
              <a:off x="420425" y="1174422"/>
              <a:ext cx="1359000" cy="1359000"/>
            </a:xfrm>
            <a:prstGeom prst="ellipse">
              <a:avLst/>
            </a:prstGeom>
            <a:solidFill>
              <a:srgbClr val="FBE0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Micro-</a:t>
              </a:r>
              <a:b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manage, Approve, Frequent resets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1859025" y="1174422"/>
              <a:ext cx="1359000" cy="1359000"/>
            </a:xfrm>
            <a:prstGeom prst="ellipse">
              <a:avLst/>
            </a:prstGeom>
            <a:solidFill>
              <a:srgbClr val="ECAD0A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Plan, Execute, Review,</a:t>
              </a:r>
              <a:b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Test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3297625" y="1174422"/>
              <a:ext cx="1359000" cy="13590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SDD;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Trust but verify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1" name="Google Shape;141;p17"/>
          <p:cNvGrpSpPr/>
          <p:nvPr/>
        </p:nvGrpSpPr>
        <p:grpSpPr>
          <a:xfrm>
            <a:off x="420426" y="3169503"/>
            <a:ext cx="4236200" cy="1359000"/>
            <a:chOff x="420426" y="3169503"/>
            <a:chExt cx="4236200" cy="1359000"/>
          </a:xfrm>
        </p:grpSpPr>
        <p:sp>
          <p:nvSpPr>
            <p:cNvPr id="142" name="Google Shape;142;p17"/>
            <p:cNvSpPr/>
            <p:nvPr/>
          </p:nvSpPr>
          <p:spPr>
            <a:xfrm>
              <a:off x="420426" y="3169503"/>
              <a:ext cx="1359000" cy="1359000"/>
            </a:xfrm>
            <a:prstGeom prst="ellipse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YOLO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1859026" y="3169503"/>
              <a:ext cx="1359000" cy="1359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Ralph Loops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3297626" y="3169503"/>
              <a:ext cx="1359000" cy="1359000"/>
            </a:xfrm>
            <a:prstGeom prst="ellipse">
              <a:avLst/>
            </a:prstGeom>
            <a:solidFill>
              <a:srgbClr val="572A6C"/>
            </a:solidFill>
            <a:ln>
              <a:noFill/>
            </a:ln>
          </p:spPr>
          <p:txBody>
            <a:bodyPr anchorCtr="0" anchor="ctr" bIns="91425" lIns="36000" spcFirstLastPara="1" rIns="36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Multi-</a:t>
              </a:r>
              <a:b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agent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swarms,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orchestrate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5" name="Google Shape;145;p17"/>
          <p:cNvSpPr txBox="1"/>
          <p:nvPr/>
        </p:nvSpPr>
        <p:spPr>
          <a:xfrm>
            <a:off x="0" y="2789697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MVPs, new build, risk appetite, boilerplate code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0" y="4685147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Your job is to deliver code that is proven to work</a:t>
            </a:r>
            <a:endParaRPr b="1" i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 techniques fall into 2 camps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87875" y="722200"/>
            <a:ext cx="2160600" cy="226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CHAOS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GSD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2314025" y="722200"/>
            <a:ext cx="2160600" cy="226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CONTROL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 of files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Self-correcting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Sandboxes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Orchestration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87875" y="3053275"/>
            <a:ext cx="4386900" cy="1475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goal is </a:t>
            </a:r>
            <a:r>
              <a:rPr b="1" lang="uk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controlled chaos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Driven by project maturity and your comfort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Start by prioritizing control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Claude Code Pro Features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60" name="Google Shape;160;p19"/>
          <p:cNvGrpSpPr/>
          <p:nvPr/>
        </p:nvGrpSpPr>
        <p:grpSpPr>
          <a:xfrm>
            <a:off x="211450" y="612838"/>
            <a:ext cx="4297675" cy="788100"/>
            <a:chOff x="211450" y="612838"/>
            <a:chExt cx="4297675" cy="788100"/>
          </a:xfrm>
        </p:grpSpPr>
        <p:sp>
          <p:nvSpPr>
            <p:cNvPr id="161" name="Google Shape;161;p19"/>
            <p:cNvSpPr/>
            <p:nvPr/>
          </p:nvSpPr>
          <p:spPr>
            <a:xfrm>
              <a:off x="211450" y="6128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2" name="Google Shape;162;p19"/>
            <p:cNvSpPr txBox="1"/>
            <p:nvPr/>
          </p:nvSpPr>
          <p:spPr>
            <a:xfrm>
              <a:off x="1073825" y="794225"/>
              <a:ext cx="343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Create a Slash Command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211450" y="699100"/>
              <a:ext cx="788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lt1"/>
                </a:solidFill>
              </a:endParaRPr>
            </a:p>
          </p:txBody>
        </p:sp>
        <p:pic>
          <p:nvPicPr>
            <p:cNvPr id="164" name="Google Shape;164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3650" y="784690"/>
              <a:ext cx="464925" cy="464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" name="Google Shape;165;p19"/>
          <p:cNvGrpSpPr/>
          <p:nvPr/>
        </p:nvGrpSpPr>
        <p:grpSpPr>
          <a:xfrm>
            <a:off x="211450" y="1512038"/>
            <a:ext cx="4297675" cy="788100"/>
            <a:chOff x="211450" y="1512038"/>
            <a:chExt cx="4297675" cy="788100"/>
          </a:xfrm>
        </p:grpSpPr>
        <p:sp>
          <p:nvSpPr>
            <p:cNvPr id="166" name="Google Shape;166;p19"/>
            <p:cNvSpPr/>
            <p:nvPr/>
          </p:nvSpPr>
          <p:spPr>
            <a:xfrm>
              <a:off x="211450" y="15120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1073825" y="1671405"/>
              <a:ext cx="343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Multi-Agents and Sub-Agents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68" name="Google Shape;168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6200" y="1684094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" name="Google Shape;169;p19"/>
          <p:cNvGrpSpPr/>
          <p:nvPr/>
        </p:nvGrpSpPr>
        <p:grpSpPr>
          <a:xfrm>
            <a:off x="211450" y="2411238"/>
            <a:ext cx="4443775" cy="788100"/>
            <a:chOff x="211450" y="2411238"/>
            <a:chExt cx="4443775" cy="788100"/>
          </a:xfrm>
        </p:grpSpPr>
        <p:sp>
          <p:nvSpPr>
            <p:cNvPr id="170" name="Google Shape;170;p19"/>
            <p:cNvSpPr/>
            <p:nvPr/>
          </p:nvSpPr>
          <p:spPr>
            <a:xfrm>
              <a:off x="211450" y="24112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1073825" y="2577100"/>
              <a:ext cx="3581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Agent teams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72" name="Google Shape;172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6199" y="2586006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3" name="Google Shape;173;p19"/>
          <p:cNvGrpSpPr/>
          <p:nvPr/>
        </p:nvGrpSpPr>
        <p:grpSpPr>
          <a:xfrm>
            <a:off x="211450" y="3310438"/>
            <a:ext cx="4346275" cy="788100"/>
            <a:chOff x="211450" y="3310438"/>
            <a:chExt cx="4346275" cy="788100"/>
          </a:xfrm>
        </p:grpSpPr>
        <p:sp>
          <p:nvSpPr>
            <p:cNvPr id="174" name="Google Shape;174;p19"/>
            <p:cNvSpPr/>
            <p:nvPr/>
          </p:nvSpPr>
          <p:spPr>
            <a:xfrm>
              <a:off x="211450" y="33104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1073825" y="3496110"/>
              <a:ext cx="3483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Hooks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76" name="Google Shape;176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326964" y="3456276"/>
              <a:ext cx="539124" cy="5391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7" name="Google Shape;177;p19"/>
          <p:cNvGrpSpPr/>
          <p:nvPr/>
        </p:nvGrpSpPr>
        <p:grpSpPr>
          <a:xfrm>
            <a:off x="211450" y="4209638"/>
            <a:ext cx="4297675" cy="788100"/>
            <a:chOff x="211450" y="4209638"/>
            <a:chExt cx="4297675" cy="788100"/>
          </a:xfrm>
        </p:grpSpPr>
        <p:sp>
          <p:nvSpPr>
            <p:cNvPr id="178" name="Google Shape;178;p19"/>
            <p:cNvSpPr/>
            <p:nvPr/>
          </p:nvSpPr>
          <p:spPr>
            <a:xfrm>
              <a:off x="211450" y="42096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9" name="Google Shape;179;p19"/>
            <p:cNvSpPr txBox="1"/>
            <p:nvPr/>
          </p:nvSpPr>
          <p:spPr>
            <a:xfrm>
              <a:off x="1073825" y="4410598"/>
              <a:ext cx="343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Create a Plugin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80" name="Google Shape;180;p1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69921" y="4355768"/>
              <a:ext cx="481574" cy="4815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Pros &amp; Cons of Sub-Agents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788800" y="751427"/>
            <a:ext cx="49413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Parallelism - accelerate by working on different components at the same time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Self-correction - keep the project on rails by having agents that check and test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Context efficiency - keep context unpolluted </a:t>
            </a: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with information related to other tasks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Task focus - keep bounded responsibility and prompts to each Agent, reducing context switching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788800" y="3086098"/>
            <a:ext cx="44631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Orchestration complexity - more </a:t>
            </a: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moving</a:t>
            </a: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parts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Boundary issues - mistakes in the dependencies between agents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Error amplification - mistakes can compound leading to unreliable outcomes.. or chaos!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Costs - tokens can add up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19000" y="802556"/>
            <a:ext cx="148500" cy="182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19000" y="3092368"/>
            <a:ext cx="148500" cy="1564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16" name="Google Shape;216;p21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17" name="Google Shape;217;p21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19" name="Google Shape;219;p21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220" name="Google Shape;220;p21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1" name="Google Shape;221;p21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23" name="Google Shape;223;p21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73%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31" name="Google Shape;2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