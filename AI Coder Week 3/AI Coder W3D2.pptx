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 SemiBold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  <p:embeddedFont>
      <p:font typeface="Montserrat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MontserratMedium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MontserratMedium-italic.fntdata"/><Relationship Id="rId23" Type="http://schemas.openxmlformats.org/officeDocument/2006/relationships/font" Target="fonts/Montserrat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Montserrat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ontserratSemiBold-bold.fntdata"/><Relationship Id="rId14" Type="http://schemas.openxmlformats.org/officeDocument/2006/relationships/font" Target="fonts/MontserratSemiBold-regular.fntdata"/><Relationship Id="rId17" Type="http://schemas.openxmlformats.org/officeDocument/2006/relationships/font" Target="fonts/MontserratSemiBold-boldItalic.fntdata"/><Relationship Id="rId16" Type="http://schemas.openxmlformats.org/officeDocument/2006/relationships/font" Target="fonts/MontserratSemiBold-italic.fntdata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63e4dfac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c63e4dfac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63e4dfaca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c63e4dfaca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63e4dfaca_0_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c63e4dfaca_0_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6619821db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3c6619821db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6c60e2e35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g3c6c60e2e35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6c60e2e3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3c6c60e2e3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i="1"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3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2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 cap="flat" cmpd="sng" w="28575">
            <a:solidFill>
              <a:srgbClr val="B18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322289" y="9445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Claude Code Pro Features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>
            <a:off x="211450" y="612838"/>
            <a:ext cx="4297675" cy="788100"/>
            <a:chOff x="211450" y="612838"/>
            <a:chExt cx="4297675" cy="788100"/>
          </a:xfrm>
        </p:grpSpPr>
        <p:sp>
          <p:nvSpPr>
            <p:cNvPr id="99" name="Google Shape;99;p16"/>
            <p:cNvSpPr/>
            <p:nvPr/>
          </p:nvSpPr>
          <p:spPr>
            <a:xfrm>
              <a:off x="211450" y="612838"/>
              <a:ext cx="788100" cy="78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1073825" y="794225"/>
              <a:ext cx="343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Create a Slash Command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211450" y="699100"/>
              <a:ext cx="788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lt1"/>
                </a:solidFill>
              </a:endParaRPr>
            </a:p>
          </p:txBody>
        </p:sp>
        <p:pic>
          <p:nvPicPr>
            <p:cNvPr id="102" name="Google Shape;102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3650" y="784690"/>
              <a:ext cx="464925" cy="4649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6"/>
          <p:cNvGrpSpPr/>
          <p:nvPr/>
        </p:nvGrpSpPr>
        <p:grpSpPr>
          <a:xfrm>
            <a:off x="211450" y="1512038"/>
            <a:ext cx="4297675" cy="788100"/>
            <a:chOff x="211450" y="1512038"/>
            <a:chExt cx="4297675" cy="788100"/>
          </a:xfrm>
        </p:grpSpPr>
        <p:sp>
          <p:nvSpPr>
            <p:cNvPr id="104" name="Google Shape;104;p16"/>
            <p:cNvSpPr/>
            <p:nvPr/>
          </p:nvSpPr>
          <p:spPr>
            <a:xfrm>
              <a:off x="211450" y="1512038"/>
              <a:ext cx="788100" cy="78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5" name="Google Shape;105;p16"/>
            <p:cNvSpPr txBox="1"/>
            <p:nvPr/>
          </p:nvSpPr>
          <p:spPr>
            <a:xfrm>
              <a:off x="1073825" y="1671405"/>
              <a:ext cx="343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Multi-Agents and Sub-Agents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06" name="Google Shape;106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86200" y="1684094"/>
              <a:ext cx="438600" cy="43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" name="Google Shape;107;p16"/>
          <p:cNvGrpSpPr/>
          <p:nvPr/>
        </p:nvGrpSpPr>
        <p:grpSpPr>
          <a:xfrm>
            <a:off x="211450" y="2411238"/>
            <a:ext cx="4443775" cy="788100"/>
            <a:chOff x="211450" y="2411238"/>
            <a:chExt cx="4443775" cy="788100"/>
          </a:xfrm>
        </p:grpSpPr>
        <p:sp>
          <p:nvSpPr>
            <p:cNvPr id="108" name="Google Shape;108;p16"/>
            <p:cNvSpPr/>
            <p:nvPr/>
          </p:nvSpPr>
          <p:spPr>
            <a:xfrm>
              <a:off x="211450" y="2411238"/>
              <a:ext cx="788100" cy="78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9" name="Google Shape;109;p16"/>
            <p:cNvSpPr txBox="1"/>
            <p:nvPr/>
          </p:nvSpPr>
          <p:spPr>
            <a:xfrm>
              <a:off x="1073825" y="2577100"/>
              <a:ext cx="3581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Agent teams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10" name="Google Shape;110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6199" y="2586006"/>
              <a:ext cx="438600" cy="43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1" name="Google Shape;111;p16"/>
          <p:cNvGrpSpPr/>
          <p:nvPr/>
        </p:nvGrpSpPr>
        <p:grpSpPr>
          <a:xfrm>
            <a:off x="211450" y="3310438"/>
            <a:ext cx="4346275" cy="788100"/>
            <a:chOff x="211450" y="3310438"/>
            <a:chExt cx="4346275" cy="788100"/>
          </a:xfrm>
        </p:grpSpPr>
        <p:sp>
          <p:nvSpPr>
            <p:cNvPr id="112" name="Google Shape;112;p16"/>
            <p:cNvSpPr/>
            <p:nvPr/>
          </p:nvSpPr>
          <p:spPr>
            <a:xfrm>
              <a:off x="211450" y="3310438"/>
              <a:ext cx="788100" cy="78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1073825" y="3496110"/>
              <a:ext cx="3483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Hooks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14" name="Google Shape;114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326964" y="3456276"/>
              <a:ext cx="539124" cy="5391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" name="Google Shape;115;p16"/>
          <p:cNvGrpSpPr/>
          <p:nvPr/>
        </p:nvGrpSpPr>
        <p:grpSpPr>
          <a:xfrm>
            <a:off x="211450" y="4209638"/>
            <a:ext cx="4297675" cy="788100"/>
            <a:chOff x="211450" y="4209638"/>
            <a:chExt cx="4297675" cy="788100"/>
          </a:xfrm>
        </p:grpSpPr>
        <p:sp>
          <p:nvSpPr>
            <p:cNvPr id="116" name="Google Shape;116;p16"/>
            <p:cNvSpPr/>
            <p:nvPr/>
          </p:nvSpPr>
          <p:spPr>
            <a:xfrm>
              <a:off x="211450" y="4209638"/>
              <a:ext cx="788100" cy="78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1073825" y="4410598"/>
              <a:ext cx="343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Create a Plugin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18" name="Google Shape;118;p1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69921" y="4355768"/>
              <a:ext cx="481574" cy="4815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/>
        </p:nvSpPr>
        <p:spPr>
          <a:xfrm>
            <a:off x="280339" y="1033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Pros &amp; Cons of Sub-Agents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788800" y="751427"/>
            <a:ext cx="4941300" cy="19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Parallelism - accelerate by working on different components at the same time</a:t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Self-correction - keep the project on rails by having agents that check and test</a:t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Context efficiency - keep context unpolluted </a:t>
            </a:r>
            <a:r>
              <a:rPr lang="uk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with information related to other tasks</a:t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Task focus - keep bounded responsibility and prompts to each Agent, reducing context switching</a:t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788800" y="3086098"/>
            <a:ext cx="4463100" cy="15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Orchestration complexity - more </a:t>
            </a:r>
            <a:r>
              <a:rPr lang="uk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moving</a:t>
            </a:r>
            <a:r>
              <a:rPr lang="uk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parts</a:t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Boundary issues - mistakes in the dependencies between agents</a:t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Error amplification - mistakes can compound leading to unreliable outcomes.. or chaos!</a:t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Costs - tokens can add up</a:t>
            </a:r>
            <a:endParaRPr sz="11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419000" y="802556"/>
            <a:ext cx="148500" cy="1820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419000" y="3092368"/>
            <a:ext cx="148500" cy="1564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/>
        </p:nvSpPr>
        <p:spPr>
          <a:xfrm>
            <a:off x="280339" y="1033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Two related concepts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87875" y="722200"/>
            <a:ext cx="2160600" cy="226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More secure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More productive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Avoid approval fatigue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2314025" y="722200"/>
            <a:ext cx="2160600" cy="226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REMOTE EXECUTION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More in parallel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Already Sandboxed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 on the go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87875" y="3053275"/>
            <a:ext cx="4386900" cy="1475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Evolving space, multiple offerings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Claude Code and Codex have similar menu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/>
        </p:nvSpPr>
        <p:spPr>
          <a:xfrm>
            <a:off x="280339" y="1033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main approaches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41" name="Google Shape;141;p19"/>
          <p:cNvGrpSpPr/>
          <p:nvPr/>
        </p:nvGrpSpPr>
        <p:grpSpPr>
          <a:xfrm>
            <a:off x="195549" y="790150"/>
            <a:ext cx="4063250" cy="993900"/>
            <a:chOff x="195549" y="790150"/>
            <a:chExt cx="4063250" cy="993900"/>
          </a:xfrm>
        </p:grpSpPr>
        <p:sp>
          <p:nvSpPr>
            <p:cNvPr id="142" name="Google Shape;142;p19"/>
            <p:cNvSpPr/>
            <p:nvPr/>
          </p:nvSpPr>
          <p:spPr>
            <a:xfrm>
              <a:off x="195549" y="790150"/>
              <a:ext cx="2912100" cy="993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Native sandbox</a:t>
              </a:r>
              <a:endPara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Built into Claude Code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Triggered by /sandbox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3" name="Google Shape;143;p19"/>
            <p:cNvSpPr/>
            <p:nvPr/>
          </p:nvSpPr>
          <p:spPr>
            <a:xfrm>
              <a:off x="3218699" y="790150"/>
              <a:ext cx="1040100" cy="9939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Runs on</a:t>
              </a:r>
              <a:br>
                <a:rPr lang="uk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uk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your machine</a:t>
              </a:r>
              <a:endParaRPr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44" name="Google Shape;144;p19"/>
          <p:cNvGrpSpPr/>
          <p:nvPr/>
        </p:nvGrpSpPr>
        <p:grpSpPr>
          <a:xfrm>
            <a:off x="195550" y="1873163"/>
            <a:ext cx="4063250" cy="1677000"/>
            <a:chOff x="195550" y="1866910"/>
            <a:chExt cx="4063250" cy="1677000"/>
          </a:xfrm>
        </p:grpSpPr>
        <p:sp>
          <p:nvSpPr>
            <p:cNvPr id="145" name="Google Shape;145;p19"/>
            <p:cNvSpPr/>
            <p:nvPr/>
          </p:nvSpPr>
          <p:spPr>
            <a:xfrm>
              <a:off x="195550" y="1866910"/>
              <a:ext cx="2912100" cy="1677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Managed Cloud Sandbox</a:t>
              </a:r>
              <a:endPara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“Claude Code on the Web”</a:t>
              </a:r>
              <a:endPara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Via &amp; or claude -- remote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Via @claude tag in GitHub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Needs Claude GitHub app installed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Includes /teleport and /tasks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6" name="Google Shape;146;p19"/>
            <p:cNvSpPr/>
            <p:nvPr/>
          </p:nvSpPr>
          <p:spPr>
            <a:xfrm>
              <a:off x="3218700" y="1866910"/>
              <a:ext cx="1040100" cy="1677000"/>
            </a:xfrm>
            <a:prstGeom prst="rect">
              <a:avLst/>
            </a:prstGeom>
            <a:solidFill>
              <a:srgbClr val="572A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Runs on</a:t>
              </a:r>
              <a:br>
                <a:rPr lang="uk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uk" sz="11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Anthropic cloud</a:t>
              </a:r>
              <a:endParaRPr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47" name="Google Shape;147;p19"/>
          <p:cNvGrpSpPr/>
          <p:nvPr/>
        </p:nvGrpSpPr>
        <p:grpSpPr>
          <a:xfrm>
            <a:off x="195549" y="3639275"/>
            <a:ext cx="4063250" cy="993900"/>
            <a:chOff x="195549" y="3639275"/>
            <a:chExt cx="4063250" cy="993900"/>
          </a:xfrm>
        </p:grpSpPr>
        <p:sp>
          <p:nvSpPr>
            <p:cNvPr id="148" name="Google Shape;148;p19"/>
            <p:cNvSpPr/>
            <p:nvPr/>
          </p:nvSpPr>
          <p:spPr>
            <a:xfrm>
              <a:off x="195549" y="3639275"/>
              <a:ext cx="2912100" cy="993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Third Party Cloud Sandbox</a:t>
              </a:r>
              <a:endParaRPr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Isolated environment on cloud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Suitable for all Coding Agents</a:t>
              </a:r>
              <a:endPara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3218699" y="3639275"/>
              <a:ext cx="1040100" cy="993900"/>
            </a:xfrm>
            <a:prstGeom prst="rect">
              <a:avLst/>
            </a:prstGeom>
            <a:solidFill>
              <a:srgbClr val="B181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Runs on</a:t>
              </a:r>
              <a:br>
                <a:rPr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uk" sz="11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third party cloud</a:t>
              </a:r>
              <a:endParaRPr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76" name="Google Shape;176;p20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177" name="Google Shape;177;p20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8" name="Google Shape;178;p20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79" name="Google Shape;179;p20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180" name="Google Shape;180;p20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1" name="Google Shape;181;p20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82" name="Google Shape;182;p20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183" name="Google Shape;183;p20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80%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91" name="Google Shape;19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