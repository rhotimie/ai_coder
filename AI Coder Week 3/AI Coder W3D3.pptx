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 SemiBold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  <p:embeddedFont>
      <p:font typeface="Montserrat Medium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22" Type="http://schemas.openxmlformats.org/officeDocument/2006/relationships/font" Target="fonts/MontserratMedium-bold.fntdata"/><Relationship Id="rId10" Type="http://schemas.openxmlformats.org/officeDocument/2006/relationships/slide" Target="slides/slide5.xml"/><Relationship Id="rId21" Type="http://schemas.openxmlformats.org/officeDocument/2006/relationships/font" Target="fonts/MontserratMedium-regular.fntdata"/><Relationship Id="rId13" Type="http://schemas.openxmlformats.org/officeDocument/2006/relationships/font" Target="fonts/MontserratSemiBold-regular.fntdata"/><Relationship Id="rId24" Type="http://schemas.openxmlformats.org/officeDocument/2006/relationships/font" Target="fonts/MontserratMedium-boldItalic.fntdata"/><Relationship Id="rId12" Type="http://schemas.openxmlformats.org/officeDocument/2006/relationships/slide" Target="slides/slide7.xml"/><Relationship Id="rId23" Type="http://schemas.openxmlformats.org/officeDocument/2006/relationships/font" Target="fonts/Montserrat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SemiBold-italic.fntdata"/><Relationship Id="rId14" Type="http://schemas.openxmlformats.org/officeDocument/2006/relationships/font" Target="fonts/MontserratSemiBold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MontserratSemiBold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7158c58547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7158c58547_0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6c60e2e3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3c6c60e2e3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63e4dfaca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g3c63e4dfaca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6c60e2e35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g3c6c60e2e35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71f191714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g3c71f191714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71f191714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g3c71f191714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4558ba40b8_0_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g34558ba40b8_0_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 1">
  <p:cSld name="Титульний слайд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3538375" y="230275"/>
            <a:ext cx="1751100" cy="4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Coder: Vibe Coder to Agentic Engineer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Missing Manual</a:t>
            </a:r>
            <a:endParaRPr i="1"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3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3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Expert Agentic Coder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Coding Landscape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AGENTS.md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Cursor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Copilot, Codex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Antigravity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1:</a:t>
            </a:r>
            <a:b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YOLO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2: Commercial MVP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1: Vibe Coding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for fun and profit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Claude 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OpenCode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Commands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Checkpoints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Ralph Loops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Skills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Plugins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Workflows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Debugging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3: SaaS Platform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2: Vibe Engineering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as a professional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Multi-Agents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Sub-Agents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Hooks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Sandboxing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 cap="flat" cmpd="sng" w="28575">
            <a:solidFill>
              <a:srgbClr val="572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Large Codebase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Swarms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Orchestrators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4: Capstone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3: Agentic Engineering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 an expert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85" name="Google Shape;85;p15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1974077" y="852250"/>
            <a:ext cx="1564798" cy="323100"/>
            <a:chOff x="1365775" y="809175"/>
            <a:chExt cx="1564798" cy="323100"/>
          </a:xfrm>
        </p:grpSpPr>
        <p:sp>
          <p:nvSpPr>
            <p:cNvPr id="88" name="Google Shape;88;p15"/>
            <p:cNvSpPr/>
            <p:nvPr/>
          </p:nvSpPr>
          <p:spPr>
            <a:xfrm>
              <a:off x="13657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1590773" y="809175"/>
              <a:ext cx="1339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Products / Features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91" name="Google Shape;91;p15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pic>
        <p:nvPicPr>
          <p:cNvPr id="93" name="Google Shape;9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7850" y="1738139"/>
            <a:ext cx="369300" cy="36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/>
        </p:nvSpPr>
        <p:spPr>
          <a:xfrm>
            <a:off x="322289" y="94457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Claude Code Pro Features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99" name="Google Shape;99;p16"/>
          <p:cNvGrpSpPr/>
          <p:nvPr/>
        </p:nvGrpSpPr>
        <p:grpSpPr>
          <a:xfrm>
            <a:off x="211450" y="612838"/>
            <a:ext cx="4297675" cy="788100"/>
            <a:chOff x="211450" y="612838"/>
            <a:chExt cx="4297675" cy="788100"/>
          </a:xfrm>
        </p:grpSpPr>
        <p:sp>
          <p:nvSpPr>
            <p:cNvPr id="100" name="Google Shape;100;p16"/>
            <p:cNvSpPr/>
            <p:nvPr/>
          </p:nvSpPr>
          <p:spPr>
            <a:xfrm>
              <a:off x="211450" y="612838"/>
              <a:ext cx="788100" cy="78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1" name="Google Shape;101;p16"/>
            <p:cNvSpPr txBox="1"/>
            <p:nvPr/>
          </p:nvSpPr>
          <p:spPr>
            <a:xfrm>
              <a:off x="1073825" y="794225"/>
              <a:ext cx="3435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Create a Slash Command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2" name="Google Shape;102;p16"/>
            <p:cNvSpPr txBox="1"/>
            <p:nvPr/>
          </p:nvSpPr>
          <p:spPr>
            <a:xfrm>
              <a:off x="211450" y="699100"/>
              <a:ext cx="788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chemeClr val="lt1"/>
                </a:solidFill>
              </a:endParaRPr>
            </a:p>
          </p:txBody>
        </p:sp>
        <p:pic>
          <p:nvPicPr>
            <p:cNvPr id="103" name="Google Shape;103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3650" y="784690"/>
              <a:ext cx="464925" cy="4649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" name="Google Shape;104;p16"/>
          <p:cNvGrpSpPr/>
          <p:nvPr/>
        </p:nvGrpSpPr>
        <p:grpSpPr>
          <a:xfrm>
            <a:off x="211450" y="1512038"/>
            <a:ext cx="4297675" cy="788100"/>
            <a:chOff x="211450" y="1512038"/>
            <a:chExt cx="4297675" cy="788100"/>
          </a:xfrm>
        </p:grpSpPr>
        <p:sp>
          <p:nvSpPr>
            <p:cNvPr id="105" name="Google Shape;105;p16"/>
            <p:cNvSpPr/>
            <p:nvPr/>
          </p:nvSpPr>
          <p:spPr>
            <a:xfrm>
              <a:off x="211450" y="1512038"/>
              <a:ext cx="788100" cy="78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6" name="Google Shape;106;p16"/>
            <p:cNvSpPr txBox="1"/>
            <p:nvPr/>
          </p:nvSpPr>
          <p:spPr>
            <a:xfrm>
              <a:off x="1073825" y="1671405"/>
              <a:ext cx="3435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Multi-Agents and Sub-Agents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07" name="Google Shape;107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86200" y="1684094"/>
              <a:ext cx="438600" cy="438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8" name="Google Shape;108;p16"/>
          <p:cNvGrpSpPr/>
          <p:nvPr/>
        </p:nvGrpSpPr>
        <p:grpSpPr>
          <a:xfrm>
            <a:off x="211450" y="2411238"/>
            <a:ext cx="4443775" cy="788100"/>
            <a:chOff x="211450" y="2411238"/>
            <a:chExt cx="4443775" cy="788100"/>
          </a:xfrm>
        </p:grpSpPr>
        <p:sp>
          <p:nvSpPr>
            <p:cNvPr id="109" name="Google Shape;109;p16"/>
            <p:cNvSpPr/>
            <p:nvPr/>
          </p:nvSpPr>
          <p:spPr>
            <a:xfrm>
              <a:off x="211450" y="2411238"/>
              <a:ext cx="788100" cy="78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0" name="Google Shape;110;p16"/>
            <p:cNvSpPr txBox="1"/>
            <p:nvPr/>
          </p:nvSpPr>
          <p:spPr>
            <a:xfrm>
              <a:off x="1073825" y="2577100"/>
              <a:ext cx="3581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Agent teams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11" name="Google Shape;111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86199" y="2586006"/>
              <a:ext cx="438600" cy="438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2" name="Google Shape;112;p16"/>
          <p:cNvGrpSpPr/>
          <p:nvPr/>
        </p:nvGrpSpPr>
        <p:grpSpPr>
          <a:xfrm>
            <a:off x="211450" y="3310438"/>
            <a:ext cx="4346275" cy="788100"/>
            <a:chOff x="211450" y="3310438"/>
            <a:chExt cx="4346275" cy="788100"/>
          </a:xfrm>
        </p:grpSpPr>
        <p:sp>
          <p:nvSpPr>
            <p:cNvPr id="113" name="Google Shape;113;p16"/>
            <p:cNvSpPr/>
            <p:nvPr/>
          </p:nvSpPr>
          <p:spPr>
            <a:xfrm>
              <a:off x="211450" y="3310438"/>
              <a:ext cx="788100" cy="78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4" name="Google Shape;114;p16"/>
            <p:cNvSpPr txBox="1"/>
            <p:nvPr/>
          </p:nvSpPr>
          <p:spPr>
            <a:xfrm>
              <a:off x="1073825" y="3496110"/>
              <a:ext cx="3483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Hooks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15" name="Google Shape;115;p1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326964" y="3456276"/>
              <a:ext cx="539124" cy="5391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6" name="Google Shape;116;p16"/>
          <p:cNvGrpSpPr/>
          <p:nvPr/>
        </p:nvGrpSpPr>
        <p:grpSpPr>
          <a:xfrm>
            <a:off x="211450" y="4209638"/>
            <a:ext cx="4297675" cy="788100"/>
            <a:chOff x="211450" y="4209638"/>
            <a:chExt cx="4297675" cy="788100"/>
          </a:xfrm>
        </p:grpSpPr>
        <p:sp>
          <p:nvSpPr>
            <p:cNvPr id="117" name="Google Shape;117;p16"/>
            <p:cNvSpPr/>
            <p:nvPr/>
          </p:nvSpPr>
          <p:spPr>
            <a:xfrm>
              <a:off x="211450" y="4209638"/>
              <a:ext cx="788100" cy="78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8" name="Google Shape;118;p16"/>
            <p:cNvSpPr txBox="1"/>
            <p:nvPr/>
          </p:nvSpPr>
          <p:spPr>
            <a:xfrm>
              <a:off x="1073825" y="4410598"/>
              <a:ext cx="3435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Create a Plugin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19" name="Google Shape;119;p1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69921" y="4355768"/>
              <a:ext cx="481574" cy="4815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/>
        </p:nvSpPr>
        <p:spPr>
          <a:xfrm>
            <a:off x="280339" y="103351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main approaches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25" name="Google Shape;125;p17"/>
          <p:cNvGrpSpPr/>
          <p:nvPr/>
        </p:nvGrpSpPr>
        <p:grpSpPr>
          <a:xfrm>
            <a:off x="195549" y="790150"/>
            <a:ext cx="4063250" cy="993900"/>
            <a:chOff x="195549" y="790150"/>
            <a:chExt cx="4063250" cy="993900"/>
          </a:xfrm>
        </p:grpSpPr>
        <p:sp>
          <p:nvSpPr>
            <p:cNvPr id="126" name="Google Shape;126;p17"/>
            <p:cNvSpPr/>
            <p:nvPr/>
          </p:nvSpPr>
          <p:spPr>
            <a:xfrm>
              <a:off x="195549" y="790150"/>
              <a:ext cx="2912100" cy="993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Native sandbox</a:t>
              </a:r>
              <a:endPara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Built into Claude Code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Triggered by /sandbox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3218699" y="790150"/>
              <a:ext cx="1040100" cy="9939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1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Runs on</a:t>
              </a:r>
              <a:br>
                <a:rPr lang="uk" sz="11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uk" sz="11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your machine</a:t>
              </a:r>
              <a:endParaRPr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28" name="Google Shape;128;p17"/>
          <p:cNvGrpSpPr/>
          <p:nvPr/>
        </p:nvGrpSpPr>
        <p:grpSpPr>
          <a:xfrm>
            <a:off x="195550" y="1873163"/>
            <a:ext cx="4063250" cy="1677000"/>
            <a:chOff x="195550" y="1866910"/>
            <a:chExt cx="4063250" cy="1677000"/>
          </a:xfrm>
        </p:grpSpPr>
        <p:sp>
          <p:nvSpPr>
            <p:cNvPr id="129" name="Google Shape;129;p17"/>
            <p:cNvSpPr/>
            <p:nvPr/>
          </p:nvSpPr>
          <p:spPr>
            <a:xfrm>
              <a:off x="195550" y="1866910"/>
              <a:ext cx="2912100" cy="1677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Managed Cloud Sandbox</a:t>
              </a:r>
              <a:endPara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“Claude Code on the Web”</a:t>
              </a: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Via &amp; or claude -- remote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Via @claude tag in GitHub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Needs Claude GitHub app installed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Includes /teleport and /tasks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3218700" y="1866910"/>
              <a:ext cx="1040100" cy="1677000"/>
            </a:xfrm>
            <a:prstGeom prst="rect">
              <a:avLst/>
            </a:prstGeom>
            <a:solidFill>
              <a:srgbClr val="572A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1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Runs on</a:t>
              </a:r>
              <a:br>
                <a:rPr lang="uk" sz="11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uk" sz="11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Anthropic cloud</a:t>
              </a:r>
              <a:endParaRPr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31" name="Google Shape;131;p17"/>
          <p:cNvGrpSpPr/>
          <p:nvPr/>
        </p:nvGrpSpPr>
        <p:grpSpPr>
          <a:xfrm>
            <a:off x="195549" y="3639275"/>
            <a:ext cx="4063250" cy="993900"/>
            <a:chOff x="195549" y="3639275"/>
            <a:chExt cx="4063250" cy="993900"/>
          </a:xfrm>
        </p:grpSpPr>
        <p:sp>
          <p:nvSpPr>
            <p:cNvPr id="132" name="Google Shape;132;p17"/>
            <p:cNvSpPr/>
            <p:nvPr/>
          </p:nvSpPr>
          <p:spPr>
            <a:xfrm>
              <a:off x="195549" y="3639275"/>
              <a:ext cx="2912100" cy="993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Third Party Cloud Sandbox</a:t>
              </a:r>
              <a:endParaRPr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Isolated environment on cloud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Suitable for all Coding Agents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3218699" y="3639275"/>
              <a:ext cx="1040100" cy="993900"/>
            </a:xfrm>
            <a:prstGeom prst="rect">
              <a:avLst/>
            </a:prstGeom>
            <a:solidFill>
              <a:srgbClr val="B181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Runs on</a:t>
              </a:r>
              <a:br>
                <a:rPr lang="uk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uk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third party cloud</a:t>
              </a:r>
              <a:endParaRPr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/>
        </p:nvSpPr>
        <p:spPr>
          <a:xfrm>
            <a:off x="280339" y="103351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Large codebase &amp; large team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39" name="Google Shape;139;p18"/>
          <p:cNvGrpSpPr/>
          <p:nvPr/>
        </p:nvGrpSpPr>
        <p:grpSpPr>
          <a:xfrm>
            <a:off x="211450" y="612838"/>
            <a:ext cx="4413775" cy="788100"/>
            <a:chOff x="211450" y="612838"/>
            <a:chExt cx="4413775" cy="788100"/>
          </a:xfrm>
        </p:grpSpPr>
        <p:sp>
          <p:nvSpPr>
            <p:cNvPr id="140" name="Google Shape;140;p18"/>
            <p:cNvSpPr/>
            <p:nvPr/>
          </p:nvSpPr>
          <p:spPr>
            <a:xfrm>
              <a:off x="211450" y="612838"/>
              <a:ext cx="788100" cy="78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1" name="Google Shape;141;p18"/>
            <p:cNvSpPr txBox="1"/>
            <p:nvPr/>
          </p:nvSpPr>
          <p:spPr>
            <a:xfrm>
              <a:off x="1073825" y="794225"/>
              <a:ext cx="3551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Detailed AGENTS.md and other docs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2" name="Google Shape;142;p18"/>
            <p:cNvSpPr txBox="1"/>
            <p:nvPr/>
          </p:nvSpPr>
          <p:spPr>
            <a:xfrm>
              <a:off x="211450" y="699100"/>
              <a:ext cx="788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chemeClr val="lt1"/>
                </a:solidFill>
              </a:endParaRPr>
            </a:p>
          </p:txBody>
        </p:sp>
        <p:pic>
          <p:nvPicPr>
            <p:cNvPr id="143" name="Google Shape;143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6200" y="787600"/>
              <a:ext cx="438600" cy="438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4" name="Google Shape;144;p18"/>
          <p:cNvGrpSpPr/>
          <p:nvPr/>
        </p:nvGrpSpPr>
        <p:grpSpPr>
          <a:xfrm>
            <a:off x="211450" y="1512038"/>
            <a:ext cx="4297675" cy="788100"/>
            <a:chOff x="211450" y="1512038"/>
            <a:chExt cx="4297675" cy="788100"/>
          </a:xfrm>
        </p:grpSpPr>
        <p:sp>
          <p:nvSpPr>
            <p:cNvPr id="145" name="Google Shape;145;p18"/>
            <p:cNvSpPr/>
            <p:nvPr/>
          </p:nvSpPr>
          <p:spPr>
            <a:xfrm>
              <a:off x="211450" y="1512038"/>
              <a:ext cx="788100" cy="78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6" name="Google Shape;146;p18"/>
            <p:cNvSpPr txBox="1"/>
            <p:nvPr/>
          </p:nvSpPr>
          <p:spPr>
            <a:xfrm>
              <a:off x="1073825" y="1671405"/>
              <a:ext cx="3435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Consistent workflows / plugins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47" name="Google Shape;147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86202" y="1686802"/>
              <a:ext cx="438600" cy="438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8" name="Google Shape;148;p18"/>
          <p:cNvGrpSpPr/>
          <p:nvPr/>
        </p:nvGrpSpPr>
        <p:grpSpPr>
          <a:xfrm>
            <a:off x="211450" y="2411238"/>
            <a:ext cx="4443775" cy="788100"/>
            <a:chOff x="211450" y="2411238"/>
            <a:chExt cx="4443775" cy="788100"/>
          </a:xfrm>
        </p:grpSpPr>
        <p:sp>
          <p:nvSpPr>
            <p:cNvPr id="149" name="Google Shape;149;p18"/>
            <p:cNvSpPr/>
            <p:nvPr/>
          </p:nvSpPr>
          <p:spPr>
            <a:xfrm>
              <a:off x="211450" y="2411238"/>
              <a:ext cx="788100" cy="78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0" name="Google Shape;150;p18"/>
            <p:cNvSpPr txBox="1"/>
            <p:nvPr/>
          </p:nvSpPr>
          <p:spPr>
            <a:xfrm>
              <a:off x="1073825" y="2577100"/>
              <a:ext cx="3581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Special skills for project techniques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51" name="Google Shape;151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55749" y="2564512"/>
              <a:ext cx="481574" cy="4815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2" name="Google Shape;152;p18"/>
          <p:cNvGrpSpPr/>
          <p:nvPr/>
        </p:nvGrpSpPr>
        <p:grpSpPr>
          <a:xfrm>
            <a:off x="211450" y="3310438"/>
            <a:ext cx="4346275" cy="788100"/>
            <a:chOff x="211450" y="3310438"/>
            <a:chExt cx="4346275" cy="788100"/>
          </a:xfrm>
        </p:grpSpPr>
        <p:sp>
          <p:nvSpPr>
            <p:cNvPr id="153" name="Google Shape;153;p18"/>
            <p:cNvSpPr/>
            <p:nvPr/>
          </p:nvSpPr>
          <p:spPr>
            <a:xfrm>
              <a:off x="211450" y="3310438"/>
              <a:ext cx="788100" cy="78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4" name="Google Shape;154;p18"/>
            <p:cNvSpPr txBox="1"/>
            <p:nvPr/>
          </p:nvSpPr>
          <p:spPr>
            <a:xfrm>
              <a:off x="1073825" y="3496110"/>
              <a:ext cx="3483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Good tests that don’t over-mock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55" name="Google Shape;155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77239" y="3485200"/>
              <a:ext cx="438600" cy="438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6" name="Google Shape;156;p18"/>
          <p:cNvGrpSpPr/>
          <p:nvPr/>
        </p:nvGrpSpPr>
        <p:grpSpPr>
          <a:xfrm>
            <a:off x="211450" y="4209638"/>
            <a:ext cx="4297675" cy="788100"/>
            <a:chOff x="211450" y="4209638"/>
            <a:chExt cx="4297675" cy="788100"/>
          </a:xfrm>
        </p:grpSpPr>
        <p:sp>
          <p:nvSpPr>
            <p:cNvPr id="157" name="Google Shape;157;p18"/>
            <p:cNvSpPr/>
            <p:nvPr/>
          </p:nvSpPr>
          <p:spPr>
            <a:xfrm>
              <a:off x="211450" y="4209638"/>
              <a:ext cx="788100" cy="78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8" name="Google Shape;158;p18"/>
            <p:cNvSpPr txBox="1"/>
            <p:nvPr/>
          </p:nvSpPr>
          <p:spPr>
            <a:xfrm>
              <a:off x="1073825" y="4410598"/>
              <a:ext cx="3435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Human reviewer; reject slop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59" name="Google Shape;159;p1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77250" y="4362925"/>
              <a:ext cx="438600" cy="438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Expert Agentic Coder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Coding Landscape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AGENTS.md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Cursor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Copilot, Codex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Antigravity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1:</a:t>
            </a:r>
            <a:b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YOLO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2: Commercial MVP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1: Vibe Coding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for fun and profit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Claude 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OpenCode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Commands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Checkpoints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Ralph Loops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Skills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Plugins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Workflows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Debugging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3: SaaS Platform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2: Vibe Engineering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as a professional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Multi-Agents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Sub-Agents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Hooks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Sandboxing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Large Codebase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Swarms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Orchestrators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4: Capstone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3: Agentic Engineering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 an expert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86" name="Google Shape;186;p19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187" name="Google Shape;187;p19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8" name="Google Shape;188;p19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89" name="Google Shape;189;p19"/>
          <p:cNvGrpSpPr/>
          <p:nvPr/>
        </p:nvGrpSpPr>
        <p:grpSpPr>
          <a:xfrm>
            <a:off x="1974077" y="852250"/>
            <a:ext cx="1564798" cy="323100"/>
            <a:chOff x="1365775" y="809175"/>
            <a:chExt cx="1564798" cy="323100"/>
          </a:xfrm>
        </p:grpSpPr>
        <p:sp>
          <p:nvSpPr>
            <p:cNvPr id="190" name="Google Shape;190;p19"/>
            <p:cNvSpPr/>
            <p:nvPr/>
          </p:nvSpPr>
          <p:spPr>
            <a:xfrm>
              <a:off x="13657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1" name="Google Shape;191;p19"/>
            <p:cNvSpPr txBox="1"/>
            <p:nvPr/>
          </p:nvSpPr>
          <p:spPr>
            <a:xfrm>
              <a:off x="1590773" y="809175"/>
              <a:ext cx="1339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Products / Features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92" name="Google Shape;192;p19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193" name="Google Shape;193;p19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4" name="Google Shape;194;p19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3538375" y="230275"/>
            <a:ext cx="1751100" cy="4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Coder: Vibe Coder to Agentic Engineer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Missing Manual</a:t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4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87%</a:t>
            </a:r>
            <a:endParaRPr sz="4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01" name="Google Shape;2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32147"/>
      </a:dk1>
      <a:lt1>
        <a:srgbClr val="FFFFFF"/>
      </a:lt1>
      <a:dk2>
        <a:srgbClr val="032147"/>
      </a:dk2>
      <a:lt2>
        <a:srgbClr val="EEEEEE"/>
      </a:lt2>
      <a:accent1>
        <a:srgbClr val="209DD7"/>
      </a:accent1>
      <a:accent2>
        <a:srgbClr val="753991"/>
      </a:accent2>
      <a:accent3>
        <a:srgbClr val="ECAD0A"/>
      </a:accent3>
      <a:accent4>
        <a:srgbClr val="4CBB17"/>
      </a:accent4>
      <a:accent5>
        <a:srgbClr val="BC101F"/>
      </a:accent5>
      <a:accent6>
        <a:srgbClr val="BC101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