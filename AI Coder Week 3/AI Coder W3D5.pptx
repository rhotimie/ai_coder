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Montserrat"/>
      <p:regular r:id="rId22"/>
      <p:bold r:id="rId23"/>
      <p:italic r:id="rId24"/>
      <p:boldItalic r:id="rId25"/>
    </p:embeddedFont>
    <p:embeddedFont>
      <p:font typeface="Montserrat Medium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Montserrat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MontserratMedium-italic.fntdata"/><Relationship Id="rId27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3c7fc1205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93c7fc1205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73f90cc91_0_1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c73f90cc91_0_1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73f90cc91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g3c73f90cc91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3c7fc1205_0_2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g393c7fc1205_0_2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c7fc1205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93c7fc1205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3c7fc1205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g393c7fc1205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73f90cc91_0_1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c73f90cc91_0_1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73f90cc9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c73f90cc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3c7fc1205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93c7fc1205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3c7fc1205_0_1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g393c7fc1205_0_1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3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5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 cap="flat" cmpd="sng" w="2857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Claude Agent Teams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75150" y="672700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https://code.claude.com/docs/en/agent-teams</a:t>
            </a:r>
            <a:endParaRPr sz="1200"/>
          </a:p>
        </p:txBody>
      </p:sp>
      <p:pic>
        <p:nvPicPr>
          <p:cNvPr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94400"/>
            <a:ext cx="5215792" cy="3796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/>
        </p:nvSpPr>
        <p:spPr>
          <a:xfrm>
            <a:off x="68725" y="63100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“Evolution of the Programmer in 2024–2026” by Steve Yegge</a:t>
            </a:r>
            <a:endParaRPr sz="1200"/>
          </a:p>
        </p:txBody>
      </p:sp>
      <p:grpSp>
        <p:nvGrpSpPr>
          <p:cNvPr id="105" name="Google Shape;105;p17"/>
          <p:cNvGrpSpPr/>
          <p:nvPr/>
        </p:nvGrpSpPr>
        <p:grpSpPr>
          <a:xfrm>
            <a:off x="94750" y="448650"/>
            <a:ext cx="1203000" cy="1206000"/>
            <a:chOff x="94750" y="448650"/>
            <a:chExt cx="1203000" cy="1206000"/>
          </a:xfrm>
        </p:grpSpPr>
        <p:sp>
          <p:nvSpPr>
            <p:cNvPr id="106" name="Google Shape;106;p17"/>
            <p:cNvSpPr/>
            <p:nvPr/>
          </p:nvSpPr>
          <p:spPr>
            <a:xfrm>
              <a:off x="947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07" name="Google Shape;107;p17"/>
            <p:cNvSpPr txBox="1"/>
            <p:nvPr/>
          </p:nvSpPr>
          <p:spPr>
            <a:xfrm>
              <a:off x="1126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1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08" name="Google Shape;108;p17"/>
            <p:cNvSpPr txBox="1"/>
            <p:nvPr/>
          </p:nvSpPr>
          <p:spPr>
            <a:xfrm>
              <a:off x="94750" y="862425"/>
              <a:ext cx="1203000" cy="4617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ChatGPT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AI auto-complete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09" name="Google Shape;109;p17"/>
          <p:cNvGrpSpPr/>
          <p:nvPr/>
        </p:nvGrpSpPr>
        <p:grpSpPr>
          <a:xfrm>
            <a:off x="1345900" y="448650"/>
            <a:ext cx="1203000" cy="1206000"/>
            <a:chOff x="1345900" y="448650"/>
            <a:chExt cx="1203000" cy="1206000"/>
          </a:xfrm>
        </p:grpSpPr>
        <p:sp>
          <p:nvSpPr>
            <p:cNvPr id="110" name="Google Shape;110;p17"/>
            <p:cNvSpPr/>
            <p:nvPr/>
          </p:nvSpPr>
          <p:spPr>
            <a:xfrm>
              <a:off x="13459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13637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2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13459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asks permission before changes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3" name="Google Shape;113;p17"/>
          <p:cNvGrpSpPr/>
          <p:nvPr/>
        </p:nvGrpSpPr>
        <p:grpSpPr>
          <a:xfrm>
            <a:off x="2597050" y="448650"/>
            <a:ext cx="1203000" cy="1206000"/>
            <a:chOff x="2597050" y="448650"/>
            <a:chExt cx="1203000" cy="1206000"/>
          </a:xfrm>
        </p:grpSpPr>
        <p:sp>
          <p:nvSpPr>
            <p:cNvPr id="114" name="Google Shape;114;p17"/>
            <p:cNvSpPr/>
            <p:nvPr/>
          </p:nvSpPr>
          <p:spPr>
            <a:xfrm>
              <a:off x="259705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5" name="Google Shape;115;p17"/>
            <p:cNvSpPr txBox="1"/>
            <p:nvPr/>
          </p:nvSpPr>
          <p:spPr>
            <a:xfrm>
              <a:off x="261490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3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2597050" y="862425"/>
              <a:ext cx="1203000" cy="6003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sidebar, YOLO mode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17" name="Google Shape;117;p17"/>
          <p:cNvGrpSpPr/>
          <p:nvPr/>
        </p:nvGrpSpPr>
        <p:grpSpPr>
          <a:xfrm>
            <a:off x="3848200" y="448650"/>
            <a:ext cx="1203000" cy="1206000"/>
            <a:chOff x="3848200" y="448650"/>
            <a:chExt cx="1203000" cy="1206000"/>
          </a:xfrm>
        </p:grpSpPr>
        <p:sp>
          <p:nvSpPr>
            <p:cNvPr id="118" name="Google Shape;118;p17"/>
            <p:cNvSpPr/>
            <p:nvPr/>
          </p:nvSpPr>
          <p:spPr>
            <a:xfrm>
              <a:off x="3848200" y="448650"/>
              <a:ext cx="1203000" cy="12060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9" name="Google Shape;119;p17"/>
            <p:cNvSpPr txBox="1"/>
            <p:nvPr/>
          </p:nvSpPr>
          <p:spPr>
            <a:xfrm>
              <a:off x="3866050" y="514213"/>
              <a:ext cx="1167300" cy="4002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4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3848200" y="862425"/>
              <a:ext cx="1203000" cy="738900"/>
            </a:xfrm>
            <a:prstGeom prst="rect">
              <a:avLst/>
            </a:prstGeom>
            <a:solidFill>
              <a:srgbClr val="75C5EA"/>
            </a:solidFill>
            <a:ln>
              <a:noFill/>
            </a:ln>
          </p:spPr>
          <p:txBody>
            <a:bodyPr anchorCtr="0" anchor="t" bIns="91425" lIns="36000" spcFirstLastPara="1" rIns="36000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IDE main window, YOLO mode, check diffs</a:t>
              </a:r>
              <a:endPara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1" name="Google Shape;121;p17"/>
          <p:cNvGrpSpPr/>
          <p:nvPr/>
        </p:nvGrpSpPr>
        <p:grpSpPr>
          <a:xfrm>
            <a:off x="94750" y="1692800"/>
            <a:ext cx="1203000" cy="1206000"/>
            <a:chOff x="94750" y="1692800"/>
            <a:chExt cx="1203000" cy="1206000"/>
          </a:xfrm>
        </p:grpSpPr>
        <p:sp>
          <p:nvSpPr>
            <p:cNvPr id="122" name="Google Shape;122;p17"/>
            <p:cNvSpPr/>
            <p:nvPr/>
          </p:nvSpPr>
          <p:spPr>
            <a:xfrm>
              <a:off x="94750" y="1692800"/>
              <a:ext cx="1203000" cy="12060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>
              <a:off x="112600" y="1758363"/>
              <a:ext cx="1167300" cy="4002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5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94750" y="2258975"/>
              <a:ext cx="1203000" cy="600300"/>
            </a:xfrm>
            <a:prstGeom prst="rect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Coding agent in CLI, YOLO, diffs scroll by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1345900" y="1692800"/>
            <a:ext cx="1203000" cy="1206000"/>
            <a:chOff x="1345900" y="1692800"/>
            <a:chExt cx="1203000" cy="1206000"/>
          </a:xfrm>
        </p:grpSpPr>
        <p:sp>
          <p:nvSpPr>
            <p:cNvPr id="126" name="Google Shape;126;p17"/>
            <p:cNvSpPr/>
            <p:nvPr/>
          </p:nvSpPr>
          <p:spPr>
            <a:xfrm>
              <a:off x="13459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17"/>
            <p:cNvSpPr txBox="1"/>
            <p:nvPr/>
          </p:nvSpPr>
          <p:spPr>
            <a:xfrm>
              <a:off x="13637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6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1345900" y="2258975"/>
              <a:ext cx="1203000" cy="4617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Multi-agent in CLI, 3-5 agents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29" name="Google Shape;129;p17"/>
          <p:cNvGrpSpPr/>
          <p:nvPr/>
        </p:nvGrpSpPr>
        <p:grpSpPr>
          <a:xfrm>
            <a:off x="2597050" y="1692800"/>
            <a:ext cx="1203000" cy="1206000"/>
            <a:chOff x="2597050" y="1692800"/>
            <a:chExt cx="1203000" cy="1206000"/>
          </a:xfrm>
        </p:grpSpPr>
        <p:sp>
          <p:nvSpPr>
            <p:cNvPr id="130" name="Google Shape;130;p17"/>
            <p:cNvSpPr/>
            <p:nvPr/>
          </p:nvSpPr>
          <p:spPr>
            <a:xfrm>
              <a:off x="259705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261490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7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259705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10+ agents in CLI manually managed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3848200" y="1692800"/>
            <a:ext cx="1203000" cy="1206000"/>
            <a:chOff x="3848200" y="1692800"/>
            <a:chExt cx="1203000" cy="1206000"/>
          </a:xfrm>
        </p:grpSpPr>
        <p:sp>
          <p:nvSpPr>
            <p:cNvPr id="134" name="Google Shape;134;p17"/>
            <p:cNvSpPr/>
            <p:nvPr/>
          </p:nvSpPr>
          <p:spPr>
            <a:xfrm>
              <a:off x="3848200" y="1692800"/>
              <a:ext cx="1203000" cy="12060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3866050" y="1758363"/>
              <a:ext cx="1167300" cy="4002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Stage 8</a:t>
              </a:r>
              <a:endParaRPr b="1">
                <a:solidFill>
                  <a:schemeClr val="lt1"/>
                </a:solidFill>
              </a:endParaRPr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3848200" y="2258975"/>
              <a:ext cx="1203000" cy="600300"/>
            </a:xfrm>
            <a:prstGeom prst="rect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lt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Agents orchestrate agents </a:t>
              </a:r>
              <a:endParaRPr sz="9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137" name="Google Shape;13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775" y="2898800"/>
            <a:ext cx="4148992" cy="224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280339" y="2557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 experienced 3 orchestrators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43" name="Google Shape;143;p18"/>
          <p:cNvGrpSpPr/>
          <p:nvPr/>
        </p:nvGrpSpPr>
        <p:grpSpPr>
          <a:xfrm>
            <a:off x="401376" y="1378803"/>
            <a:ext cx="1359000" cy="2057921"/>
            <a:chOff x="401376" y="1378803"/>
            <a:chExt cx="1359000" cy="2057921"/>
          </a:xfrm>
        </p:grpSpPr>
        <p:sp>
          <p:nvSpPr>
            <p:cNvPr id="144" name="Google Shape;144;p18"/>
            <p:cNvSpPr/>
            <p:nvPr/>
          </p:nvSpPr>
          <p:spPr>
            <a:xfrm>
              <a:off x="401376" y="1378803"/>
              <a:ext cx="1359000" cy="1359000"/>
            </a:xfrm>
            <a:prstGeom prst="ellipse">
              <a:avLst/>
            </a:prstGeom>
            <a:solidFill>
              <a:srgbClr val="209DD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GSD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428075" y="2913524"/>
              <a:ext cx="1305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00">
                  <a:solidFill>
                    <a:srgbClr val="209DD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Reliable</a:t>
              </a:r>
              <a:endParaRPr b="1" sz="11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00">
                  <a:solidFill>
                    <a:srgbClr val="209DD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Slow</a:t>
              </a:r>
              <a:endParaRPr b="1" sz="11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1839976" y="1378803"/>
            <a:ext cx="1359000" cy="2057921"/>
            <a:chOff x="1839976" y="1378803"/>
            <a:chExt cx="1359000" cy="2057921"/>
          </a:xfrm>
        </p:grpSpPr>
        <p:sp>
          <p:nvSpPr>
            <p:cNvPr id="147" name="Google Shape;147;p18"/>
            <p:cNvSpPr/>
            <p:nvPr/>
          </p:nvSpPr>
          <p:spPr>
            <a:xfrm>
              <a:off x="1839976" y="1378803"/>
              <a:ext cx="1359000" cy="1359000"/>
            </a:xfrm>
            <a:prstGeom prst="ellipse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Claude Agent Teams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1866675" y="2913524"/>
              <a:ext cx="1305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00">
                  <a:solidFill>
                    <a:srgbClr val="1775A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Experimental</a:t>
              </a:r>
              <a:endParaRPr b="1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00">
                  <a:solidFill>
                    <a:srgbClr val="1775A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Faster</a:t>
              </a:r>
              <a:endParaRPr b="1" sz="1100">
                <a:solidFill>
                  <a:srgbClr val="1775A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49" name="Google Shape;149;p18"/>
          <p:cNvGrpSpPr/>
          <p:nvPr/>
        </p:nvGrpSpPr>
        <p:grpSpPr>
          <a:xfrm>
            <a:off x="3278576" y="1378803"/>
            <a:ext cx="1359000" cy="2057921"/>
            <a:chOff x="3278576" y="1378803"/>
            <a:chExt cx="1359000" cy="2057921"/>
          </a:xfrm>
        </p:grpSpPr>
        <p:sp>
          <p:nvSpPr>
            <p:cNvPr id="150" name="Google Shape;150;p18"/>
            <p:cNvSpPr/>
            <p:nvPr/>
          </p:nvSpPr>
          <p:spPr>
            <a:xfrm>
              <a:off x="3278576" y="1378803"/>
              <a:ext cx="1359000" cy="1359000"/>
            </a:xfrm>
            <a:prstGeom prst="ellipse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36000" spcFirstLastPara="1" rIns="36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Gas Town</a:t>
              </a:r>
              <a:endParaRPr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51" name="Google Shape;151;p18"/>
            <p:cNvSpPr txBox="1"/>
            <p:nvPr/>
          </p:nvSpPr>
          <p:spPr>
            <a:xfrm>
              <a:off x="3305275" y="2913524"/>
              <a:ext cx="1305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00">
                  <a:solidFill>
                    <a:srgbClr val="0E4E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Chaotic</a:t>
              </a:r>
              <a:endParaRPr b="1" sz="1100">
                <a:solidFill>
                  <a:srgbClr val="0E4E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100">
                  <a:solidFill>
                    <a:srgbClr val="0E4E6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Fastest</a:t>
              </a:r>
              <a:endParaRPr b="1" sz="1100">
                <a:solidFill>
                  <a:srgbClr val="0E4E6B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52" name="Google Shape;152;p18"/>
          <p:cNvSpPr/>
          <p:nvPr/>
        </p:nvSpPr>
        <p:spPr>
          <a:xfrm>
            <a:off x="1839976" y="3512403"/>
            <a:ext cx="1359000" cy="1359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Codex Sub-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agents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That Karpathy Tweet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100" y="1130775"/>
            <a:ext cx="4770450" cy="319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/>
        </p:nvSpPr>
        <p:spPr>
          <a:xfrm>
            <a:off x="0" y="756672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B18107"/>
                </a:solidFill>
                <a:latin typeface="Montserrat"/>
                <a:ea typeface="Montserrat"/>
                <a:cs typeface="Montserrat"/>
                <a:sym typeface="Montserrat"/>
              </a:rPr>
              <a:t>Mission critical software, large codebase, highly innovative code</a:t>
            </a:r>
            <a:endParaRPr b="1" sz="1100">
              <a:solidFill>
                <a:srgbClr val="B1810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Which approach is right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65" name="Google Shape;165;p20"/>
          <p:cNvGrpSpPr/>
          <p:nvPr/>
        </p:nvGrpSpPr>
        <p:grpSpPr>
          <a:xfrm>
            <a:off x="420425" y="1174422"/>
            <a:ext cx="4236200" cy="1359000"/>
            <a:chOff x="420425" y="1174422"/>
            <a:chExt cx="4236200" cy="1359000"/>
          </a:xfrm>
        </p:grpSpPr>
        <p:sp>
          <p:nvSpPr>
            <p:cNvPr id="166" name="Google Shape;166;p20"/>
            <p:cNvSpPr/>
            <p:nvPr/>
          </p:nvSpPr>
          <p:spPr>
            <a:xfrm>
              <a:off x="420425" y="1174422"/>
              <a:ext cx="1359000" cy="1359000"/>
            </a:xfrm>
            <a:prstGeom prst="ellipse">
              <a:avLst/>
            </a:prstGeom>
            <a:solidFill>
              <a:srgbClr val="FBE0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Micro-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manage, Approve, Frequent resets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7" name="Google Shape;167;p20"/>
            <p:cNvSpPr/>
            <p:nvPr/>
          </p:nvSpPr>
          <p:spPr>
            <a:xfrm>
              <a:off x="1859025" y="1174422"/>
              <a:ext cx="1359000" cy="1359000"/>
            </a:xfrm>
            <a:prstGeom prst="ellipse">
              <a:avLst/>
            </a:prstGeom>
            <a:solidFill>
              <a:srgbClr val="ECAD0A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Plan, Execute, Review,</a:t>
              </a:r>
              <a:b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latin typeface="Montserrat"/>
                  <a:ea typeface="Montserrat"/>
                  <a:cs typeface="Montserrat"/>
                  <a:sym typeface="Montserrat"/>
                </a:rPr>
                <a:t>Test</a:t>
              </a:r>
              <a:endParaRPr sz="1200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3297625" y="1174422"/>
              <a:ext cx="1359000" cy="1359000"/>
            </a:xfrm>
            <a:prstGeom prst="ellipse">
              <a:avLst/>
            </a:prstGeom>
            <a:solidFill>
              <a:srgbClr val="B1810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SDD;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Trust but verify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169" name="Google Shape;169;p20"/>
          <p:cNvGrpSpPr/>
          <p:nvPr/>
        </p:nvGrpSpPr>
        <p:grpSpPr>
          <a:xfrm>
            <a:off x="420426" y="3169503"/>
            <a:ext cx="4236200" cy="1359000"/>
            <a:chOff x="420426" y="3169503"/>
            <a:chExt cx="4236200" cy="1359000"/>
          </a:xfrm>
        </p:grpSpPr>
        <p:sp>
          <p:nvSpPr>
            <p:cNvPr id="170" name="Google Shape;170;p20"/>
            <p:cNvSpPr/>
            <p:nvPr/>
          </p:nvSpPr>
          <p:spPr>
            <a:xfrm>
              <a:off x="420426" y="3169503"/>
              <a:ext cx="1359000" cy="1359000"/>
            </a:xfrm>
            <a:prstGeom prst="ellipse">
              <a:avLst/>
            </a:prstGeom>
            <a:solidFill>
              <a:srgbClr val="B179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YOLO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1859026" y="3169503"/>
              <a:ext cx="1359000" cy="1359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Ralph Loops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3297626" y="3169503"/>
              <a:ext cx="1359000" cy="1359000"/>
            </a:xfrm>
            <a:prstGeom prst="ellipse">
              <a:avLst/>
            </a:prstGeom>
            <a:solidFill>
              <a:srgbClr val="572A6C"/>
            </a:solidFill>
            <a:ln>
              <a:noFill/>
            </a:ln>
          </p:spPr>
          <p:txBody>
            <a:bodyPr anchorCtr="0" anchor="ctr" bIns="91425" lIns="36000" spcFirstLastPara="1" rIns="3600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Multi-</a:t>
              </a:r>
              <a:b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agent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swarms,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2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orchestrate</a:t>
              </a:r>
              <a:endPara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3" name="Google Shape;173;p20"/>
          <p:cNvSpPr txBox="1"/>
          <p:nvPr/>
        </p:nvSpPr>
        <p:spPr>
          <a:xfrm>
            <a:off x="0" y="2789697"/>
            <a:ext cx="5088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rgbClr val="572A6C"/>
                </a:solidFill>
                <a:latin typeface="Montserrat"/>
                <a:ea typeface="Montserrat"/>
                <a:cs typeface="Montserrat"/>
                <a:sym typeface="Montserrat"/>
              </a:rPr>
              <a:t>MVPs, new build, risk appetite, boilerplate code</a:t>
            </a:r>
            <a:endParaRPr b="1" sz="1100">
              <a:solidFill>
                <a:srgbClr val="572A6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/>
          <p:nvPr/>
        </p:nvSpPr>
        <p:spPr>
          <a:xfrm>
            <a:off x="280339" y="10335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Major Takeaways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433225" y="1006375"/>
            <a:ext cx="1363800" cy="1364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81075" lIns="15950" spcFirstLastPara="1" rIns="15950" wrap="square" tIns="81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Maturity &amp; Risk Appetite</a:t>
            </a:r>
            <a:endParaRPr b="1" sz="12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1860218" y="1006375"/>
            <a:ext cx="1363800" cy="1364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81075" lIns="15950" spcFirstLastPara="1" rIns="15950" wrap="square" tIns="81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skills</a:t>
            </a:r>
            <a:endParaRPr b="1" sz="12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3287211" y="1006375"/>
            <a:ext cx="1363800" cy="1364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81075" lIns="15950" spcFirstLastPara="1" rIns="15950" wrap="square" tIns="810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42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Your preference</a:t>
            </a:r>
            <a:endParaRPr b="1" sz="1242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68513" y="2781661"/>
            <a:ext cx="1093200" cy="109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3600" spcFirstLastPara="1" rIns="36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Pick the plugins that work for you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1"/>
          <p:cNvSpPr txBox="1"/>
          <p:nvPr/>
        </p:nvSpPr>
        <p:spPr>
          <a:xfrm>
            <a:off x="93400" y="557572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Pick the Coding Agent &amp; Workflow based on:</a:t>
            </a:r>
            <a:endParaRPr sz="1200"/>
          </a:p>
        </p:txBody>
      </p:sp>
      <p:sp>
        <p:nvSpPr>
          <p:cNvPr id="184" name="Google Shape;184;p21"/>
          <p:cNvSpPr txBox="1"/>
          <p:nvPr/>
        </p:nvSpPr>
        <p:spPr>
          <a:xfrm>
            <a:off x="146575" y="2401942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Follow these steps:</a:t>
            </a:r>
            <a:endParaRPr sz="1200"/>
          </a:p>
        </p:txBody>
      </p:sp>
      <p:sp>
        <p:nvSpPr>
          <p:cNvPr id="185" name="Google Shape;185;p21"/>
          <p:cNvSpPr txBox="1"/>
          <p:nvPr/>
        </p:nvSpPr>
        <p:spPr>
          <a:xfrm>
            <a:off x="93400" y="4797396"/>
            <a:ext cx="496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You own the code you deliver; never push slop</a:t>
            </a:r>
            <a:endParaRPr b="1" sz="1200"/>
          </a:p>
        </p:txBody>
      </p:sp>
      <p:sp>
        <p:nvSpPr>
          <p:cNvPr id="186" name="Google Shape;186;p21"/>
          <p:cNvSpPr/>
          <p:nvPr/>
        </p:nvSpPr>
        <p:spPr>
          <a:xfrm>
            <a:off x="1995500" y="2781661"/>
            <a:ext cx="1093200" cy="109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3600" spcFirstLastPara="1" rIns="36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Add specific Skills (and MCP)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422488" y="2781661"/>
            <a:ext cx="1093200" cy="109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3600" spcFirstLastPara="1" rIns="36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Trial &amp; error; discard often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282006" y="3718661"/>
            <a:ext cx="1093200" cy="109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3600" spcFirstLastPara="1" rIns="36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git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2708994" y="3718661"/>
            <a:ext cx="1093200" cy="1093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3600" spcFirstLastPara="1" rIns="360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Use markdown docs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2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2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22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16" name="Google Shape;216;p22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17" name="Google Shape;217;p22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8" name="Google Shape;218;p22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9" name="Google Shape;219;p22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20" name="Google Shape;220;p22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1" name="Google Shape;221;p22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22" name="Google Shape;222;p22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23" name="Google Shape;223;p22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3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30" name="Google Shape;230;p23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23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6" name="Google Shape;236;p23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3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3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3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51" name="Google Shape;251;p23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52" name="Google Shape;252;p23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54" name="Google Shape;254;p23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55" name="Google Shape;255;p23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6" name="Google Shape;256;p23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57" name="Google Shape;257;p23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58" name="Google Shape;258;p23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9" name="Google Shape;259;p23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pic>
        <p:nvPicPr>
          <p:cNvPr id="260" name="Google Shape;2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096" y="1417509"/>
            <a:ext cx="461300" cy="4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/>
        </p:nvSpPr>
        <p:spPr>
          <a:xfrm>
            <a:off x="308200" y="3376742"/>
            <a:ext cx="3747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Remember - I come with the package!</a:t>
            </a:r>
            <a:b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b="1" lang="uk" sz="1100">
                <a:solidFill>
                  <a:srgbClr val="209DD7"/>
                </a:solidFill>
                <a:latin typeface="Montserrat"/>
                <a:ea typeface="Montserrat"/>
                <a:cs typeface="Montserrat"/>
                <a:sym typeface="Montserrat"/>
              </a:rPr>
              <a:t>https://www.linkedin.com/in/eddonner/</a:t>
            </a:r>
            <a:endParaRPr b="1" sz="1100">
              <a:solidFill>
                <a:srgbClr val="209DD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Post your certificate on LinkedIn and I will amplify</a:t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Consider my AI courses if you’d like to go deeper into being an AI Builder, AI Leader or AI Engineer</a:t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3214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rgbClr val="032147"/>
                </a:solidFill>
                <a:latin typeface="Montserrat"/>
                <a:ea typeface="Montserrat"/>
                <a:cs typeface="Montserrat"/>
                <a:sym typeface="Montserrat"/>
              </a:rPr>
              <a:t>Most importantly: </a:t>
            </a:r>
            <a:r>
              <a:rPr b="1" lang="uk" sz="1100">
                <a:solidFill>
                  <a:srgbClr val="753991"/>
                </a:solidFill>
                <a:latin typeface="Montserrat"/>
                <a:ea typeface="Montserrat"/>
                <a:cs typeface="Montserrat"/>
                <a:sym typeface="Montserrat"/>
              </a:rPr>
              <a:t>BUILD WITH CODING AGENTS!</a:t>
            </a:r>
            <a:endParaRPr b="1" sz="1100">
              <a:solidFill>
                <a:srgbClr val="75399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347539" y="11226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rgbClr val="0321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CONGRATULATIONS!!</a:t>
            </a:r>
            <a:endParaRPr sz="1700">
              <a:solidFill>
                <a:srgbClr val="0321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67" name="Google Shape;2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75" y="606000"/>
            <a:ext cx="4151524" cy="276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100%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74" name="Google Shape;2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