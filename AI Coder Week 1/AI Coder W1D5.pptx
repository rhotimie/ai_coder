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Montserrat SemiBold"/>
      <p:regular r:id="rId19"/>
      <p:bold r:id="rId20"/>
      <p:italic r:id="rId21"/>
      <p:boldItalic r:id="rId22"/>
    </p:embeddedFont>
    <p:embeddedFont>
      <p:font typeface="Montserrat"/>
      <p:regular r:id="rId23"/>
      <p:bold r:id="rId24"/>
      <p:italic r:id="rId25"/>
      <p:boldItalic r:id="rId26"/>
    </p:embeddedFont>
    <p:embeddedFont>
      <p:font typeface="Montserrat Medium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bold.fntdata"/><Relationship Id="rId22" Type="http://schemas.openxmlformats.org/officeDocument/2006/relationships/font" Target="fonts/MontserratSemiBold-boldItalic.fntdata"/><Relationship Id="rId21" Type="http://schemas.openxmlformats.org/officeDocument/2006/relationships/font" Target="fonts/MontserratSemiBold-italic.fntdata"/><Relationship Id="rId24" Type="http://schemas.openxmlformats.org/officeDocument/2006/relationships/font" Target="fonts/Montserrat-bold.fntdata"/><Relationship Id="rId23" Type="http://schemas.openxmlformats.org/officeDocument/2006/relationships/font" Target="fonts/Montserra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boldItalic.fntdata"/><Relationship Id="rId25" Type="http://schemas.openxmlformats.org/officeDocument/2006/relationships/font" Target="fonts/Montserrat-italic.fntdata"/><Relationship Id="rId28" Type="http://schemas.openxmlformats.org/officeDocument/2006/relationships/font" Target="fonts/MontserratMedium-bold.fntdata"/><Relationship Id="rId27" Type="http://schemas.openxmlformats.org/officeDocument/2006/relationships/font" Target="fonts/MontserratMedium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Medium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MontserratMedium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SemiBold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7158c58547_0_3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" name="Google Shape;53;g37158c58547_0_3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9316d2f76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g39316d2f76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c29bfa5b20_0_1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g3c29bfa5b20_0_1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29bfa5b20_0_2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g3c29bfa5b20_0_2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29bfa5b20_0_2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g3c29bfa5b20_0_2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2fb686613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g392fb686613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c2620dd1d3_0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g3c2620dd1d3_0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c29bfa5b20_0_1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g3c29bfa5b20_0_1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c29bfa5b20_0_1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g3c29bfa5b20_0_1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c29bfa5b20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g3c29bfa5b20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c29bfa5b20_0_2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" name="Google Shape;225;g3c29bfa5b20_0_2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c29bfa5b2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g3c29bfa5b20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4558ba40b8_0_3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g34558ba40b8_0_3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ий слайд 1">
  <p:cSld name="Титульний слайд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SemiBold"/>
              <a:buNone/>
              <a:defRPr sz="2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png"/><Relationship Id="rId4" Type="http://schemas.openxmlformats.org/officeDocument/2006/relationships/image" Target="../media/image24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9.pn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5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3429000" y="-25"/>
            <a:ext cx="19569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4"/>
          <p:cNvSpPr txBox="1"/>
          <p:nvPr/>
        </p:nvSpPr>
        <p:spPr>
          <a:xfrm>
            <a:off x="3538375" y="230275"/>
            <a:ext cx="1751100" cy="45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AI Coder: Vibe Coder to Agentic Engineer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Missing Manual</a:t>
            </a:r>
            <a:endParaRPr i="1"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1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5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57" name="Google Shape;5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5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/>
        </p:nvSpPr>
        <p:spPr>
          <a:xfrm>
            <a:off x="316814" y="1138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Weeks to Expert Agentic Coder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243825" y="37437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384025" y="41100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Coding Landscape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1395072" y="41100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Foundations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AGENTS.md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Context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2406118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Cursor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Copilot, Codex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Antigravity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3417153" y="4110058"/>
            <a:ext cx="934800" cy="538200"/>
          </a:xfrm>
          <a:prstGeom prst="rect">
            <a:avLst/>
          </a:prstGeom>
          <a:solidFill>
            <a:srgbClr val="0E4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1:</a:t>
            </a:r>
            <a:b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YOLO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4445172" y="4110058"/>
            <a:ext cx="934800" cy="538200"/>
          </a:xfrm>
          <a:prstGeom prst="rect">
            <a:avLst/>
          </a:prstGeom>
          <a:solidFill>
            <a:srgbClr val="D0EBF8"/>
          </a:solidFill>
          <a:ln cap="flat" cmpd="sng" w="28575">
            <a:solidFill>
              <a:srgbClr val="1775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2: Commercial MVP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393675" y="37437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1: Vibe Coding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for fun and profit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243825" y="26385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384025" y="30048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Claude Code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OpenCode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others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1395072" y="30048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Commands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Checkpoints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Ralph Loops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2406118" y="30048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Skills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Plugins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3417153" y="30048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Workflows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Team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Debugging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4445172" y="30048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3: SaaS Platform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393675" y="26385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2: Vibe Engineering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as a professional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243825" y="15333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384025" y="18996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Multi-Agents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Sub-Agents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Hooks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1395072" y="18996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Sandboxing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2406118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Large Codebase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Workflow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3417153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Swarms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Orchestrators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4445172" y="18996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4: Capstone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393675" y="15333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3: Agentic Engineering 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as an expert  </a:t>
            </a:r>
            <a:endParaRPr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84" name="Google Shape;84;p15"/>
          <p:cNvGrpSpPr/>
          <p:nvPr/>
        </p:nvGrpSpPr>
        <p:grpSpPr>
          <a:xfrm>
            <a:off x="837139" y="852239"/>
            <a:ext cx="1215893" cy="323100"/>
            <a:chOff x="316825" y="809164"/>
            <a:chExt cx="1215893" cy="323100"/>
          </a:xfrm>
        </p:grpSpPr>
        <p:sp>
          <p:nvSpPr>
            <p:cNvPr id="85" name="Google Shape;85;p15"/>
            <p:cNvSpPr/>
            <p:nvPr/>
          </p:nvSpPr>
          <p:spPr>
            <a:xfrm>
              <a:off x="316825" y="879951"/>
              <a:ext cx="237300" cy="178500"/>
            </a:xfrm>
            <a:prstGeom prst="rect">
              <a:avLst/>
            </a:prstGeom>
            <a:solidFill>
              <a:srgbClr val="CAA5DC"/>
            </a:solidFill>
            <a:ln cap="flat" cmpd="sng" w="9525">
              <a:solidFill>
                <a:srgbClr val="572A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6" name="Google Shape;86;p15"/>
            <p:cNvSpPr txBox="1"/>
            <p:nvPr/>
          </p:nvSpPr>
          <p:spPr>
            <a:xfrm>
              <a:off x="54181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Core skills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87" name="Google Shape;87;p15"/>
          <p:cNvGrpSpPr/>
          <p:nvPr/>
        </p:nvGrpSpPr>
        <p:grpSpPr>
          <a:xfrm>
            <a:off x="1974077" y="852250"/>
            <a:ext cx="1564798" cy="323100"/>
            <a:chOff x="1365775" y="809175"/>
            <a:chExt cx="1564798" cy="323100"/>
          </a:xfrm>
        </p:grpSpPr>
        <p:sp>
          <p:nvSpPr>
            <p:cNvPr id="88" name="Google Shape;88;p15"/>
            <p:cNvSpPr/>
            <p:nvPr/>
          </p:nvSpPr>
          <p:spPr>
            <a:xfrm>
              <a:off x="1365775" y="879951"/>
              <a:ext cx="237300" cy="178500"/>
            </a:xfrm>
            <a:prstGeom prst="rect">
              <a:avLst/>
            </a:prstGeom>
            <a:solidFill>
              <a:srgbClr val="FBE097"/>
            </a:solidFill>
            <a:ln cap="flat" cmpd="sng" w="9525">
              <a:solidFill>
                <a:srgbClr val="B181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9" name="Google Shape;89;p15"/>
            <p:cNvSpPr txBox="1"/>
            <p:nvPr/>
          </p:nvSpPr>
          <p:spPr>
            <a:xfrm>
              <a:off x="1590773" y="809175"/>
              <a:ext cx="13398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Products / Features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90" name="Google Shape;90;p15"/>
          <p:cNvGrpSpPr/>
          <p:nvPr/>
        </p:nvGrpSpPr>
        <p:grpSpPr>
          <a:xfrm>
            <a:off x="3720614" y="852239"/>
            <a:ext cx="1215893" cy="323100"/>
            <a:chOff x="3200300" y="809164"/>
            <a:chExt cx="1215893" cy="323100"/>
          </a:xfrm>
        </p:grpSpPr>
        <p:sp>
          <p:nvSpPr>
            <p:cNvPr id="91" name="Google Shape;91;p15"/>
            <p:cNvSpPr/>
            <p:nvPr/>
          </p:nvSpPr>
          <p:spPr>
            <a:xfrm>
              <a:off x="3200300" y="879951"/>
              <a:ext cx="237300" cy="178500"/>
            </a:xfrm>
            <a:prstGeom prst="rect">
              <a:avLst/>
            </a:prstGeom>
            <a:solidFill>
              <a:srgbClr val="D0EBF8"/>
            </a:solidFill>
            <a:ln cap="flat" cmpd="sng" w="9525">
              <a:solidFill>
                <a:srgbClr val="177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2" name="Google Shape;92;p15"/>
            <p:cNvSpPr txBox="1"/>
            <p:nvPr/>
          </p:nvSpPr>
          <p:spPr>
            <a:xfrm>
              <a:off x="3425293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Projects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/>
        </p:nvSpPr>
        <p:spPr>
          <a:xfrm>
            <a:off x="322289" y="94457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Karpathy Tweets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98" name="Google Shape;9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398" y="922025"/>
            <a:ext cx="3273573" cy="2841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/>
        </p:nvSpPr>
        <p:spPr>
          <a:xfrm>
            <a:off x="322289" y="94457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Karpathy Tweets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04" name="Google Shape;10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100" y="1130775"/>
            <a:ext cx="4770450" cy="319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/>
        </p:nvSpPr>
        <p:spPr>
          <a:xfrm>
            <a:off x="322289" y="94457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Karpathy Tweets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10" name="Google Shape;11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8297" y="685457"/>
            <a:ext cx="2806657" cy="4305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906" y="685457"/>
            <a:ext cx="2972744" cy="43056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/>
        </p:nvSpPr>
        <p:spPr>
          <a:xfrm>
            <a:off x="322289" y="94457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For Success: Be The Boss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17" name="Google Shape;117;p19"/>
          <p:cNvGrpSpPr/>
          <p:nvPr/>
        </p:nvGrpSpPr>
        <p:grpSpPr>
          <a:xfrm>
            <a:off x="322300" y="781350"/>
            <a:ext cx="3862375" cy="788100"/>
            <a:chOff x="322300" y="781350"/>
            <a:chExt cx="3862375" cy="788100"/>
          </a:xfrm>
        </p:grpSpPr>
        <p:sp>
          <p:nvSpPr>
            <p:cNvPr id="118" name="Google Shape;118;p19"/>
            <p:cNvSpPr/>
            <p:nvPr/>
          </p:nvSpPr>
          <p:spPr>
            <a:xfrm>
              <a:off x="322300" y="781350"/>
              <a:ext cx="788100" cy="788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9" name="Google Shape;119;p19"/>
            <p:cNvSpPr txBox="1"/>
            <p:nvPr/>
          </p:nvSpPr>
          <p:spPr>
            <a:xfrm>
              <a:off x="1184675" y="863997"/>
              <a:ext cx="30000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>
                  <a:latin typeface="Montserrat"/>
                  <a:ea typeface="Montserrat"/>
                  <a:cs typeface="Montserrat"/>
                  <a:sym typeface="Montserrat"/>
                </a:rPr>
                <a:t>Invest in AGENTS.md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>
                  <a:latin typeface="Montserrat"/>
                  <a:ea typeface="Montserrat"/>
                  <a:cs typeface="Montserrat"/>
                  <a:sym typeface="Montserrat"/>
                </a:rPr>
                <a:t>Concisely: spec, style, success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20" name="Google Shape;120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67825" y="926877"/>
              <a:ext cx="497050" cy="4970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1" name="Google Shape;121;p19"/>
          <p:cNvGrpSpPr/>
          <p:nvPr/>
        </p:nvGrpSpPr>
        <p:grpSpPr>
          <a:xfrm>
            <a:off x="322300" y="1595731"/>
            <a:ext cx="3862375" cy="788100"/>
            <a:chOff x="322300" y="1599492"/>
            <a:chExt cx="3862375" cy="788100"/>
          </a:xfrm>
        </p:grpSpPr>
        <p:sp>
          <p:nvSpPr>
            <p:cNvPr id="122" name="Google Shape;122;p19"/>
            <p:cNvSpPr/>
            <p:nvPr/>
          </p:nvSpPr>
          <p:spPr>
            <a:xfrm>
              <a:off x="322300" y="1599492"/>
              <a:ext cx="788100" cy="788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3" name="Google Shape;123;p19"/>
            <p:cNvSpPr txBox="1"/>
            <p:nvPr/>
          </p:nvSpPr>
          <p:spPr>
            <a:xfrm>
              <a:off x="1184675" y="1793442"/>
              <a:ext cx="3000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>
                  <a:latin typeface="Montserrat"/>
                  <a:ea typeface="Montserrat"/>
                  <a:cs typeface="Montserrat"/>
                  <a:sym typeface="Montserrat"/>
                </a:rPr>
                <a:t>Start SIMPLE</a:t>
              </a:r>
              <a:endParaRPr/>
            </a:p>
          </p:txBody>
        </p:sp>
        <p:pic>
          <p:nvPicPr>
            <p:cNvPr id="124" name="Google Shape;124;p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97053" y="1779891"/>
              <a:ext cx="438600" cy="438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5" name="Google Shape;125;p19"/>
          <p:cNvGrpSpPr/>
          <p:nvPr/>
        </p:nvGrpSpPr>
        <p:grpSpPr>
          <a:xfrm>
            <a:off x="322300" y="2410112"/>
            <a:ext cx="4388275" cy="788100"/>
            <a:chOff x="322300" y="2417635"/>
            <a:chExt cx="4388275" cy="788100"/>
          </a:xfrm>
        </p:grpSpPr>
        <p:sp>
          <p:nvSpPr>
            <p:cNvPr id="126" name="Google Shape;126;p19"/>
            <p:cNvSpPr/>
            <p:nvPr/>
          </p:nvSpPr>
          <p:spPr>
            <a:xfrm>
              <a:off x="322300" y="2417635"/>
              <a:ext cx="788100" cy="788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7" name="Google Shape;127;p19"/>
            <p:cNvSpPr txBox="1"/>
            <p:nvPr/>
          </p:nvSpPr>
          <p:spPr>
            <a:xfrm>
              <a:off x="1184675" y="2491720"/>
              <a:ext cx="35259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>
                  <a:latin typeface="Montserrat"/>
                  <a:ea typeface="Montserrat"/>
                  <a:cs typeface="Montserrat"/>
                  <a:sym typeface="Montserrat"/>
                </a:rPr>
                <a:t>Work incrementally; test constantly; validate success criteria</a:t>
              </a:r>
              <a:endParaRPr/>
            </a:p>
          </p:txBody>
        </p:sp>
        <p:pic>
          <p:nvPicPr>
            <p:cNvPr id="128" name="Google Shape;128;p1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67825" y="2558893"/>
              <a:ext cx="497050" cy="4970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9" name="Google Shape;129;p19"/>
          <p:cNvGrpSpPr/>
          <p:nvPr/>
        </p:nvGrpSpPr>
        <p:grpSpPr>
          <a:xfrm>
            <a:off x="322300" y="3224493"/>
            <a:ext cx="3862375" cy="788100"/>
            <a:chOff x="322300" y="3227215"/>
            <a:chExt cx="3862375" cy="788100"/>
          </a:xfrm>
        </p:grpSpPr>
        <p:sp>
          <p:nvSpPr>
            <p:cNvPr id="130" name="Google Shape;130;p19"/>
            <p:cNvSpPr/>
            <p:nvPr/>
          </p:nvSpPr>
          <p:spPr>
            <a:xfrm>
              <a:off x="322300" y="3227215"/>
              <a:ext cx="788100" cy="788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1" name="Google Shape;131;p19"/>
            <p:cNvSpPr txBox="1"/>
            <p:nvPr/>
          </p:nvSpPr>
          <p:spPr>
            <a:xfrm>
              <a:off x="1184675" y="3318424"/>
              <a:ext cx="30000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>
                  <a:latin typeface="Montserrat"/>
                  <a:ea typeface="Montserrat"/>
                  <a:cs typeface="Montserrat"/>
                  <a:sym typeface="Montserrat"/>
                </a:rPr>
                <a:t>Don’t get lazy - challenge &amp; demand evidence</a:t>
              </a:r>
              <a:endParaRPr/>
            </a:p>
          </p:txBody>
        </p:sp>
        <p:pic>
          <p:nvPicPr>
            <p:cNvPr id="132" name="Google Shape;132;p1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97050" y="3403001"/>
              <a:ext cx="438600" cy="438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3" name="Google Shape;133;p19"/>
          <p:cNvGrpSpPr/>
          <p:nvPr/>
        </p:nvGrpSpPr>
        <p:grpSpPr>
          <a:xfrm>
            <a:off x="322300" y="4038874"/>
            <a:ext cx="3862375" cy="788100"/>
            <a:chOff x="322300" y="4038874"/>
            <a:chExt cx="3862375" cy="788100"/>
          </a:xfrm>
        </p:grpSpPr>
        <p:sp>
          <p:nvSpPr>
            <p:cNvPr id="134" name="Google Shape;134;p19"/>
            <p:cNvSpPr/>
            <p:nvPr/>
          </p:nvSpPr>
          <p:spPr>
            <a:xfrm>
              <a:off x="322300" y="4038874"/>
              <a:ext cx="788100" cy="788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5" name="Google Shape;135;p19"/>
            <p:cNvSpPr txBox="1"/>
            <p:nvPr/>
          </p:nvSpPr>
          <p:spPr>
            <a:xfrm>
              <a:off x="1184675" y="4232824"/>
              <a:ext cx="3000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>
                  <a:latin typeface="Montserrat"/>
                  <a:ea typeface="Montserrat"/>
                  <a:cs typeface="Montserrat"/>
                  <a:sym typeface="Montserrat"/>
                </a:rPr>
                <a:t>Handle frustration with style</a:t>
              </a:r>
              <a:endParaRPr/>
            </a:p>
          </p:txBody>
        </p:sp>
        <p:pic>
          <p:nvPicPr>
            <p:cNvPr id="136" name="Google Shape;136;p1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97050" y="4213631"/>
              <a:ext cx="438600" cy="438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/>
          <p:nvPr/>
        </p:nvSpPr>
        <p:spPr>
          <a:xfrm>
            <a:off x="322289" y="94457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For Success: Be The Boss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42" name="Google Shape;142;p20"/>
          <p:cNvGrpSpPr/>
          <p:nvPr/>
        </p:nvGrpSpPr>
        <p:grpSpPr>
          <a:xfrm>
            <a:off x="322300" y="885631"/>
            <a:ext cx="3862375" cy="831300"/>
            <a:chOff x="322300" y="766643"/>
            <a:chExt cx="3862375" cy="831300"/>
          </a:xfrm>
        </p:grpSpPr>
        <p:sp>
          <p:nvSpPr>
            <p:cNvPr id="143" name="Google Shape;143;p20"/>
            <p:cNvSpPr/>
            <p:nvPr/>
          </p:nvSpPr>
          <p:spPr>
            <a:xfrm>
              <a:off x="322300" y="781350"/>
              <a:ext cx="788100" cy="788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4" name="Google Shape;144;p20"/>
            <p:cNvSpPr txBox="1"/>
            <p:nvPr/>
          </p:nvSpPr>
          <p:spPr>
            <a:xfrm>
              <a:off x="1184675" y="766643"/>
              <a:ext cx="30000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>
                  <a:latin typeface="Montserrat"/>
                  <a:ea typeface="Montserrat"/>
                  <a:cs typeface="Montserrat"/>
                  <a:sym typeface="Montserrat"/>
                </a:rPr>
                <a:t>For Junior Engineers: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latin typeface="Montserrat"/>
                  <a:ea typeface="Montserrat"/>
                  <a:cs typeface="Montserrat"/>
                  <a:sym typeface="Montserrat"/>
                </a:rPr>
                <a:t>Keep learning</a:t>
              </a:r>
              <a:endParaRPr b="1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latin typeface="Montserrat"/>
                  <a:ea typeface="Montserrat"/>
                  <a:cs typeface="Montserrat"/>
                  <a:sym typeface="Montserrat"/>
                </a:rPr>
                <a:t>Be skeptical</a:t>
              </a:r>
              <a:endParaRPr b="1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45" name="Google Shape;145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96494" y="832000"/>
              <a:ext cx="639700" cy="639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6" name="Google Shape;146;p20"/>
          <p:cNvGrpSpPr/>
          <p:nvPr/>
        </p:nvGrpSpPr>
        <p:grpSpPr>
          <a:xfrm>
            <a:off x="322300" y="2211111"/>
            <a:ext cx="3862375" cy="835952"/>
            <a:chOff x="322300" y="2052931"/>
            <a:chExt cx="3862375" cy="835952"/>
          </a:xfrm>
        </p:grpSpPr>
        <p:sp>
          <p:nvSpPr>
            <p:cNvPr id="147" name="Google Shape;147;p20"/>
            <p:cNvSpPr/>
            <p:nvPr/>
          </p:nvSpPr>
          <p:spPr>
            <a:xfrm>
              <a:off x="322300" y="2052931"/>
              <a:ext cx="788100" cy="788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8" name="Google Shape;148;p20"/>
            <p:cNvSpPr txBox="1"/>
            <p:nvPr/>
          </p:nvSpPr>
          <p:spPr>
            <a:xfrm>
              <a:off x="1184675" y="2057583"/>
              <a:ext cx="30000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>
                  <a:latin typeface="Montserrat"/>
                  <a:ea typeface="Montserrat"/>
                  <a:cs typeface="Montserrat"/>
                  <a:sym typeface="Montserrat"/>
                </a:rPr>
                <a:t>For Senior Engineers: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latin typeface="Montserrat"/>
                  <a:ea typeface="Montserrat"/>
                  <a:cs typeface="Montserrat"/>
                  <a:sym typeface="Montserrat"/>
                </a:rPr>
                <a:t>Keep building</a:t>
              </a:r>
              <a:endParaRPr b="1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latin typeface="Montserrat"/>
                  <a:ea typeface="Montserrat"/>
                  <a:cs typeface="Montserrat"/>
                  <a:sym typeface="Montserrat"/>
                </a:rPr>
                <a:t>Keep enjoying</a:t>
              </a:r>
              <a:endParaRPr b="1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49" name="Google Shape;149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54887" y="2162775"/>
              <a:ext cx="522925" cy="5229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0" name="Google Shape;150;p20"/>
          <p:cNvGrpSpPr/>
          <p:nvPr/>
        </p:nvGrpSpPr>
        <p:grpSpPr>
          <a:xfrm>
            <a:off x="322300" y="3541243"/>
            <a:ext cx="4156975" cy="835944"/>
            <a:chOff x="322300" y="3422256"/>
            <a:chExt cx="4156975" cy="835944"/>
          </a:xfrm>
        </p:grpSpPr>
        <p:sp>
          <p:nvSpPr>
            <p:cNvPr id="151" name="Google Shape;151;p20"/>
            <p:cNvSpPr/>
            <p:nvPr/>
          </p:nvSpPr>
          <p:spPr>
            <a:xfrm>
              <a:off x="322300" y="3422256"/>
              <a:ext cx="788100" cy="788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2" name="Google Shape;152;p20"/>
            <p:cNvSpPr txBox="1"/>
            <p:nvPr/>
          </p:nvSpPr>
          <p:spPr>
            <a:xfrm>
              <a:off x="1184675" y="3426900"/>
              <a:ext cx="32946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>
                  <a:latin typeface="Montserrat"/>
                  <a:ea typeface="Montserrat"/>
                  <a:cs typeface="Montserrat"/>
                  <a:sym typeface="Montserrat"/>
                </a:rPr>
                <a:t>For everyone: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latin typeface="Montserrat"/>
                  <a:ea typeface="Montserrat"/>
                  <a:cs typeface="Montserrat"/>
                  <a:sym typeface="Montserrat"/>
                </a:rPr>
                <a:t>Expect mixed results - recognize the downside; it’s a net positive</a:t>
              </a:r>
              <a:endParaRPr b="1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53" name="Google Shape;153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54882" y="3554838"/>
              <a:ext cx="522925" cy="5229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1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Covering some foundations..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9" name="Google Shape;159;p21"/>
          <p:cNvSpPr txBox="1"/>
          <p:nvPr/>
        </p:nvSpPr>
        <p:spPr>
          <a:xfrm>
            <a:off x="316814" y="241826"/>
            <a:ext cx="244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FRONTEND vs BACKEND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p21"/>
          <p:cNvSpPr txBox="1"/>
          <p:nvPr/>
        </p:nvSpPr>
        <p:spPr>
          <a:xfrm>
            <a:off x="230643" y="1149020"/>
            <a:ext cx="5374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uk" sz="15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Frontend vs Backend in a web app</a:t>
            </a:r>
            <a:endParaRPr b="0" i="0" sz="15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61" name="Google Shape;161;p21"/>
          <p:cNvSpPr txBox="1"/>
          <p:nvPr/>
        </p:nvSpPr>
        <p:spPr>
          <a:xfrm>
            <a:off x="554313" y="1657747"/>
            <a:ext cx="1182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uk" sz="15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Frontend</a:t>
            </a:r>
            <a:endParaRPr b="0" i="0" sz="1500" u="none" cap="none" strike="noStrike">
              <a:solidFill>
                <a:schemeClr val="accen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62" name="Google Shape;162;p21"/>
          <p:cNvSpPr txBox="1"/>
          <p:nvPr/>
        </p:nvSpPr>
        <p:spPr>
          <a:xfrm>
            <a:off x="131877" y="3206765"/>
            <a:ext cx="202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Runs in user’s browser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63" name="Google Shape;163;p21"/>
          <p:cNvSpPr txBox="1"/>
          <p:nvPr/>
        </p:nvSpPr>
        <p:spPr>
          <a:xfrm>
            <a:off x="131877" y="3428538"/>
            <a:ext cx="2027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uk" sz="9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HTML (structure)</a:t>
            </a:r>
            <a:br>
              <a:rPr lang="uk" sz="9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9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CSS (appearance)</a:t>
            </a:r>
            <a:br>
              <a:rPr lang="uk" sz="9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9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Javascript (interactivity)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1"/>
          <p:cNvSpPr txBox="1"/>
          <p:nvPr/>
        </p:nvSpPr>
        <p:spPr>
          <a:xfrm>
            <a:off x="1904333" y="3206765"/>
            <a:ext cx="202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Runs on the server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65" name="Google Shape;165;p21"/>
          <p:cNvSpPr txBox="1"/>
          <p:nvPr/>
        </p:nvSpPr>
        <p:spPr>
          <a:xfrm>
            <a:off x="2013850" y="3428550"/>
            <a:ext cx="1815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uk" sz="9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Business logic, database access, LLM calling, other APIs, secrets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1"/>
          <p:cNvSpPr txBox="1"/>
          <p:nvPr/>
        </p:nvSpPr>
        <p:spPr>
          <a:xfrm>
            <a:off x="2326769" y="1657747"/>
            <a:ext cx="1182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uk" sz="15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Backend</a:t>
            </a:r>
            <a:endParaRPr b="0" i="0" sz="1500" u="none" cap="none" strike="noStrike">
              <a:solidFill>
                <a:schemeClr val="accent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67" name="Google Shape;167;p21"/>
          <p:cNvSpPr txBox="1"/>
          <p:nvPr/>
        </p:nvSpPr>
        <p:spPr>
          <a:xfrm>
            <a:off x="3658375" y="1657750"/>
            <a:ext cx="2076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uk" sz="1500"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Frontend+Backend</a:t>
            </a:r>
            <a:endParaRPr b="0" i="0" sz="1500" u="none" cap="none" strike="noStrike">
              <a:solidFill>
                <a:schemeClr val="accen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68" name="Google Shape;168;p21"/>
          <p:cNvSpPr txBox="1"/>
          <p:nvPr/>
        </p:nvSpPr>
        <p:spPr>
          <a:xfrm>
            <a:off x="3676789" y="3206765"/>
            <a:ext cx="202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API contract over HTTP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69" name="Google Shape;169;p21"/>
          <p:cNvSpPr txBox="1"/>
          <p:nvPr/>
        </p:nvSpPr>
        <p:spPr>
          <a:xfrm>
            <a:off x="3676801" y="3428550"/>
            <a:ext cx="2162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uk" sz="9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The backend exposes HTTP endpoints, called by the frontend;</a:t>
            </a:r>
            <a:endParaRPr sz="900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uk" sz="9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the backend can also serve the frontend code to browser</a:t>
            </a:r>
            <a:endParaRPr sz="900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0" name="Google Shape;17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100" y="2187609"/>
            <a:ext cx="970575" cy="970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76437" y="2231419"/>
            <a:ext cx="882925" cy="88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46150" y="2207244"/>
            <a:ext cx="931250" cy="931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2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Frontend progression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78" name="Google Shape;178;p22"/>
          <p:cNvSpPr txBox="1"/>
          <p:nvPr/>
        </p:nvSpPr>
        <p:spPr>
          <a:xfrm>
            <a:off x="316832" y="241825"/>
            <a:ext cx="3842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With apologies to the Frontend developers amongst us..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79" name="Google Shape;179;p22"/>
          <p:cNvGrpSpPr/>
          <p:nvPr/>
        </p:nvGrpSpPr>
        <p:grpSpPr>
          <a:xfrm>
            <a:off x="987850" y="1531701"/>
            <a:ext cx="4799700" cy="683473"/>
            <a:chOff x="1317134" y="2218001"/>
            <a:chExt cx="6399600" cy="911297"/>
          </a:xfrm>
        </p:grpSpPr>
        <p:sp>
          <p:nvSpPr>
            <p:cNvPr id="180" name="Google Shape;180;p22"/>
            <p:cNvSpPr txBox="1"/>
            <p:nvPr/>
          </p:nvSpPr>
          <p:spPr>
            <a:xfrm>
              <a:off x="1317134" y="2218001"/>
              <a:ext cx="6399600" cy="49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uk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Vanilla HTML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22"/>
            <p:cNvSpPr txBox="1"/>
            <p:nvPr/>
          </p:nvSpPr>
          <p:spPr>
            <a:xfrm>
              <a:off x="1317134" y="2513698"/>
              <a:ext cx="63996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uk" sz="9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HTML + CSS + Javascript + low level libraries like jQuery</a:t>
              </a:r>
              <a:endParaRPr sz="9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uk" sz="9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“DOM” = object representation of the page</a:t>
              </a:r>
              <a:endParaRPr sz="9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82" name="Google Shape;182;p22"/>
          <p:cNvGrpSpPr/>
          <p:nvPr/>
        </p:nvGrpSpPr>
        <p:grpSpPr>
          <a:xfrm>
            <a:off x="987850" y="2594641"/>
            <a:ext cx="4799700" cy="822073"/>
            <a:chOff x="1317134" y="2218001"/>
            <a:chExt cx="6399600" cy="1096097"/>
          </a:xfrm>
        </p:grpSpPr>
        <p:sp>
          <p:nvSpPr>
            <p:cNvPr id="183" name="Google Shape;183;p22"/>
            <p:cNvSpPr txBox="1"/>
            <p:nvPr/>
          </p:nvSpPr>
          <p:spPr>
            <a:xfrm>
              <a:off x="1317134" y="2218001"/>
              <a:ext cx="6399600" cy="49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uk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Frontend Frameworks like React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22"/>
            <p:cNvSpPr txBox="1"/>
            <p:nvPr/>
          </p:nvSpPr>
          <p:spPr>
            <a:xfrm>
              <a:off x="1317134" y="2513698"/>
              <a:ext cx="63996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uk" sz="9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React, Vue, Angular, Svelte - reusable components</a:t>
              </a:r>
              <a:endParaRPr sz="9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uk" sz="9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SPA - loads page once and dynamically updates</a:t>
              </a:r>
              <a:endParaRPr sz="9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uk" sz="9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Come in Javascript variants, and its sister language Typescript</a:t>
              </a:r>
              <a:endParaRPr sz="9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85" name="Google Shape;185;p22"/>
          <p:cNvGrpSpPr/>
          <p:nvPr/>
        </p:nvGrpSpPr>
        <p:grpSpPr>
          <a:xfrm>
            <a:off x="987850" y="3657580"/>
            <a:ext cx="4799700" cy="822073"/>
            <a:chOff x="1317134" y="2218001"/>
            <a:chExt cx="6399600" cy="1096097"/>
          </a:xfrm>
        </p:grpSpPr>
        <p:sp>
          <p:nvSpPr>
            <p:cNvPr id="186" name="Google Shape;186;p22"/>
            <p:cNvSpPr txBox="1"/>
            <p:nvPr/>
          </p:nvSpPr>
          <p:spPr>
            <a:xfrm>
              <a:off x="1317134" y="2218001"/>
              <a:ext cx="6399600" cy="49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uk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Application Frameworks like Next.js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22"/>
            <p:cNvSpPr txBox="1"/>
            <p:nvPr/>
          </p:nvSpPr>
          <p:spPr>
            <a:xfrm>
              <a:off x="1317134" y="2513698"/>
              <a:ext cx="63996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uk" sz="9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Adds routing, data fetching, server-side rendering and more</a:t>
              </a:r>
              <a:endParaRPr sz="9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uk" sz="9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Tooling, such as bundling</a:t>
              </a:r>
              <a:endParaRPr sz="9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uk" sz="9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JS or TS</a:t>
              </a:r>
              <a:endParaRPr sz="9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188" name="Google Shape;18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850" y="2571750"/>
            <a:ext cx="752950" cy="752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582" y="1462400"/>
            <a:ext cx="683475" cy="68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5844" y="3657575"/>
            <a:ext cx="752950" cy="75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3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Introducing Docker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96" name="Google Shape;196;p23"/>
          <p:cNvGrpSpPr/>
          <p:nvPr/>
        </p:nvGrpSpPr>
        <p:grpSpPr>
          <a:xfrm>
            <a:off x="924875" y="1177525"/>
            <a:ext cx="2122725" cy="1812021"/>
            <a:chOff x="924875" y="1177525"/>
            <a:chExt cx="2122725" cy="1812021"/>
          </a:xfrm>
        </p:grpSpPr>
        <p:sp>
          <p:nvSpPr>
            <p:cNvPr id="197" name="Google Shape;197;p23"/>
            <p:cNvSpPr txBox="1"/>
            <p:nvPr/>
          </p:nvSpPr>
          <p:spPr>
            <a:xfrm>
              <a:off x="994100" y="1177525"/>
              <a:ext cx="20535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uk" sz="1500">
                  <a:solidFill>
                    <a:schemeClr val="accent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What is it</a:t>
              </a:r>
              <a:endParaRPr b="0" i="0" sz="1500" u="none" cap="none" strike="noStrik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198" name="Google Shape;198;p23"/>
            <p:cNvSpPr txBox="1"/>
            <p:nvPr/>
          </p:nvSpPr>
          <p:spPr>
            <a:xfrm>
              <a:off x="924875" y="2306075"/>
              <a:ext cx="2099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uk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A box within your box </a:t>
              </a:r>
              <a:endParaRPr b="0" i="0" sz="12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199" name="Google Shape;199;p23"/>
            <p:cNvSpPr txBox="1"/>
            <p:nvPr/>
          </p:nvSpPr>
          <p:spPr>
            <a:xfrm>
              <a:off x="997023" y="2527846"/>
              <a:ext cx="2027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uk" sz="9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 lightweight alternative to VMs that shares the host’s OS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0" name="Google Shape;200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710263" y="1649249"/>
              <a:ext cx="600613" cy="60061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1" name="Google Shape;201;p23"/>
          <p:cNvGrpSpPr/>
          <p:nvPr/>
        </p:nvGrpSpPr>
        <p:grpSpPr>
          <a:xfrm>
            <a:off x="2810299" y="1177525"/>
            <a:ext cx="2220001" cy="1812021"/>
            <a:chOff x="2810300" y="1177525"/>
            <a:chExt cx="2220001" cy="1812021"/>
          </a:xfrm>
        </p:grpSpPr>
        <p:sp>
          <p:nvSpPr>
            <p:cNvPr id="202" name="Google Shape;202;p23"/>
            <p:cNvSpPr txBox="1"/>
            <p:nvPr/>
          </p:nvSpPr>
          <p:spPr>
            <a:xfrm>
              <a:off x="2810300" y="2306075"/>
              <a:ext cx="2220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uk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Isolated, portable</a:t>
              </a:r>
              <a:endParaRPr b="0" i="0" sz="12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203" name="Google Shape;203;p23"/>
            <p:cNvSpPr txBox="1"/>
            <p:nvPr/>
          </p:nvSpPr>
          <p:spPr>
            <a:xfrm>
              <a:off x="2810299" y="2527846"/>
              <a:ext cx="2027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uk" sz="9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Run the same software everywhere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23"/>
            <p:cNvSpPr txBox="1"/>
            <p:nvPr/>
          </p:nvSpPr>
          <p:spPr>
            <a:xfrm>
              <a:off x="3232724" y="1177525"/>
              <a:ext cx="13068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uk" sz="1500">
                  <a:solidFill>
                    <a:schemeClr val="accent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Why</a:t>
              </a:r>
              <a:endParaRPr b="0" i="0" sz="1500" u="none" cap="none" strike="noStrik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pic>
          <p:nvPicPr>
            <p:cNvPr id="205" name="Google Shape;205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577246" y="1646525"/>
              <a:ext cx="606051" cy="6060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6" name="Google Shape;206;p23"/>
          <p:cNvGrpSpPr/>
          <p:nvPr/>
        </p:nvGrpSpPr>
        <p:grpSpPr>
          <a:xfrm>
            <a:off x="3834100" y="3157438"/>
            <a:ext cx="2349600" cy="1812032"/>
            <a:chOff x="3834100" y="3157438"/>
            <a:chExt cx="2349600" cy="1812032"/>
          </a:xfrm>
        </p:grpSpPr>
        <p:sp>
          <p:nvSpPr>
            <p:cNvPr id="207" name="Google Shape;207;p23"/>
            <p:cNvSpPr txBox="1"/>
            <p:nvPr/>
          </p:nvSpPr>
          <p:spPr>
            <a:xfrm>
              <a:off x="4218300" y="3157438"/>
              <a:ext cx="15432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uk" sz="1500">
                  <a:solidFill>
                    <a:schemeClr val="accent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Container</a:t>
              </a:r>
              <a:endParaRPr b="0" i="0" sz="1500" u="none" cap="none" strike="noStrik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208" name="Google Shape;208;p23"/>
            <p:cNvSpPr txBox="1"/>
            <p:nvPr/>
          </p:nvSpPr>
          <p:spPr>
            <a:xfrm>
              <a:off x="3834100" y="4285988"/>
              <a:ext cx="2349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uk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A live instance</a:t>
              </a:r>
              <a:endParaRPr b="0" i="0" sz="12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209" name="Google Shape;209;p23"/>
            <p:cNvSpPr txBox="1"/>
            <p:nvPr/>
          </p:nvSpPr>
          <p:spPr>
            <a:xfrm>
              <a:off x="3988957" y="4507769"/>
              <a:ext cx="2027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uk" sz="9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 running isolated environment created from an image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0" name="Google Shape;210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698875" y="3591561"/>
              <a:ext cx="582051" cy="5820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1" name="Google Shape;211;p23"/>
          <p:cNvGrpSpPr/>
          <p:nvPr/>
        </p:nvGrpSpPr>
        <p:grpSpPr>
          <a:xfrm>
            <a:off x="1903661" y="3157401"/>
            <a:ext cx="2027100" cy="1812031"/>
            <a:chOff x="1903661" y="3157401"/>
            <a:chExt cx="2027100" cy="1812031"/>
          </a:xfrm>
        </p:grpSpPr>
        <p:sp>
          <p:nvSpPr>
            <p:cNvPr id="212" name="Google Shape;212;p23"/>
            <p:cNvSpPr txBox="1"/>
            <p:nvPr/>
          </p:nvSpPr>
          <p:spPr>
            <a:xfrm>
              <a:off x="1903661" y="4285959"/>
              <a:ext cx="2027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uk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Snapshot</a:t>
              </a:r>
              <a:endParaRPr b="0" i="0" sz="12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213" name="Google Shape;213;p23"/>
            <p:cNvSpPr txBox="1"/>
            <p:nvPr/>
          </p:nvSpPr>
          <p:spPr>
            <a:xfrm>
              <a:off x="1903661" y="4507732"/>
              <a:ext cx="2027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uk" sz="9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Created by building a Dockerfile and ready to be made live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23"/>
            <p:cNvSpPr txBox="1"/>
            <p:nvPr/>
          </p:nvSpPr>
          <p:spPr>
            <a:xfrm>
              <a:off x="2326097" y="3157401"/>
              <a:ext cx="11823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uk" sz="1500">
                  <a:solidFill>
                    <a:schemeClr val="accent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Image</a:t>
              </a:r>
              <a:endParaRPr b="0" i="0" sz="1500" u="none" cap="none" strike="noStrik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pic>
          <p:nvPicPr>
            <p:cNvPr id="215" name="Google Shape;215;p2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618800" y="3596897"/>
              <a:ext cx="665050" cy="6650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6" name="Google Shape;216;p23"/>
          <p:cNvGrpSpPr/>
          <p:nvPr/>
        </p:nvGrpSpPr>
        <p:grpSpPr>
          <a:xfrm>
            <a:off x="57867" y="3157450"/>
            <a:ext cx="2027100" cy="1812032"/>
            <a:chOff x="57867" y="3157450"/>
            <a:chExt cx="2027100" cy="1812032"/>
          </a:xfrm>
        </p:grpSpPr>
        <p:sp>
          <p:nvSpPr>
            <p:cNvPr id="217" name="Google Shape;217;p23"/>
            <p:cNvSpPr txBox="1"/>
            <p:nvPr/>
          </p:nvSpPr>
          <p:spPr>
            <a:xfrm>
              <a:off x="401100" y="3157450"/>
              <a:ext cx="12945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uk" sz="1500">
                  <a:solidFill>
                    <a:schemeClr val="accent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Dockerfile</a:t>
              </a:r>
              <a:endParaRPr b="0" i="0" sz="1500" u="none" cap="none" strike="noStrik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218" name="Google Shape;218;p23"/>
            <p:cNvSpPr txBox="1"/>
            <p:nvPr/>
          </p:nvSpPr>
          <p:spPr>
            <a:xfrm>
              <a:off x="57867" y="4286009"/>
              <a:ext cx="2027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uk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Recipe</a:t>
              </a:r>
              <a:endParaRPr b="0" i="0" sz="12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219" name="Google Shape;219;p23"/>
            <p:cNvSpPr txBox="1"/>
            <p:nvPr/>
          </p:nvSpPr>
          <p:spPr>
            <a:xfrm>
              <a:off x="57867" y="4507782"/>
              <a:ext cx="2027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uk" sz="9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 text file with instructions for installing &amp; configuring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0" name="Google Shape;220;p2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757325" y="3572947"/>
              <a:ext cx="582051" cy="58205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21" name="Google Shape;221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12976" y="3617451"/>
            <a:ext cx="547502" cy="547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89651" y="3617451"/>
            <a:ext cx="547502" cy="547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4"/>
          <p:cNvSpPr txBox="1"/>
          <p:nvPr/>
        </p:nvSpPr>
        <p:spPr>
          <a:xfrm>
            <a:off x="322289" y="94457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Karpathy Tweets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228" name="Google Shape;22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390" y="1356100"/>
            <a:ext cx="4917924" cy="163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"/>
          <p:cNvSpPr txBox="1"/>
          <p:nvPr/>
        </p:nvSpPr>
        <p:spPr>
          <a:xfrm>
            <a:off x="316814" y="1138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Weeks to Expert Agentic Coder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34" name="Google Shape;234;p25"/>
          <p:cNvSpPr/>
          <p:nvPr/>
        </p:nvSpPr>
        <p:spPr>
          <a:xfrm>
            <a:off x="243825" y="37437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5" name="Google Shape;235;p25"/>
          <p:cNvSpPr/>
          <p:nvPr/>
        </p:nvSpPr>
        <p:spPr>
          <a:xfrm>
            <a:off x="384025" y="41100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Coding Landscape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6" name="Google Shape;236;p25"/>
          <p:cNvSpPr/>
          <p:nvPr/>
        </p:nvSpPr>
        <p:spPr>
          <a:xfrm>
            <a:off x="1395072" y="41100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Foundations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AGENTS.md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Context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7" name="Google Shape;237;p25"/>
          <p:cNvSpPr/>
          <p:nvPr/>
        </p:nvSpPr>
        <p:spPr>
          <a:xfrm>
            <a:off x="2406118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Cursor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Copilot, Codex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Antigravity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8" name="Google Shape;238;p25"/>
          <p:cNvSpPr/>
          <p:nvPr/>
        </p:nvSpPr>
        <p:spPr>
          <a:xfrm>
            <a:off x="3417153" y="4110058"/>
            <a:ext cx="934800" cy="538200"/>
          </a:xfrm>
          <a:prstGeom prst="rect">
            <a:avLst/>
          </a:prstGeom>
          <a:solidFill>
            <a:srgbClr val="0E4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1:</a:t>
            </a:r>
            <a:b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YOLO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9" name="Google Shape;239;p25"/>
          <p:cNvSpPr/>
          <p:nvPr/>
        </p:nvSpPr>
        <p:spPr>
          <a:xfrm>
            <a:off x="4445172" y="4110058"/>
            <a:ext cx="934800" cy="538200"/>
          </a:xfrm>
          <a:prstGeom prst="rect">
            <a:avLst/>
          </a:prstGeom>
          <a:solidFill>
            <a:srgbClr val="0E4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2: Commercial MVP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0" name="Google Shape;240;p25"/>
          <p:cNvSpPr txBox="1"/>
          <p:nvPr/>
        </p:nvSpPr>
        <p:spPr>
          <a:xfrm>
            <a:off x="393675" y="37437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1: Vibe Coding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for fun and profit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41" name="Google Shape;241;p25"/>
          <p:cNvSpPr/>
          <p:nvPr/>
        </p:nvSpPr>
        <p:spPr>
          <a:xfrm>
            <a:off x="243825" y="26385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2" name="Google Shape;242;p25"/>
          <p:cNvSpPr/>
          <p:nvPr/>
        </p:nvSpPr>
        <p:spPr>
          <a:xfrm>
            <a:off x="384025" y="30048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Claude Code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OpenCode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others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3" name="Google Shape;243;p25"/>
          <p:cNvSpPr/>
          <p:nvPr/>
        </p:nvSpPr>
        <p:spPr>
          <a:xfrm>
            <a:off x="1395072" y="30048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Commands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Checkpoints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Ralph Loops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4" name="Google Shape;244;p25"/>
          <p:cNvSpPr/>
          <p:nvPr/>
        </p:nvSpPr>
        <p:spPr>
          <a:xfrm>
            <a:off x="2406118" y="30048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Skills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Plugins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5" name="Google Shape;245;p25"/>
          <p:cNvSpPr/>
          <p:nvPr/>
        </p:nvSpPr>
        <p:spPr>
          <a:xfrm>
            <a:off x="3417153" y="30048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Workflows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Team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Debugging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4445172" y="30048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3: SaaS Platform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7" name="Google Shape;247;p25"/>
          <p:cNvSpPr txBox="1"/>
          <p:nvPr/>
        </p:nvSpPr>
        <p:spPr>
          <a:xfrm>
            <a:off x="393675" y="26385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2: Vibe Engineering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as a professional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48" name="Google Shape;248;p25"/>
          <p:cNvSpPr/>
          <p:nvPr/>
        </p:nvSpPr>
        <p:spPr>
          <a:xfrm>
            <a:off x="243825" y="15333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9" name="Google Shape;249;p25"/>
          <p:cNvSpPr/>
          <p:nvPr/>
        </p:nvSpPr>
        <p:spPr>
          <a:xfrm>
            <a:off x="384025" y="18996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Multi-Agents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Sub-Agents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Hooks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0" name="Google Shape;250;p25"/>
          <p:cNvSpPr/>
          <p:nvPr/>
        </p:nvSpPr>
        <p:spPr>
          <a:xfrm>
            <a:off x="1395072" y="18996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Sandboxing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1" name="Google Shape;251;p25"/>
          <p:cNvSpPr/>
          <p:nvPr/>
        </p:nvSpPr>
        <p:spPr>
          <a:xfrm>
            <a:off x="2406118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Large Codebase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Workflow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2" name="Google Shape;252;p25"/>
          <p:cNvSpPr/>
          <p:nvPr/>
        </p:nvSpPr>
        <p:spPr>
          <a:xfrm>
            <a:off x="3417153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Swarms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Orchestrators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3" name="Google Shape;253;p25"/>
          <p:cNvSpPr/>
          <p:nvPr/>
        </p:nvSpPr>
        <p:spPr>
          <a:xfrm>
            <a:off x="4445172" y="18996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4: Capstone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4" name="Google Shape;254;p25"/>
          <p:cNvSpPr txBox="1"/>
          <p:nvPr/>
        </p:nvSpPr>
        <p:spPr>
          <a:xfrm>
            <a:off x="393675" y="15333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3: Agentic Engineering 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as an expert  </a:t>
            </a:r>
            <a:endParaRPr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255" name="Google Shape;255;p25"/>
          <p:cNvGrpSpPr/>
          <p:nvPr/>
        </p:nvGrpSpPr>
        <p:grpSpPr>
          <a:xfrm>
            <a:off x="837139" y="852239"/>
            <a:ext cx="1215893" cy="323100"/>
            <a:chOff x="316825" y="809164"/>
            <a:chExt cx="1215893" cy="323100"/>
          </a:xfrm>
        </p:grpSpPr>
        <p:sp>
          <p:nvSpPr>
            <p:cNvPr id="256" name="Google Shape;256;p25"/>
            <p:cNvSpPr/>
            <p:nvPr/>
          </p:nvSpPr>
          <p:spPr>
            <a:xfrm>
              <a:off x="316825" y="879951"/>
              <a:ext cx="237300" cy="178500"/>
            </a:xfrm>
            <a:prstGeom prst="rect">
              <a:avLst/>
            </a:prstGeom>
            <a:solidFill>
              <a:srgbClr val="CAA5DC"/>
            </a:solidFill>
            <a:ln cap="flat" cmpd="sng" w="9525">
              <a:solidFill>
                <a:srgbClr val="572A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57" name="Google Shape;257;p25"/>
            <p:cNvSpPr txBox="1"/>
            <p:nvPr/>
          </p:nvSpPr>
          <p:spPr>
            <a:xfrm>
              <a:off x="54181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Core skills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258" name="Google Shape;258;p25"/>
          <p:cNvGrpSpPr/>
          <p:nvPr/>
        </p:nvGrpSpPr>
        <p:grpSpPr>
          <a:xfrm>
            <a:off x="1974077" y="852250"/>
            <a:ext cx="1564798" cy="323100"/>
            <a:chOff x="1365775" y="809175"/>
            <a:chExt cx="1564798" cy="323100"/>
          </a:xfrm>
        </p:grpSpPr>
        <p:sp>
          <p:nvSpPr>
            <p:cNvPr id="259" name="Google Shape;259;p25"/>
            <p:cNvSpPr/>
            <p:nvPr/>
          </p:nvSpPr>
          <p:spPr>
            <a:xfrm>
              <a:off x="1365775" y="879951"/>
              <a:ext cx="237300" cy="178500"/>
            </a:xfrm>
            <a:prstGeom prst="rect">
              <a:avLst/>
            </a:prstGeom>
            <a:solidFill>
              <a:srgbClr val="FBE097"/>
            </a:solidFill>
            <a:ln cap="flat" cmpd="sng" w="9525">
              <a:solidFill>
                <a:srgbClr val="B181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60" name="Google Shape;260;p25"/>
            <p:cNvSpPr txBox="1"/>
            <p:nvPr/>
          </p:nvSpPr>
          <p:spPr>
            <a:xfrm>
              <a:off x="1590773" y="809175"/>
              <a:ext cx="13398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Products / Features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261" name="Google Shape;261;p25"/>
          <p:cNvGrpSpPr/>
          <p:nvPr/>
        </p:nvGrpSpPr>
        <p:grpSpPr>
          <a:xfrm>
            <a:off x="3720614" y="852239"/>
            <a:ext cx="1215893" cy="323100"/>
            <a:chOff x="3200300" y="809164"/>
            <a:chExt cx="1215893" cy="323100"/>
          </a:xfrm>
        </p:grpSpPr>
        <p:sp>
          <p:nvSpPr>
            <p:cNvPr id="262" name="Google Shape;262;p25"/>
            <p:cNvSpPr/>
            <p:nvPr/>
          </p:nvSpPr>
          <p:spPr>
            <a:xfrm>
              <a:off x="3200300" y="879951"/>
              <a:ext cx="237300" cy="178500"/>
            </a:xfrm>
            <a:prstGeom prst="rect">
              <a:avLst/>
            </a:prstGeom>
            <a:solidFill>
              <a:srgbClr val="D0EBF8"/>
            </a:solidFill>
            <a:ln cap="flat" cmpd="sng" w="9525">
              <a:solidFill>
                <a:srgbClr val="177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63" name="Google Shape;263;p25"/>
            <p:cNvSpPr txBox="1"/>
            <p:nvPr/>
          </p:nvSpPr>
          <p:spPr>
            <a:xfrm>
              <a:off x="3425293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Projects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6"/>
          <p:cNvSpPr/>
          <p:nvPr/>
        </p:nvSpPr>
        <p:spPr>
          <a:xfrm>
            <a:off x="3429000" y="-25"/>
            <a:ext cx="19569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9" name="Google Shape;269;p26"/>
          <p:cNvSpPr txBox="1"/>
          <p:nvPr/>
        </p:nvSpPr>
        <p:spPr>
          <a:xfrm>
            <a:off x="3538375" y="230275"/>
            <a:ext cx="1751100" cy="46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AI Coder: Vibe Coder to Agentic Engineer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Missing Manual</a:t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4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33%</a:t>
            </a:r>
            <a:endParaRPr sz="4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270" name="Google Shape;27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32147"/>
      </a:dk1>
      <a:lt1>
        <a:srgbClr val="FFFFFF"/>
      </a:lt1>
      <a:dk2>
        <a:srgbClr val="032147"/>
      </a:dk2>
      <a:lt2>
        <a:srgbClr val="EEEEEE"/>
      </a:lt2>
      <a:accent1>
        <a:srgbClr val="209DD7"/>
      </a:accent1>
      <a:accent2>
        <a:srgbClr val="753991"/>
      </a:accent2>
      <a:accent3>
        <a:srgbClr val="ECAD0A"/>
      </a:accent3>
      <a:accent4>
        <a:srgbClr val="4CBB17"/>
      </a:accent4>
      <a:accent5>
        <a:srgbClr val="BC101F"/>
      </a:accent5>
      <a:accent6>
        <a:srgbClr val="BC101F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