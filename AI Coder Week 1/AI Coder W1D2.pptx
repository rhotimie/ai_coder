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Montserrat SemiBold"/>
      <p:regular r:id="rId22"/>
      <p:bold r:id="rId23"/>
      <p:italic r:id="rId24"/>
      <p:boldItalic r:id="rId25"/>
    </p:embeddedFont>
    <p:embeddedFont>
      <p:font typeface="Montserrat"/>
      <p:regular r:id="rId26"/>
      <p:bold r:id="rId27"/>
      <p:italic r:id="rId28"/>
      <p:boldItalic r:id="rId29"/>
    </p:embeddedFont>
    <p:embeddedFont>
      <p:font typeface="Montserrat Medium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MontserratSemiBold-regular.fntdata"/><Relationship Id="rId21" Type="http://schemas.openxmlformats.org/officeDocument/2006/relationships/slide" Target="slides/slide16.xml"/><Relationship Id="rId24" Type="http://schemas.openxmlformats.org/officeDocument/2006/relationships/font" Target="fonts/MontserratSemiBold-italic.fntdata"/><Relationship Id="rId23" Type="http://schemas.openxmlformats.org/officeDocument/2006/relationships/font" Target="fonts/MontserratSemi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regular.fntdata"/><Relationship Id="rId25" Type="http://schemas.openxmlformats.org/officeDocument/2006/relationships/font" Target="fonts/MontserratSemiBold-boldItalic.fntdata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Medium-bold.fntdata"/><Relationship Id="rId30" Type="http://schemas.openxmlformats.org/officeDocument/2006/relationships/font" Target="fonts/MontserratMedium-regular.fntdata"/><Relationship Id="rId11" Type="http://schemas.openxmlformats.org/officeDocument/2006/relationships/slide" Target="slides/slide6.xml"/><Relationship Id="rId33" Type="http://schemas.openxmlformats.org/officeDocument/2006/relationships/font" Target="fonts/MontserratMedium-boldItalic.fntdata"/><Relationship Id="rId10" Type="http://schemas.openxmlformats.org/officeDocument/2006/relationships/slide" Target="slides/slide5.xml"/><Relationship Id="rId32" Type="http://schemas.openxmlformats.org/officeDocument/2006/relationships/font" Target="fonts/MontserratMedium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7158c58547_0_3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" name="Google Shape;53;g37158c58547_0_3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92f0fa6623_0_2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g392f0fa6623_0_2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2fb686613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g392fb686613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2fb686613_0_1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g392fb686613_0_1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2fb686613_0_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g392fb686613_0_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2f0fa6623_0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g392f0fa6623_0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2fb686613_0_2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g392fb686613_0_2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2fb686613_0_2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g392fb686613_0_2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92fb686613_0_2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g392fb686613_0_2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92fb686613_0_2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g392fb686613_0_2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92fb686613_0_2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g392fb686613_0_2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92fb686613_0_3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g392fb686613_0_3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92fb686613_0_3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g392fb686613_0_3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92fb686613_0_2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g392fb686613_0_2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92fb686613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g392fb686613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4558ba40b8_0_3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2" name="Google Shape;272;g34558ba40b8_0_3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ий слайд 1">
  <p:cSld name="Титульний слайд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SemiBold"/>
              <a:buNone/>
              <a:defRPr sz="2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3429000" y="-25"/>
            <a:ext cx="19569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4"/>
          <p:cNvSpPr txBox="1"/>
          <p:nvPr/>
        </p:nvSpPr>
        <p:spPr>
          <a:xfrm>
            <a:off x="3538375" y="230275"/>
            <a:ext cx="1751100" cy="45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AI Coder: Vibe Coder to Agentic Engineer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Missing Manual</a:t>
            </a:r>
            <a:endParaRPr i="1"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1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2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57" name="Google Shape;5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/>
        </p:nvSpPr>
        <p:spPr>
          <a:xfrm>
            <a:off x="316814" y="1138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Weeks to Expert Agentic Coder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243825" y="37437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384025" y="41100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Coding Landscape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1395072" y="4110058"/>
            <a:ext cx="934800" cy="538200"/>
          </a:xfrm>
          <a:prstGeom prst="rect">
            <a:avLst/>
          </a:prstGeom>
          <a:solidFill>
            <a:srgbClr val="CAA5DC"/>
          </a:solidFill>
          <a:ln cap="flat" cmpd="sng" w="28575">
            <a:solidFill>
              <a:srgbClr val="572A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Foundations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AGENTS.md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Context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2406118" y="41100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Cursor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Copilot, Codex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Antigravity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3417153" y="41100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1:</a:t>
            </a:r>
            <a:b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YOLO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4445172" y="41100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2: Commercial MVP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393675" y="37437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1: Vibe Coding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for fun and profit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243825" y="26385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384025" y="30048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Claude Code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OpenCode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others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1395072" y="30048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Commands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Checkpoints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Ralph Loops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2406118" y="30048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Skills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Plugins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3417153" y="30048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Workflows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Team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Debugging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4445172" y="30048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3: SaaS Platform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393675" y="26385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2: Vibe Engineering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as a professional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243825" y="15333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384025" y="18996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Multi-Agents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Sub-Agents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Hooks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1395072" y="18996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Sandboxing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2406118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Large Codebase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Workflow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3417153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Swarms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Orchestrators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4445172" y="18996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4: Capstone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393675" y="15333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3: Agentic Engineering 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as an expert  </a:t>
            </a:r>
            <a:endParaRPr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84" name="Google Shape;84;p15"/>
          <p:cNvGrpSpPr/>
          <p:nvPr/>
        </p:nvGrpSpPr>
        <p:grpSpPr>
          <a:xfrm>
            <a:off x="837139" y="852239"/>
            <a:ext cx="1215893" cy="323100"/>
            <a:chOff x="316825" y="809164"/>
            <a:chExt cx="1215893" cy="323100"/>
          </a:xfrm>
        </p:grpSpPr>
        <p:sp>
          <p:nvSpPr>
            <p:cNvPr id="85" name="Google Shape;85;p15"/>
            <p:cNvSpPr/>
            <p:nvPr/>
          </p:nvSpPr>
          <p:spPr>
            <a:xfrm>
              <a:off x="316825" y="879951"/>
              <a:ext cx="237300" cy="178500"/>
            </a:xfrm>
            <a:prstGeom prst="rect">
              <a:avLst/>
            </a:prstGeom>
            <a:solidFill>
              <a:srgbClr val="CAA5DC"/>
            </a:solidFill>
            <a:ln cap="flat" cmpd="sng" w="9525">
              <a:solidFill>
                <a:srgbClr val="572A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6" name="Google Shape;86;p15"/>
            <p:cNvSpPr txBox="1"/>
            <p:nvPr/>
          </p:nvSpPr>
          <p:spPr>
            <a:xfrm>
              <a:off x="54181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Core skills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87" name="Google Shape;87;p15"/>
          <p:cNvGrpSpPr/>
          <p:nvPr/>
        </p:nvGrpSpPr>
        <p:grpSpPr>
          <a:xfrm>
            <a:off x="1974077" y="852250"/>
            <a:ext cx="1564798" cy="323100"/>
            <a:chOff x="1365775" y="809175"/>
            <a:chExt cx="1564798" cy="323100"/>
          </a:xfrm>
        </p:grpSpPr>
        <p:sp>
          <p:nvSpPr>
            <p:cNvPr id="88" name="Google Shape;88;p15"/>
            <p:cNvSpPr/>
            <p:nvPr/>
          </p:nvSpPr>
          <p:spPr>
            <a:xfrm>
              <a:off x="1365775" y="879951"/>
              <a:ext cx="237300" cy="178500"/>
            </a:xfrm>
            <a:prstGeom prst="rect">
              <a:avLst/>
            </a:prstGeom>
            <a:solidFill>
              <a:srgbClr val="FBE097"/>
            </a:solidFill>
            <a:ln cap="flat" cmpd="sng" w="9525">
              <a:solidFill>
                <a:srgbClr val="B18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9" name="Google Shape;89;p15"/>
            <p:cNvSpPr txBox="1"/>
            <p:nvPr/>
          </p:nvSpPr>
          <p:spPr>
            <a:xfrm>
              <a:off x="1590773" y="809175"/>
              <a:ext cx="13398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Products / Features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90" name="Google Shape;90;p15"/>
          <p:cNvGrpSpPr/>
          <p:nvPr/>
        </p:nvGrpSpPr>
        <p:grpSpPr>
          <a:xfrm>
            <a:off x="3720614" y="852239"/>
            <a:ext cx="1215893" cy="323100"/>
            <a:chOff x="3200300" y="809164"/>
            <a:chExt cx="1215893" cy="323100"/>
          </a:xfrm>
        </p:grpSpPr>
        <p:sp>
          <p:nvSpPr>
            <p:cNvPr id="91" name="Google Shape;91;p15"/>
            <p:cNvSpPr/>
            <p:nvPr/>
          </p:nvSpPr>
          <p:spPr>
            <a:xfrm>
              <a:off x="3200300" y="879951"/>
              <a:ext cx="237300" cy="178500"/>
            </a:xfrm>
            <a:prstGeom prst="rect">
              <a:avLst/>
            </a:prstGeom>
            <a:solidFill>
              <a:srgbClr val="D0EBF8"/>
            </a:solidFill>
            <a:ln cap="flat" cmpd="sng" w="9525">
              <a:solidFill>
                <a:srgbClr val="177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2" name="Google Shape;92;p15"/>
            <p:cNvSpPr txBox="1"/>
            <p:nvPr/>
          </p:nvSpPr>
          <p:spPr>
            <a:xfrm>
              <a:off x="3425293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Projects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Just so we’re on the same page: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316814" y="241826"/>
            <a:ext cx="244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You probably know this well but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2489725" y="2576225"/>
            <a:ext cx="21885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product that uses an LLM to achieve a business goal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ChatGPT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Cursor Agent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DuoLingo Max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Atlassian Rovo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		…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33323" y="2570500"/>
            <a:ext cx="2369400" cy="23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Predicts</a:t>
            </a: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most likely text to follow an input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It’s a pattern matcher that uses statistics based on vast training datasets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input is a sequence of tokens and output is probability of next token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Called repeatedly to generate a token at a time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01" name="Google Shape;101;p16"/>
          <p:cNvGrpSpPr/>
          <p:nvPr/>
        </p:nvGrpSpPr>
        <p:grpSpPr>
          <a:xfrm>
            <a:off x="12622" y="1025299"/>
            <a:ext cx="2369400" cy="1442200"/>
            <a:chOff x="12622" y="1025299"/>
            <a:chExt cx="2369400" cy="1442200"/>
          </a:xfrm>
        </p:grpSpPr>
        <p:grpSp>
          <p:nvGrpSpPr>
            <p:cNvPr id="102" name="Google Shape;102;p16"/>
            <p:cNvGrpSpPr/>
            <p:nvPr/>
          </p:nvGrpSpPr>
          <p:grpSpPr>
            <a:xfrm>
              <a:off x="12622" y="1025299"/>
              <a:ext cx="2369400" cy="1442200"/>
              <a:chOff x="12622" y="1060200"/>
              <a:chExt cx="2369400" cy="1442200"/>
            </a:xfrm>
          </p:grpSpPr>
          <p:sp>
            <p:nvSpPr>
              <p:cNvPr id="103" name="Google Shape;103;p16"/>
              <p:cNvSpPr txBox="1"/>
              <p:nvPr/>
            </p:nvSpPr>
            <p:spPr>
              <a:xfrm>
                <a:off x="12622" y="1060200"/>
                <a:ext cx="2369400" cy="3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1" lang="uk" sz="1100">
                    <a:solidFill>
                      <a:schemeClr val="accent2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LLM</a:t>
                </a:r>
                <a:endParaRPr b="1" i="0" sz="1100" u="none" cap="none" strike="noStrike">
                  <a:solidFill>
                    <a:schemeClr val="accent2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04" name="Google Shape;104;p16"/>
              <p:cNvSpPr/>
              <p:nvPr/>
            </p:nvSpPr>
            <p:spPr>
              <a:xfrm>
                <a:off x="678203" y="1499500"/>
                <a:ext cx="1002900" cy="1002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pic>
          <p:nvPicPr>
            <p:cNvPr id="105" name="Google Shape;105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14550" y="1709808"/>
              <a:ext cx="530200" cy="53018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6" name="Google Shape;106;p16"/>
          <p:cNvGrpSpPr/>
          <p:nvPr/>
        </p:nvGrpSpPr>
        <p:grpSpPr>
          <a:xfrm>
            <a:off x="2381950" y="1031024"/>
            <a:ext cx="2369400" cy="1442200"/>
            <a:chOff x="2381950" y="1031024"/>
            <a:chExt cx="2369400" cy="1442200"/>
          </a:xfrm>
        </p:grpSpPr>
        <p:grpSp>
          <p:nvGrpSpPr>
            <p:cNvPr id="107" name="Google Shape;107;p16"/>
            <p:cNvGrpSpPr/>
            <p:nvPr/>
          </p:nvGrpSpPr>
          <p:grpSpPr>
            <a:xfrm>
              <a:off x="2381950" y="1031024"/>
              <a:ext cx="2369400" cy="1442200"/>
              <a:chOff x="104700" y="1060200"/>
              <a:chExt cx="2369400" cy="1442200"/>
            </a:xfrm>
          </p:grpSpPr>
          <p:sp>
            <p:nvSpPr>
              <p:cNvPr id="108" name="Google Shape;108;p16"/>
              <p:cNvSpPr txBox="1"/>
              <p:nvPr/>
            </p:nvSpPr>
            <p:spPr>
              <a:xfrm>
                <a:off x="104700" y="1060200"/>
                <a:ext cx="2369400" cy="3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1" lang="uk" sz="1100">
                    <a:solidFill>
                      <a:schemeClr val="accent2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AI Application</a:t>
                </a:r>
                <a:endParaRPr b="1" i="0" sz="1100" u="none" cap="none" strike="noStrike">
                  <a:solidFill>
                    <a:schemeClr val="accent2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09" name="Google Shape;109;p16"/>
              <p:cNvSpPr/>
              <p:nvPr/>
            </p:nvSpPr>
            <p:spPr>
              <a:xfrm>
                <a:off x="784446" y="1499500"/>
                <a:ext cx="1002900" cy="1002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pic>
          <p:nvPicPr>
            <p:cNvPr id="110" name="Google Shape;110;p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301550" y="1692525"/>
              <a:ext cx="530200" cy="5301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/>
        </p:nvSpPr>
        <p:spPr>
          <a:xfrm>
            <a:off x="160614" y="17006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Fancy autocomplete with tricks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225150" y="1000350"/>
            <a:ext cx="2372100" cy="18993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2689325" y="1000350"/>
            <a:ext cx="2372100" cy="18993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225150" y="2991850"/>
            <a:ext cx="2372100" cy="18993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2689325" y="2991850"/>
            <a:ext cx="2372100" cy="18993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225150" y="1011150"/>
            <a:ext cx="23721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latin typeface="Montserrat"/>
                <a:ea typeface="Montserrat"/>
                <a:cs typeface="Montserrat"/>
                <a:sym typeface="Montserrat"/>
              </a:rPr>
              <a:t>Trick 1: Illusion of memory</a:t>
            </a:r>
            <a:endParaRPr b="1"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latin typeface="Montserrat"/>
                <a:ea typeface="Montserrat"/>
                <a:cs typeface="Montserrat"/>
                <a:sym typeface="Montserrat"/>
              </a:rPr>
              <a:t>I’m Ed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&gt;&gt; Hi Ed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latin typeface="Montserrat"/>
                <a:ea typeface="Montserrat"/>
                <a:cs typeface="Montserrat"/>
                <a:sym typeface="Montserrat"/>
              </a:rPr>
              <a:t>Who am I?</a:t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&gt;&gt; I don’t know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latin typeface="Montserrat"/>
                <a:ea typeface="Montserrat"/>
                <a:cs typeface="Montserrat"/>
                <a:sym typeface="Montserrat"/>
              </a:rPr>
              <a:t>I’m Ed</a:t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&gt;&gt; Hello Ed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Montserrat"/>
                <a:ea typeface="Montserrat"/>
                <a:cs typeface="Montserrat"/>
                <a:sym typeface="Montserrat"/>
              </a:rPr>
              <a:t>I’m Ed • Hi Ed </a:t>
            </a:r>
            <a:r>
              <a:rPr b="1" lang="uk" sz="1000">
                <a:latin typeface="Montserrat"/>
                <a:ea typeface="Montserrat"/>
                <a:cs typeface="Montserrat"/>
                <a:sym typeface="Montserrat"/>
              </a:rPr>
              <a:t>• Who am I?</a:t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&gt;&gt; You’re Ed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2689325" y="1002188"/>
            <a:ext cx="23721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latin typeface="Montserrat"/>
                <a:ea typeface="Montserrat"/>
                <a:cs typeface="Montserrat"/>
                <a:sym typeface="Montserrat"/>
              </a:rPr>
              <a:t>Trick 2: Reasoning / Thinking</a:t>
            </a:r>
            <a:endParaRPr b="1"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latin typeface="Montserrat"/>
                <a:ea typeface="Montserrat"/>
                <a:cs typeface="Montserrat"/>
                <a:sym typeface="Montserrat"/>
              </a:rPr>
              <a:t>Toss 2 coins.</a:t>
            </a:r>
            <a:br>
              <a:rPr lang="uk" sz="1000"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1000">
                <a:latin typeface="Montserrat"/>
                <a:ea typeface="Montserrat"/>
                <a:cs typeface="Montserrat"/>
                <a:sym typeface="Montserrat"/>
              </a:rPr>
              <a:t>One of them is heads.</a:t>
            </a:r>
            <a:br>
              <a:rPr lang="uk" sz="1000"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1000">
                <a:latin typeface="Montserrat"/>
                <a:ea typeface="Montserrat"/>
                <a:cs typeface="Montserrat"/>
                <a:sym typeface="Montserrat"/>
              </a:rPr>
              <a:t>What’s the chances the</a:t>
            </a:r>
            <a:br>
              <a:rPr lang="uk" sz="1000"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1000">
                <a:latin typeface="Montserrat"/>
                <a:ea typeface="Montserrat"/>
                <a:cs typeface="Montserrat"/>
                <a:sym typeface="Montserrat"/>
              </a:rPr>
              <a:t>other is tails?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225150" y="3098252"/>
            <a:ext cx="2372100" cy="14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Trick 3: Tools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To use Python code to respond to the next question, just reply: PYTHON: (a python expression here)</a:t>
            </a:r>
            <a:br>
              <a:rPr lang="uk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uk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Question: What's the square root of pi?</a:t>
            </a:r>
            <a:endParaRPr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&gt;&gt; PYTHON: math.sqrt(math.pi)</a:t>
            </a:r>
            <a:endParaRPr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" name="Google Shape;123;p17"/>
          <p:cNvSpPr txBox="1"/>
          <p:nvPr/>
        </p:nvSpPr>
        <p:spPr>
          <a:xfrm>
            <a:off x="2689325" y="3098252"/>
            <a:ext cx="23721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Trick 4: The Loop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Step 1: Ask LLM to make progress</a:t>
            </a:r>
            <a:endParaRPr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Step 2: Test to see if goal is met</a:t>
            </a:r>
            <a:endParaRPr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Step 3: If not, go to Step 1</a:t>
            </a:r>
            <a:endParaRPr sz="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3523850" y="4303325"/>
            <a:ext cx="651000" cy="36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E4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5" name="Google Shape;12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0925" y="4175924"/>
            <a:ext cx="243150" cy="24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What is an AI Agent?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316814" y="241826"/>
            <a:ext cx="244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And now: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" name="Google Shape;132;p18"/>
          <p:cNvSpPr txBox="1"/>
          <p:nvPr/>
        </p:nvSpPr>
        <p:spPr>
          <a:xfrm>
            <a:off x="0" y="1109375"/>
            <a:ext cx="41319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8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Sam Altman</a:t>
            </a:r>
            <a:br>
              <a:rPr lang="uk" sz="18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18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“AI systems that can do work for you independently”</a:t>
            </a:r>
            <a:endParaRPr sz="1800">
              <a:solidFill>
                <a:srgbClr val="1775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ECAD0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ECAD0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8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Early 2025 consensus</a:t>
            </a:r>
            <a:br>
              <a:rPr lang="uk" sz="18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18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(Anthropic, Hugging Face, ..)</a:t>
            </a:r>
            <a:br>
              <a:rPr lang="uk" sz="18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18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AI systems where an LLM controls the workflow</a:t>
            </a:r>
            <a:endParaRPr sz="18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ECAD0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ECAD0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800">
                <a:solidFill>
                  <a:srgbClr val="B18107"/>
                </a:solidFill>
                <a:latin typeface="Montserrat"/>
                <a:ea typeface="Montserrat"/>
                <a:cs typeface="Montserrat"/>
                <a:sym typeface="Montserrat"/>
              </a:rPr>
              <a:t>Late 2025</a:t>
            </a:r>
            <a:br>
              <a:rPr b="1" lang="uk" sz="1800">
                <a:solidFill>
                  <a:srgbClr val="B18107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1800">
                <a:solidFill>
                  <a:srgbClr val="B18107"/>
                </a:solidFill>
                <a:latin typeface="Montserrat"/>
                <a:ea typeface="Montserrat"/>
                <a:cs typeface="Montserrat"/>
                <a:sym typeface="Montserrat"/>
              </a:rPr>
              <a:t>An Agent runs Tools in a Loop to achieve a goal</a:t>
            </a:r>
            <a:endParaRPr sz="1800">
              <a:solidFill>
                <a:srgbClr val="B1810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 txBox="1"/>
          <p:nvPr/>
        </p:nvSpPr>
        <p:spPr>
          <a:xfrm>
            <a:off x="188425" y="677350"/>
            <a:ext cx="48897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Output of an LLM is</a:t>
            </a:r>
            <a:r>
              <a:rPr lang="uk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based entirely on its input (aka ‘</a:t>
            </a:r>
            <a:r>
              <a:rPr b="1" lang="uk" sz="11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context</a:t>
            </a:r>
            <a:r>
              <a:rPr lang="uk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’)</a:t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Getting this right is everything!</a:t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Previously called </a:t>
            </a:r>
            <a:r>
              <a:rPr b="1" lang="uk" sz="11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Prompt Engineering</a:t>
            </a:r>
            <a:r>
              <a:rPr lang="uk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but as the inputs became more complex, this became </a:t>
            </a:r>
            <a:r>
              <a:rPr b="1" lang="uk" sz="11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Context Engineering</a:t>
            </a:r>
            <a:endParaRPr sz="1100">
              <a:solidFill>
                <a:schemeClr val="accen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8" name="Google Shape;138;p19"/>
          <p:cNvSpPr txBox="1"/>
          <p:nvPr/>
        </p:nvSpPr>
        <p:spPr>
          <a:xfrm>
            <a:off x="269914" y="145001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Context Engineering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9" name="Google Shape;139;p19"/>
          <p:cNvSpPr/>
          <p:nvPr/>
        </p:nvSpPr>
        <p:spPr>
          <a:xfrm>
            <a:off x="631125" y="2095425"/>
            <a:ext cx="3858600" cy="3384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latin typeface="Montserrat"/>
                <a:ea typeface="Montserrat"/>
                <a:cs typeface="Montserrat"/>
                <a:sym typeface="Montserrat"/>
              </a:rPr>
              <a:t>System Prompt: overall framing 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631125" y="2433825"/>
            <a:ext cx="3858600" cy="338400"/>
          </a:xfrm>
          <a:prstGeom prst="rect">
            <a:avLst/>
          </a:prstGeom>
          <a:solidFill>
            <a:srgbClr val="B17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latin typeface="Montserrat"/>
                <a:ea typeface="Montserrat"/>
                <a:cs typeface="Montserrat"/>
                <a:sym typeface="Montserrat"/>
              </a:rPr>
              <a:t>Tools: description of capabilities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631125" y="2772225"/>
            <a:ext cx="3858600" cy="338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Memory: resources that persist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631125" y="3110625"/>
            <a:ext cx="3858600" cy="1468800"/>
          </a:xfrm>
          <a:prstGeom prst="rect">
            <a:avLst/>
          </a:prstGeom>
          <a:solidFill>
            <a:srgbClr val="3A1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Conversation</a:t>
            </a: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History / Messages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User messages</a:t>
            </a:r>
            <a:b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LLM reasoning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LLM replies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Code generated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Tools called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Results of code and tools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/>
          <p:nvPr/>
        </p:nvSpPr>
        <p:spPr>
          <a:xfrm>
            <a:off x="269914" y="145001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Context Engineering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48" name="Google Shape;148;p20"/>
          <p:cNvSpPr/>
          <p:nvPr/>
        </p:nvSpPr>
        <p:spPr>
          <a:xfrm>
            <a:off x="631125" y="2095425"/>
            <a:ext cx="3858600" cy="3384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latin typeface="Montserrat"/>
                <a:ea typeface="Montserrat"/>
                <a:cs typeface="Montserrat"/>
                <a:sym typeface="Montserrat"/>
              </a:rPr>
              <a:t>System Prompt: overall framing 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20"/>
          <p:cNvSpPr/>
          <p:nvPr/>
        </p:nvSpPr>
        <p:spPr>
          <a:xfrm>
            <a:off x="631125" y="2433825"/>
            <a:ext cx="3858600" cy="338400"/>
          </a:xfrm>
          <a:prstGeom prst="rect">
            <a:avLst/>
          </a:prstGeom>
          <a:solidFill>
            <a:srgbClr val="B17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latin typeface="Montserrat"/>
                <a:ea typeface="Montserrat"/>
                <a:cs typeface="Montserrat"/>
                <a:sym typeface="Montserrat"/>
              </a:rPr>
              <a:t>Tools: description of capabilities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p20"/>
          <p:cNvSpPr/>
          <p:nvPr/>
        </p:nvSpPr>
        <p:spPr>
          <a:xfrm>
            <a:off x="631125" y="2772250"/>
            <a:ext cx="3858600" cy="338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Memory: resources that persist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20"/>
          <p:cNvSpPr/>
          <p:nvPr/>
        </p:nvSpPr>
        <p:spPr>
          <a:xfrm>
            <a:off x="631125" y="3449075"/>
            <a:ext cx="3858600" cy="1468800"/>
          </a:xfrm>
          <a:prstGeom prst="rect">
            <a:avLst/>
          </a:prstGeom>
          <a:solidFill>
            <a:srgbClr val="3A1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Conversation History / Messages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User messages</a:t>
            </a:r>
            <a:b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LLM reasoning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LLM replies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Code generated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Tools called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Results of code and tools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" name="Google Shape;152;p20"/>
          <p:cNvSpPr/>
          <p:nvPr/>
        </p:nvSpPr>
        <p:spPr>
          <a:xfrm>
            <a:off x="631125" y="3110650"/>
            <a:ext cx="3858600" cy="338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latin typeface="Montserrat"/>
                <a:ea typeface="Montserrat"/>
                <a:cs typeface="Montserrat"/>
                <a:sym typeface="Montserrat"/>
              </a:rPr>
              <a:t>AGENTS.md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" name="Google Shape;153;p20"/>
          <p:cNvSpPr txBox="1"/>
          <p:nvPr/>
        </p:nvSpPr>
        <p:spPr>
          <a:xfrm>
            <a:off x="188425" y="677350"/>
            <a:ext cx="48897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Output of an LLM is based entirely on its input (aka ‘</a:t>
            </a:r>
            <a:r>
              <a:rPr b="1" lang="uk" sz="11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context</a:t>
            </a:r>
            <a:r>
              <a:rPr lang="uk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’)</a:t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Getting this right is everything!</a:t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Previously called </a:t>
            </a:r>
            <a:r>
              <a:rPr b="1" lang="uk" sz="11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Prompt Engineering</a:t>
            </a:r>
            <a:r>
              <a:rPr lang="uk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but as the inputs became more complex, this became </a:t>
            </a:r>
            <a:r>
              <a:rPr b="1" lang="uk" sz="11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Context Engineering</a:t>
            </a:r>
            <a:endParaRPr sz="1100">
              <a:solidFill>
                <a:schemeClr val="accen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1"/>
          <p:cNvSpPr txBox="1"/>
          <p:nvPr/>
        </p:nvSpPr>
        <p:spPr>
          <a:xfrm>
            <a:off x="269914" y="145001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Context Window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9" name="Google Shape;159;p21"/>
          <p:cNvSpPr/>
          <p:nvPr/>
        </p:nvSpPr>
        <p:spPr>
          <a:xfrm>
            <a:off x="631125" y="2095425"/>
            <a:ext cx="3858600" cy="3384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latin typeface="Montserrat"/>
                <a:ea typeface="Montserrat"/>
                <a:cs typeface="Montserrat"/>
                <a:sym typeface="Montserrat"/>
              </a:rPr>
              <a:t>System Prompt: overall framing 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p21"/>
          <p:cNvSpPr/>
          <p:nvPr/>
        </p:nvSpPr>
        <p:spPr>
          <a:xfrm>
            <a:off x="631125" y="2433825"/>
            <a:ext cx="3858600" cy="338400"/>
          </a:xfrm>
          <a:prstGeom prst="rect">
            <a:avLst/>
          </a:prstGeom>
          <a:solidFill>
            <a:srgbClr val="B17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latin typeface="Montserrat"/>
                <a:ea typeface="Montserrat"/>
                <a:cs typeface="Montserrat"/>
                <a:sym typeface="Montserrat"/>
              </a:rPr>
              <a:t>Tools: description of capabilities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" name="Google Shape;161;p21"/>
          <p:cNvSpPr/>
          <p:nvPr/>
        </p:nvSpPr>
        <p:spPr>
          <a:xfrm>
            <a:off x="631125" y="2772250"/>
            <a:ext cx="3858600" cy="338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Memory: resources that persist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p21"/>
          <p:cNvSpPr/>
          <p:nvPr/>
        </p:nvSpPr>
        <p:spPr>
          <a:xfrm>
            <a:off x="631125" y="3449075"/>
            <a:ext cx="3858600" cy="1468800"/>
          </a:xfrm>
          <a:prstGeom prst="rect">
            <a:avLst/>
          </a:prstGeom>
          <a:solidFill>
            <a:srgbClr val="3A1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Conversation History / Messages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User messages</a:t>
            </a:r>
            <a:b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LLM reasoning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LLM replies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Code generated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Tools called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Results of code and tools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p21"/>
          <p:cNvSpPr/>
          <p:nvPr/>
        </p:nvSpPr>
        <p:spPr>
          <a:xfrm>
            <a:off x="631125" y="3110650"/>
            <a:ext cx="3858600" cy="338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latin typeface="Montserrat"/>
                <a:ea typeface="Montserrat"/>
                <a:cs typeface="Montserrat"/>
                <a:sym typeface="Montserrat"/>
              </a:rPr>
              <a:t>AGENTS.md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p21"/>
          <p:cNvSpPr txBox="1"/>
          <p:nvPr/>
        </p:nvSpPr>
        <p:spPr>
          <a:xfrm>
            <a:off x="188425" y="677350"/>
            <a:ext cx="48897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 LLM has a limit to how many tokens it can examine in its input; inputs longer than this will fail</a:t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Also, LLM performance can degrade with longer context</a:t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Compacting</a:t>
            </a:r>
            <a:r>
              <a:rPr lang="uk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is the process of summarizing the Conversation History to free up space in the context</a:t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65" name="Google Shape;165;p21"/>
          <p:cNvGrpSpPr/>
          <p:nvPr/>
        </p:nvGrpSpPr>
        <p:grpSpPr>
          <a:xfrm>
            <a:off x="277039" y="2095425"/>
            <a:ext cx="244800" cy="2827500"/>
            <a:chOff x="277039" y="2095425"/>
            <a:chExt cx="244800" cy="2827500"/>
          </a:xfrm>
        </p:grpSpPr>
        <p:cxnSp>
          <p:nvCxnSpPr>
            <p:cNvPr id="166" name="Google Shape;166;p21"/>
            <p:cNvCxnSpPr/>
            <p:nvPr/>
          </p:nvCxnSpPr>
          <p:spPr>
            <a:xfrm>
              <a:off x="292650" y="2095425"/>
              <a:ext cx="0" cy="28275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" name="Google Shape;167;p21"/>
            <p:cNvCxnSpPr/>
            <p:nvPr/>
          </p:nvCxnSpPr>
          <p:spPr>
            <a:xfrm>
              <a:off x="277039" y="2105825"/>
              <a:ext cx="2448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8" name="Google Shape;168;p21"/>
            <p:cNvCxnSpPr/>
            <p:nvPr/>
          </p:nvCxnSpPr>
          <p:spPr>
            <a:xfrm>
              <a:off x="277039" y="4917875"/>
              <a:ext cx="2448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"/>
          <p:cNvSpPr txBox="1"/>
          <p:nvPr/>
        </p:nvSpPr>
        <p:spPr>
          <a:xfrm>
            <a:off x="269914" y="145001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Context Window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74" name="Google Shape;174;p22"/>
          <p:cNvSpPr/>
          <p:nvPr/>
        </p:nvSpPr>
        <p:spPr>
          <a:xfrm>
            <a:off x="631125" y="2095425"/>
            <a:ext cx="3858600" cy="3384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latin typeface="Montserrat"/>
                <a:ea typeface="Montserrat"/>
                <a:cs typeface="Montserrat"/>
                <a:sym typeface="Montserrat"/>
              </a:rPr>
              <a:t>System Prompt: overall framing 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p22"/>
          <p:cNvSpPr/>
          <p:nvPr/>
        </p:nvSpPr>
        <p:spPr>
          <a:xfrm>
            <a:off x="631125" y="2433825"/>
            <a:ext cx="3858600" cy="338400"/>
          </a:xfrm>
          <a:prstGeom prst="rect">
            <a:avLst/>
          </a:prstGeom>
          <a:solidFill>
            <a:srgbClr val="B17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latin typeface="Montserrat"/>
                <a:ea typeface="Montserrat"/>
                <a:cs typeface="Montserrat"/>
                <a:sym typeface="Montserrat"/>
              </a:rPr>
              <a:t>Tools: description of capabilities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" name="Google Shape;176;p22"/>
          <p:cNvSpPr/>
          <p:nvPr/>
        </p:nvSpPr>
        <p:spPr>
          <a:xfrm>
            <a:off x="631125" y="2772250"/>
            <a:ext cx="3858600" cy="338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Memory: resources that persist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" name="Google Shape;177;p22"/>
          <p:cNvSpPr/>
          <p:nvPr/>
        </p:nvSpPr>
        <p:spPr>
          <a:xfrm>
            <a:off x="631125" y="3449075"/>
            <a:ext cx="3858600" cy="1468800"/>
          </a:xfrm>
          <a:prstGeom prst="rect">
            <a:avLst/>
          </a:prstGeom>
          <a:solidFill>
            <a:srgbClr val="3A1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Conversation History / Messages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Summary of earlier messages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p22"/>
          <p:cNvSpPr/>
          <p:nvPr/>
        </p:nvSpPr>
        <p:spPr>
          <a:xfrm>
            <a:off x="631125" y="3110650"/>
            <a:ext cx="3858600" cy="338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latin typeface="Montserrat"/>
                <a:ea typeface="Montserrat"/>
                <a:cs typeface="Montserrat"/>
                <a:sym typeface="Montserrat"/>
              </a:rPr>
              <a:t>AGENTS.md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9" name="Google Shape;179;p22"/>
          <p:cNvSpPr txBox="1"/>
          <p:nvPr/>
        </p:nvSpPr>
        <p:spPr>
          <a:xfrm>
            <a:off x="188425" y="677350"/>
            <a:ext cx="48897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 LLM has a limit to how many tokens it can examine in its input; inputs longer than this will fail</a:t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Also, LLM performance can degrade with longer context</a:t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Compacting</a:t>
            </a:r>
            <a:r>
              <a:rPr lang="uk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is the process of summarizing the Conversation History to free up space in the context</a:t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80" name="Google Shape;180;p22"/>
          <p:cNvGrpSpPr/>
          <p:nvPr/>
        </p:nvGrpSpPr>
        <p:grpSpPr>
          <a:xfrm>
            <a:off x="277039" y="2095425"/>
            <a:ext cx="244800" cy="2827500"/>
            <a:chOff x="277039" y="2095425"/>
            <a:chExt cx="244800" cy="2827500"/>
          </a:xfrm>
        </p:grpSpPr>
        <p:cxnSp>
          <p:nvCxnSpPr>
            <p:cNvPr id="181" name="Google Shape;181;p22"/>
            <p:cNvCxnSpPr/>
            <p:nvPr/>
          </p:nvCxnSpPr>
          <p:spPr>
            <a:xfrm>
              <a:off x="292650" y="2095425"/>
              <a:ext cx="0" cy="28275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2" name="Google Shape;182;p22"/>
            <p:cNvCxnSpPr/>
            <p:nvPr/>
          </p:nvCxnSpPr>
          <p:spPr>
            <a:xfrm>
              <a:off x="277039" y="2105825"/>
              <a:ext cx="2448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3" name="Google Shape;183;p22"/>
            <p:cNvCxnSpPr/>
            <p:nvPr/>
          </p:nvCxnSpPr>
          <p:spPr>
            <a:xfrm>
              <a:off x="277039" y="4917875"/>
              <a:ext cx="2448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3"/>
          <p:cNvSpPr txBox="1"/>
          <p:nvPr/>
        </p:nvSpPr>
        <p:spPr>
          <a:xfrm>
            <a:off x="269914" y="145001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AGENTS.md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89" name="Google Shape;189;p23"/>
          <p:cNvSpPr txBox="1"/>
          <p:nvPr/>
        </p:nvSpPr>
        <p:spPr>
          <a:xfrm>
            <a:off x="269925" y="3428140"/>
            <a:ext cx="48897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 file in Markdown format with natural language instructions for the Agent that get included in the context</a:t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Can be in project root, or at any level of subdirectory</a:t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Cursor, Codex, Github Copilot use AGENTS.md</a:t>
            </a:r>
            <a:br>
              <a:rPr lang="uk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uk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Claude Code uses CLAUDE.md</a:t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Antigravity uses GEMINI.md</a:t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90" name="Google Shape;190;p23"/>
          <p:cNvSpPr/>
          <p:nvPr/>
        </p:nvSpPr>
        <p:spPr>
          <a:xfrm>
            <a:off x="269925" y="632300"/>
            <a:ext cx="4738500" cy="2658000"/>
          </a:xfrm>
          <a:prstGeom prst="rect">
            <a:avLst/>
          </a:prstGeom>
          <a:solidFill>
            <a:srgbClr val="D0EB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Project Summary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## Goals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## Success Criteria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Code standards and guidelines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1. </a:t>
            </a:r>
            <a:r>
              <a:rPr b="1" lang="uk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Simpler is better - do not overcomplicate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2. Comments only when necessary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3. Be concise, short README, no emojis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4. IMPORTANT: Avoid overly defensive programming; avoid isinstance checks; only manage exceptions when necessary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5. Use uv; ALWAYS `uv run xxx` NEVER `python3 xxx`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4"/>
          <p:cNvSpPr/>
          <p:nvPr/>
        </p:nvSpPr>
        <p:spPr>
          <a:xfrm>
            <a:off x="223613" y="3394025"/>
            <a:ext cx="2621100" cy="1466100"/>
          </a:xfrm>
          <a:prstGeom prst="rect">
            <a:avLst/>
          </a:prstGeom>
          <a:noFill/>
          <a:ln cap="flat" cmpd="sng" w="28575">
            <a:solidFill>
              <a:srgbClr val="B18107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6" name="Google Shape;196;p24"/>
          <p:cNvSpPr txBox="1"/>
          <p:nvPr/>
        </p:nvSpPr>
        <p:spPr>
          <a:xfrm>
            <a:off x="269914" y="145001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AGENTS.md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97" name="Google Shape;197;p24"/>
          <p:cNvSpPr txBox="1"/>
          <p:nvPr/>
        </p:nvSpPr>
        <p:spPr>
          <a:xfrm>
            <a:off x="269925" y="3428150"/>
            <a:ext cx="2537700" cy="1369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2025 PREVAILING WISDOM: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Invest time crafting AGENTS.md</a:t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AGENTS.md at multiple levels</a:t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Support with supplemental files</a:t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Continually rewrite and prune</a:t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Often rewrite &amp; reset context</a:t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98" name="Google Shape;198;p24"/>
          <p:cNvSpPr/>
          <p:nvPr/>
        </p:nvSpPr>
        <p:spPr>
          <a:xfrm>
            <a:off x="269925" y="632300"/>
            <a:ext cx="4738500" cy="2658000"/>
          </a:xfrm>
          <a:prstGeom prst="rect">
            <a:avLst/>
          </a:prstGeom>
          <a:solidFill>
            <a:srgbClr val="D0EB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Project Summary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## Goals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## Success Criteria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Code standards and guidelines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1. Simpler is better - do not overcomplicate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2. Comments only when necessary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3. Be concise, short README, no emojis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4. IMPORTANT: Avoid overly defensive programming; avoid isinstance checks; only manage exceptions when necessary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5. Use uv; ALWAYS `uv run xxx` NEVER `python3 xxx`</a:t>
            </a:r>
            <a:endParaRPr b="1"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9" name="Google Shape;199;p24"/>
          <p:cNvSpPr txBox="1"/>
          <p:nvPr/>
        </p:nvSpPr>
        <p:spPr>
          <a:xfrm>
            <a:off x="2866850" y="3428150"/>
            <a:ext cx="2141700" cy="1369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2026 MINDSET: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Let it go</a:t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Focus on end goal</a:t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More skills</a:t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More loops</a:t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More agents</a:t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"/>
          <p:cNvSpPr txBox="1"/>
          <p:nvPr/>
        </p:nvSpPr>
        <p:spPr>
          <a:xfrm>
            <a:off x="0" y="756672"/>
            <a:ext cx="5088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B18107"/>
                </a:solidFill>
                <a:latin typeface="Montserrat"/>
                <a:ea typeface="Montserrat"/>
                <a:cs typeface="Montserrat"/>
                <a:sym typeface="Montserrat"/>
              </a:rPr>
              <a:t>2025 Approaches</a:t>
            </a:r>
            <a:endParaRPr b="1" sz="1100">
              <a:solidFill>
                <a:srgbClr val="B1810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5" name="Google Shape;205;p25"/>
          <p:cNvSpPr txBox="1"/>
          <p:nvPr/>
        </p:nvSpPr>
        <p:spPr>
          <a:xfrm>
            <a:off x="280339" y="103351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Evolution of Workflows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06" name="Google Shape;206;p25"/>
          <p:cNvSpPr/>
          <p:nvPr/>
        </p:nvSpPr>
        <p:spPr>
          <a:xfrm>
            <a:off x="420425" y="1174422"/>
            <a:ext cx="1359000" cy="1359000"/>
          </a:xfrm>
          <a:prstGeom prst="ellipse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latin typeface="Montserrat"/>
                <a:ea typeface="Montserrat"/>
                <a:cs typeface="Montserrat"/>
                <a:sym typeface="Montserrat"/>
              </a:rPr>
              <a:t>Micro-</a:t>
            </a:r>
            <a:br>
              <a:rPr lang="uk" sz="1200"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1200">
                <a:latin typeface="Montserrat"/>
                <a:ea typeface="Montserrat"/>
                <a:cs typeface="Montserrat"/>
                <a:sym typeface="Montserrat"/>
              </a:rPr>
              <a:t>manage, Approve, Frequent resets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" name="Google Shape;207;p25"/>
          <p:cNvSpPr/>
          <p:nvPr/>
        </p:nvSpPr>
        <p:spPr>
          <a:xfrm>
            <a:off x="1859025" y="1174422"/>
            <a:ext cx="1359000" cy="1359000"/>
          </a:xfrm>
          <a:prstGeom prst="ellipse">
            <a:avLst/>
          </a:prstGeom>
          <a:solidFill>
            <a:srgbClr val="ECAD0A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latin typeface="Montserrat"/>
                <a:ea typeface="Montserrat"/>
                <a:cs typeface="Montserrat"/>
                <a:sym typeface="Montserrat"/>
              </a:rPr>
              <a:t>Plan, Execute, Review,</a:t>
            </a:r>
            <a:br>
              <a:rPr lang="uk" sz="1200"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1200">
                <a:latin typeface="Montserrat"/>
                <a:ea typeface="Montserrat"/>
                <a:cs typeface="Montserrat"/>
                <a:sym typeface="Montserrat"/>
              </a:rPr>
              <a:t>Test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8" name="Google Shape;208;p25"/>
          <p:cNvSpPr/>
          <p:nvPr/>
        </p:nvSpPr>
        <p:spPr>
          <a:xfrm>
            <a:off x="3297625" y="1174422"/>
            <a:ext cx="1359000" cy="1359000"/>
          </a:xfrm>
          <a:prstGeom prst="ellipse">
            <a:avLst/>
          </a:prstGeom>
          <a:solidFill>
            <a:srgbClr val="B181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SDD;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Trust but verify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9" name="Google Shape;209;p25"/>
          <p:cNvSpPr/>
          <p:nvPr/>
        </p:nvSpPr>
        <p:spPr>
          <a:xfrm>
            <a:off x="420426" y="3169503"/>
            <a:ext cx="1359000" cy="1359000"/>
          </a:xfrm>
          <a:prstGeom prst="ellipse">
            <a:avLst/>
          </a:prstGeom>
          <a:solidFill>
            <a:srgbClr val="B17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YOLO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0" name="Google Shape;210;p25"/>
          <p:cNvSpPr/>
          <p:nvPr/>
        </p:nvSpPr>
        <p:spPr>
          <a:xfrm>
            <a:off x="1859026" y="3169503"/>
            <a:ext cx="1359000" cy="1359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Ralph Loops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1" name="Google Shape;211;p25"/>
          <p:cNvSpPr/>
          <p:nvPr/>
        </p:nvSpPr>
        <p:spPr>
          <a:xfrm>
            <a:off x="3297626" y="3169503"/>
            <a:ext cx="1359000" cy="1359000"/>
          </a:xfrm>
          <a:prstGeom prst="ellipse">
            <a:avLst/>
          </a:prstGeom>
          <a:solidFill>
            <a:srgbClr val="572A6C"/>
          </a:solidFill>
          <a:ln>
            <a:noFill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Multi-</a:t>
            </a:r>
            <a:b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swarms,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orchestrate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2" name="Google Shape;212;p25"/>
          <p:cNvSpPr txBox="1"/>
          <p:nvPr/>
        </p:nvSpPr>
        <p:spPr>
          <a:xfrm>
            <a:off x="0" y="2789697"/>
            <a:ext cx="5088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572A6C"/>
                </a:solidFill>
                <a:latin typeface="Montserrat"/>
                <a:ea typeface="Montserrat"/>
                <a:cs typeface="Montserrat"/>
                <a:sym typeface="Montserrat"/>
              </a:rPr>
              <a:t>2026 Approaches</a:t>
            </a:r>
            <a:endParaRPr b="1" sz="1100">
              <a:solidFill>
                <a:srgbClr val="572A6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 txBox="1"/>
          <p:nvPr/>
        </p:nvSpPr>
        <p:spPr>
          <a:xfrm>
            <a:off x="0" y="756672"/>
            <a:ext cx="5088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B18107"/>
                </a:solidFill>
                <a:latin typeface="Montserrat"/>
                <a:ea typeface="Montserrat"/>
                <a:cs typeface="Montserrat"/>
                <a:sym typeface="Montserrat"/>
              </a:rPr>
              <a:t>Mission critical software, large codebase, highly innovative code</a:t>
            </a:r>
            <a:endParaRPr b="1" sz="1100">
              <a:solidFill>
                <a:srgbClr val="B1810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8" name="Google Shape;218;p26"/>
          <p:cNvSpPr txBox="1"/>
          <p:nvPr/>
        </p:nvSpPr>
        <p:spPr>
          <a:xfrm>
            <a:off x="280339" y="103351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Which approach is right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219" name="Google Shape;219;p26"/>
          <p:cNvGrpSpPr/>
          <p:nvPr/>
        </p:nvGrpSpPr>
        <p:grpSpPr>
          <a:xfrm>
            <a:off x="420425" y="1174422"/>
            <a:ext cx="4236200" cy="1359000"/>
            <a:chOff x="420425" y="1174422"/>
            <a:chExt cx="4236200" cy="1359000"/>
          </a:xfrm>
        </p:grpSpPr>
        <p:sp>
          <p:nvSpPr>
            <p:cNvPr id="220" name="Google Shape;220;p26"/>
            <p:cNvSpPr/>
            <p:nvPr/>
          </p:nvSpPr>
          <p:spPr>
            <a:xfrm>
              <a:off x="420425" y="1174422"/>
              <a:ext cx="1359000" cy="1359000"/>
            </a:xfrm>
            <a:prstGeom prst="ellipse">
              <a:avLst/>
            </a:prstGeom>
            <a:solidFill>
              <a:srgbClr val="FBE0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latin typeface="Montserrat"/>
                  <a:ea typeface="Montserrat"/>
                  <a:cs typeface="Montserrat"/>
                  <a:sym typeface="Montserrat"/>
                </a:rPr>
                <a:t>Micro-</a:t>
              </a:r>
              <a:br>
                <a:rPr lang="uk" sz="1200"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uk" sz="1200">
                  <a:latin typeface="Montserrat"/>
                  <a:ea typeface="Montserrat"/>
                  <a:cs typeface="Montserrat"/>
                  <a:sym typeface="Montserrat"/>
                </a:rPr>
                <a:t>manage, Approve, Frequent resets</a:t>
              </a:r>
              <a:endParaRPr sz="12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1859025" y="1174422"/>
              <a:ext cx="1359000" cy="1359000"/>
            </a:xfrm>
            <a:prstGeom prst="ellipse">
              <a:avLst/>
            </a:prstGeom>
            <a:solidFill>
              <a:srgbClr val="ECAD0A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latin typeface="Montserrat"/>
                  <a:ea typeface="Montserrat"/>
                  <a:cs typeface="Montserrat"/>
                  <a:sym typeface="Montserrat"/>
                </a:rPr>
                <a:t>Plan, Execute, Review,</a:t>
              </a:r>
              <a:br>
                <a:rPr lang="uk" sz="1200"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uk" sz="1200">
                  <a:latin typeface="Montserrat"/>
                  <a:ea typeface="Montserrat"/>
                  <a:cs typeface="Montserrat"/>
                  <a:sym typeface="Montserrat"/>
                </a:rPr>
                <a:t>Test</a:t>
              </a:r>
              <a:endParaRPr sz="12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2" name="Google Shape;222;p26"/>
            <p:cNvSpPr/>
            <p:nvPr/>
          </p:nvSpPr>
          <p:spPr>
            <a:xfrm>
              <a:off x="3297625" y="1174422"/>
              <a:ext cx="1359000" cy="1359000"/>
            </a:xfrm>
            <a:prstGeom prst="ellipse">
              <a:avLst/>
            </a:prstGeom>
            <a:solidFill>
              <a:srgbClr val="B1810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SDD;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Trust but verify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23" name="Google Shape;223;p26"/>
          <p:cNvGrpSpPr/>
          <p:nvPr/>
        </p:nvGrpSpPr>
        <p:grpSpPr>
          <a:xfrm>
            <a:off x="420426" y="3169503"/>
            <a:ext cx="4236200" cy="1359000"/>
            <a:chOff x="420426" y="3169503"/>
            <a:chExt cx="4236200" cy="1359000"/>
          </a:xfrm>
        </p:grpSpPr>
        <p:sp>
          <p:nvSpPr>
            <p:cNvPr id="224" name="Google Shape;224;p26"/>
            <p:cNvSpPr/>
            <p:nvPr/>
          </p:nvSpPr>
          <p:spPr>
            <a:xfrm>
              <a:off x="420426" y="3169503"/>
              <a:ext cx="1359000" cy="1359000"/>
            </a:xfrm>
            <a:prstGeom prst="ellipse">
              <a:avLst/>
            </a:prstGeom>
            <a:solidFill>
              <a:srgbClr val="B179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YOLO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5" name="Google Shape;225;p26"/>
            <p:cNvSpPr/>
            <p:nvPr/>
          </p:nvSpPr>
          <p:spPr>
            <a:xfrm>
              <a:off x="1859026" y="3169503"/>
              <a:ext cx="1359000" cy="1359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Ralph Loops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6" name="Google Shape;226;p26"/>
            <p:cNvSpPr/>
            <p:nvPr/>
          </p:nvSpPr>
          <p:spPr>
            <a:xfrm>
              <a:off x="3297626" y="3169503"/>
              <a:ext cx="1359000" cy="1359000"/>
            </a:xfrm>
            <a:prstGeom prst="ellipse">
              <a:avLst/>
            </a:prstGeom>
            <a:solidFill>
              <a:srgbClr val="572A6C"/>
            </a:solidFill>
            <a:ln>
              <a:noFill/>
            </a:ln>
          </p:spPr>
          <p:txBody>
            <a:bodyPr anchorCtr="0" anchor="ctr" bIns="91425" lIns="36000" spcFirstLastPara="1" rIns="36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Multi-</a:t>
              </a:r>
              <a:br>
                <a:rPr lang="uk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uk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agent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swarms,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orchestrate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27" name="Google Shape;227;p26"/>
          <p:cNvSpPr txBox="1"/>
          <p:nvPr/>
        </p:nvSpPr>
        <p:spPr>
          <a:xfrm>
            <a:off x="0" y="2789697"/>
            <a:ext cx="5088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572A6C"/>
                </a:solidFill>
                <a:latin typeface="Montserrat"/>
                <a:ea typeface="Montserrat"/>
                <a:cs typeface="Montserrat"/>
                <a:sym typeface="Montserrat"/>
              </a:rPr>
              <a:t>MVPs, new build, risk appetite, boilerplate code</a:t>
            </a:r>
            <a:endParaRPr b="1" sz="1100">
              <a:solidFill>
                <a:srgbClr val="572A6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8" name="Google Shape;228;p26"/>
          <p:cNvSpPr txBox="1"/>
          <p:nvPr/>
        </p:nvSpPr>
        <p:spPr>
          <a:xfrm>
            <a:off x="0" y="4685147"/>
            <a:ext cx="5088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uk" sz="11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Your job is to deliver code that is proven to work</a:t>
            </a:r>
            <a:endParaRPr b="1" i="1" sz="11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"/>
          <p:cNvSpPr txBox="1"/>
          <p:nvPr/>
        </p:nvSpPr>
        <p:spPr>
          <a:xfrm>
            <a:off x="302014" y="223000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Comparing LLMs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34" name="Google Shape;23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50" y="1080550"/>
            <a:ext cx="5092649" cy="309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8"/>
          <p:cNvSpPr txBox="1"/>
          <p:nvPr/>
        </p:nvSpPr>
        <p:spPr>
          <a:xfrm>
            <a:off x="316814" y="1138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Weeks to Expert Agentic Coder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40" name="Google Shape;240;p28"/>
          <p:cNvSpPr/>
          <p:nvPr/>
        </p:nvSpPr>
        <p:spPr>
          <a:xfrm>
            <a:off x="243825" y="37437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1" name="Google Shape;241;p28"/>
          <p:cNvSpPr/>
          <p:nvPr/>
        </p:nvSpPr>
        <p:spPr>
          <a:xfrm>
            <a:off x="384025" y="41100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Coding Landscape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2" name="Google Shape;242;p28"/>
          <p:cNvSpPr/>
          <p:nvPr/>
        </p:nvSpPr>
        <p:spPr>
          <a:xfrm>
            <a:off x="1395072" y="41100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Foundations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AGENTS.md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Context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3" name="Google Shape;243;p28"/>
          <p:cNvSpPr/>
          <p:nvPr/>
        </p:nvSpPr>
        <p:spPr>
          <a:xfrm>
            <a:off x="2406118" y="41100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Cursor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Copilot, Codex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Antigravity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4" name="Google Shape;244;p28"/>
          <p:cNvSpPr/>
          <p:nvPr/>
        </p:nvSpPr>
        <p:spPr>
          <a:xfrm>
            <a:off x="3417153" y="41100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1:</a:t>
            </a:r>
            <a:b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YOLO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5" name="Google Shape;245;p28"/>
          <p:cNvSpPr/>
          <p:nvPr/>
        </p:nvSpPr>
        <p:spPr>
          <a:xfrm>
            <a:off x="4445172" y="41100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2: Commercial MVP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6" name="Google Shape;246;p28"/>
          <p:cNvSpPr txBox="1"/>
          <p:nvPr/>
        </p:nvSpPr>
        <p:spPr>
          <a:xfrm>
            <a:off x="393675" y="37437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1: Vibe Coding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for fun and profit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47" name="Google Shape;247;p28"/>
          <p:cNvSpPr/>
          <p:nvPr/>
        </p:nvSpPr>
        <p:spPr>
          <a:xfrm>
            <a:off x="243825" y="26385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8" name="Google Shape;248;p28"/>
          <p:cNvSpPr/>
          <p:nvPr/>
        </p:nvSpPr>
        <p:spPr>
          <a:xfrm>
            <a:off x="384025" y="30048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Claude Code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OpenCode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others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9" name="Google Shape;249;p28"/>
          <p:cNvSpPr/>
          <p:nvPr/>
        </p:nvSpPr>
        <p:spPr>
          <a:xfrm>
            <a:off x="1395072" y="30048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Commands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Checkpoints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Ralph Loops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0" name="Google Shape;250;p28"/>
          <p:cNvSpPr/>
          <p:nvPr/>
        </p:nvSpPr>
        <p:spPr>
          <a:xfrm>
            <a:off x="2406118" y="30048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Skills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Plugins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1" name="Google Shape;251;p28"/>
          <p:cNvSpPr/>
          <p:nvPr/>
        </p:nvSpPr>
        <p:spPr>
          <a:xfrm>
            <a:off x="3417153" y="30048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Workflows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Team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Debugging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2" name="Google Shape;252;p28"/>
          <p:cNvSpPr/>
          <p:nvPr/>
        </p:nvSpPr>
        <p:spPr>
          <a:xfrm>
            <a:off x="4445172" y="30048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3: SaaS Platform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3" name="Google Shape;253;p28"/>
          <p:cNvSpPr txBox="1"/>
          <p:nvPr/>
        </p:nvSpPr>
        <p:spPr>
          <a:xfrm>
            <a:off x="393675" y="26385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2: Vibe Engineering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as a professional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54" name="Google Shape;254;p28"/>
          <p:cNvSpPr/>
          <p:nvPr/>
        </p:nvSpPr>
        <p:spPr>
          <a:xfrm>
            <a:off x="243825" y="15333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5" name="Google Shape;255;p28"/>
          <p:cNvSpPr/>
          <p:nvPr/>
        </p:nvSpPr>
        <p:spPr>
          <a:xfrm>
            <a:off x="384025" y="18996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Multi-Agents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Sub-Agents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Hooks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6" name="Google Shape;256;p28"/>
          <p:cNvSpPr/>
          <p:nvPr/>
        </p:nvSpPr>
        <p:spPr>
          <a:xfrm>
            <a:off x="1395072" y="18996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Sandboxing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7" name="Google Shape;257;p28"/>
          <p:cNvSpPr/>
          <p:nvPr/>
        </p:nvSpPr>
        <p:spPr>
          <a:xfrm>
            <a:off x="2406118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Large Codebase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Workflow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8" name="Google Shape;258;p28"/>
          <p:cNvSpPr/>
          <p:nvPr/>
        </p:nvSpPr>
        <p:spPr>
          <a:xfrm>
            <a:off x="3417153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Swarms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Orchestrators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9" name="Google Shape;259;p28"/>
          <p:cNvSpPr/>
          <p:nvPr/>
        </p:nvSpPr>
        <p:spPr>
          <a:xfrm>
            <a:off x="4445172" y="18996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4: Capstone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0" name="Google Shape;260;p28"/>
          <p:cNvSpPr txBox="1"/>
          <p:nvPr/>
        </p:nvSpPr>
        <p:spPr>
          <a:xfrm>
            <a:off x="393675" y="15333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3: Agentic Engineering 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as an expert  </a:t>
            </a:r>
            <a:endParaRPr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261" name="Google Shape;261;p28"/>
          <p:cNvGrpSpPr/>
          <p:nvPr/>
        </p:nvGrpSpPr>
        <p:grpSpPr>
          <a:xfrm>
            <a:off x="837139" y="852239"/>
            <a:ext cx="1215893" cy="323100"/>
            <a:chOff x="316825" y="809164"/>
            <a:chExt cx="1215893" cy="323100"/>
          </a:xfrm>
        </p:grpSpPr>
        <p:sp>
          <p:nvSpPr>
            <p:cNvPr id="262" name="Google Shape;262;p28"/>
            <p:cNvSpPr/>
            <p:nvPr/>
          </p:nvSpPr>
          <p:spPr>
            <a:xfrm>
              <a:off x="316825" y="879951"/>
              <a:ext cx="237300" cy="178500"/>
            </a:xfrm>
            <a:prstGeom prst="rect">
              <a:avLst/>
            </a:prstGeom>
            <a:solidFill>
              <a:srgbClr val="CAA5DC"/>
            </a:solidFill>
            <a:ln cap="flat" cmpd="sng" w="9525">
              <a:solidFill>
                <a:srgbClr val="572A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3" name="Google Shape;263;p28"/>
            <p:cNvSpPr txBox="1"/>
            <p:nvPr/>
          </p:nvSpPr>
          <p:spPr>
            <a:xfrm>
              <a:off x="54181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Core skills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264" name="Google Shape;264;p28"/>
          <p:cNvGrpSpPr/>
          <p:nvPr/>
        </p:nvGrpSpPr>
        <p:grpSpPr>
          <a:xfrm>
            <a:off x="1974077" y="852250"/>
            <a:ext cx="1564798" cy="323100"/>
            <a:chOff x="1365775" y="809175"/>
            <a:chExt cx="1564798" cy="323100"/>
          </a:xfrm>
        </p:grpSpPr>
        <p:sp>
          <p:nvSpPr>
            <p:cNvPr id="265" name="Google Shape;265;p28"/>
            <p:cNvSpPr/>
            <p:nvPr/>
          </p:nvSpPr>
          <p:spPr>
            <a:xfrm>
              <a:off x="1365775" y="879951"/>
              <a:ext cx="237300" cy="178500"/>
            </a:xfrm>
            <a:prstGeom prst="rect">
              <a:avLst/>
            </a:prstGeom>
            <a:solidFill>
              <a:srgbClr val="FBE097"/>
            </a:solidFill>
            <a:ln cap="flat" cmpd="sng" w="9525">
              <a:solidFill>
                <a:srgbClr val="B18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6" name="Google Shape;266;p28"/>
            <p:cNvSpPr txBox="1"/>
            <p:nvPr/>
          </p:nvSpPr>
          <p:spPr>
            <a:xfrm>
              <a:off x="1590773" y="809175"/>
              <a:ext cx="13398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Products / Features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267" name="Google Shape;267;p28"/>
          <p:cNvGrpSpPr/>
          <p:nvPr/>
        </p:nvGrpSpPr>
        <p:grpSpPr>
          <a:xfrm>
            <a:off x="3720614" y="852239"/>
            <a:ext cx="1215893" cy="323100"/>
            <a:chOff x="3200300" y="809164"/>
            <a:chExt cx="1215893" cy="323100"/>
          </a:xfrm>
        </p:grpSpPr>
        <p:sp>
          <p:nvSpPr>
            <p:cNvPr id="268" name="Google Shape;268;p28"/>
            <p:cNvSpPr/>
            <p:nvPr/>
          </p:nvSpPr>
          <p:spPr>
            <a:xfrm>
              <a:off x="3200300" y="879951"/>
              <a:ext cx="237300" cy="178500"/>
            </a:xfrm>
            <a:prstGeom prst="rect">
              <a:avLst/>
            </a:prstGeom>
            <a:solidFill>
              <a:srgbClr val="D0EBF8"/>
            </a:solidFill>
            <a:ln cap="flat" cmpd="sng" w="9525">
              <a:solidFill>
                <a:srgbClr val="177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9" name="Google Shape;269;p28"/>
            <p:cNvSpPr txBox="1"/>
            <p:nvPr/>
          </p:nvSpPr>
          <p:spPr>
            <a:xfrm>
              <a:off x="3425293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Projects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/>
          <p:nvPr/>
        </p:nvSpPr>
        <p:spPr>
          <a:xfrm>
            <a:off x="3429000" y="-25"/>
            <a:ext cx="19569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5" name="Google Shape;275;p29"/>
          <p:cNvSpPr txBox="1"/>
          <p:nvPr/>
        </p:nvSpPr>
        <p:spPr>
          <a:xfrm>
            <a:off x="3538375" y="230275"/>
            <a:ext cx="1751100" cy="46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AI Coder: Vibe Coder to Agentic Engineer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Missing Manual</a:t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4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13%</a:t>
            </a:r>
            <a:endParaRPr sz="4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76" name="Google Shape;27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32147"/>
      </a:dk1>
      <a:lt1>
        <a:srgbClr val="FFFFFF"/>
      </a:lt1>
      <a:dk2>
        <a:srgbClr val="032147"/>
      </a:dk2>
      <a:lt2>
        <a:srgbClr val="EEEEEE"/>
      </a:lt2>
      <a:accent1>
        <a:srgbClr val="209DD7"/>
      </a:accent1>
      <a:accent2>
        <a:srgbClr val="753991"/>
      </a:accent2>
      <a:accent3>
        <a:srgbClr val="ECAD0A"/>
      </a:accent3>
      <a:accent4>
        <a:srgbClr val="4CBB17"/>
      </a:accent4>
      <a:accent5>
        <a:srgbClr val="BC101F"/>
      </a:accent5>
      <a:accent6>
        <a:srgbClr val="BC101F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