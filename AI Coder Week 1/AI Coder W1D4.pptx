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 SemiBold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7" Type="http://schemas.openxmlformats.org/officeDocument/2006/relationships/font" Target="fonts/MontserratMedium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SemiBold-bold.fntdata"/><Relationship Id="rId16" Type="http://schemas.openxmlformats.org/officeDocument/2006/relationships/font" Target="fonts/MontserratSemiBold-regular.fntdata"/><Relationship Id="rId19" Type="http://schemas.openxmlformats.org/officeDocument/2006/relationships/font" Target="fonts/MontserratSemiBold-boldItalic.fntdata"/><Relationship Id="rId18" Type="http://schemas.openxmlformats.org/officeDocument/2006/relationships/font" Target="fonts/Montserrat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7158c58547_0_3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g37158c58547_0_3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fadcc880e_0_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" name="Google Shape;60;g3bfadcc880e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92fb686613_0_2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92fb686613_0_2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2fb686613_0_3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g392fb686613_0_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c2620dd1d3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c2620dd1d3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2620dd1d3_0_8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c2620dd1d3_0_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2620dd1d3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c2620dd1d3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2620dd1d3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c2620dd1d3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316d2f76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g39316d2f76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558ba40b8_0_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4558ba40b8_0_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 1">
  <p:cSld name="Титульний слайд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SemiBold"/>
              <a:buNone/>
              <a:defRPr sz="2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" name="Google Shape;56;p14"/>
          <p:cNvSpPr txBox="1"/>
          <p:nvPr/>
        </p:nvSpPr>
        <p:spPr>
          <a:xfrm>
            <a:off x="3538375" y="230275"/>
            <a:ext cx="1751100" cy="4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i="1"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1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4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57" name="Google Shape;5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D0EBF8"/>
          </a:solidFill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85" name="Google Shape;85;p15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87" name="Google Shape;87;p15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88" name="Google Shape;88;p15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89" name="Google Shape;89;p15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90" name="Google Shape;90;p15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91" name="Google Shape;91;p15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92" name="Google Shape;92;p15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>
            <a:off x="269914" y="145001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Recap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75223" y="989900"/>
            <a:ext cx="1229400" cy="1051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Anysphere</a:t>
            </a:r>
            <a:endParaRPr i="1"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fork of</a:t>
            </a:r>
            <a:br>
              <a:rPr lang="uk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uk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VS Code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99" name="Google Shape;99;p16"/>
          <p:cNvSpPr txBox="1"/>
          <p:nvPr/>
        </p:nvSpPr>
        <p:spPr>
          <a:xfrm>
            <a:off x="1376800" y="989900"/>
            <a:ext cx="1301700" cy="105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Github Copilot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Github / MSFT</a:t>
            </a:r>
            <a:endParaRPr i="1"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Often VS Code extension</a:t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2750681" y="989900"/>
            <a:ext cx="1229400" cy="1051200"/>
          </a:xfrm>
          <a:prstGeom prst="rect">
            <a:avLst/>
          </a:prstGeom>
          <a:solidFill>
            <a:srgbClr val="1775A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Codex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OpenAI</a:t>
            </a:r>
            <a:endParaRPr i="1"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Can be VS Code extension</a:t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4052255" y="989900"/>
            <a:ext cx="1229400" cy="1051200"/>
          </a:xfrm>
          <a:prstGeom prst="rect">
            <a:avLst/>
          </a:prstGeom>
          <a:solidFill>
            <a:srgbClr val="0E4E6B"/>
          </a:solidFill>
          <a:ln cap="flat" cmpd="sng" w="9525">
            <a:solidFill>
              <a:srgbClr val="0E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</a:t>
            </a:r>
            <a:endParaRPr i="1"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 fork of</a:t>
            </a:r>
            <a:br>
              <a:rPr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VS Code</a:t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75231" y="6359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looked at four IDEs</a:t>
            </a:r>
            <a:endParaRPr/>
          </a:p>
        </p:txBody>
      </p:sp>
      <p:sp>
        <p:nvSpPr>
          <p:cNvPr id="103" name="Google Shape;103;p16"/>
          <p:cNvSpPr txBox="1"/>
          <p:nvPr/>
        </p:nvSpPr>
        <p:spPr>
          <a:xfrm>
            <a:off x="75225" y="2301725"/>
            <a:ext cx="4738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 used different LLMs as Coding Agents</a:t>
            </a:r>
            <a:endParaRPr/>
          </a:p>
        </p:txBody>
      </p:sp>
      <p:sp>
        <p:nvSpPr>
          <p:cNvPr id="104" name="Google Shape;104;p16"/>
          <p:cNvSpPr txBox="1"/>
          <p:nvPr/>
        </p:nvSpPr>
        <p:spPr>
          <a:xfrm>
            <a:off x="75223" y="2655725"/>
            <a:ext cx="1229400" cy="1051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Composer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Anysphere</a:t>
            </a:r>
            <a:endParaRPr i="1"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Fast frontier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200K context</a:t>
            </a:r>
            <a:endParaRPr sz="10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1376800" y="2655725"/>
            <a:ext cx="1301700" cy="1051200"/>
          </a:xfrm>
          <a:prstGeom prst="rect">
            <a:avLst/>
          </a:prstGeom>
          <a:solidFill>
            <a:srgbClr val="B179CB"/>
          </a:solidFill>
          <a:ln>
            <a:noFill/>
          </a:ln>
        </p:spPr>
        <p:txBody>
          <a:bodyPr anchorCtr="0" anchor="t" bIns="91425" lIns="91425" spcFirstLastPara="1" rIns="3600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Claude Haiku 4.5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Anthropic</a:t>
            </a:r>
            <a:endParaRPr i="1"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Fast frontier</a:t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200K context</a:t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2750681" y="2655725"/>
            <a:ext cx="1229400" cy="1051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GPT 5.2-Codex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OpenAI</a:t>
            </a:r>
            <a:endParaRPr i="1"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Frontier</a:t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272K context</a:t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4052255" y="2655725"/>
            <a:ext cx="1229400" cy="1051200"/>
          </a:xfrm>
          <a:prstGeom prst="rect">
            <a:avLst/>
          </a:prstGeom>
          <a:solidFill>
            <a:srgbClr val="572A6C"/>
          </a:solidFill>
          <a:ln cap="flat" cmpd="sng" w="9525">
            <a:solidFill>
              <a:srgbClr val="0E4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Gemini 3 Pro</a:t>
            </a:r>
            <a:endParaRPr b="1"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Google</a:t>
            </a:r>
            <a:endParaRPr i="1"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Frontier</a:t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0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1,000K context</a:t>
            </a:r>
            <a:endParaRPr sz="10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75225" y="3918300"/>
            <a:ext cx="4738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1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Practical rules of thumb:</a:t>
            </a:r>
            <a:endParaRPr b="1" sz="11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Favor intelligence over speed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Pick the most intelligent model your budget allows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With smaller models, allow for greater prompting and oversight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1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Avoid YOLO with fast frontier or open-source</a:t>
            </a:r>
            <a:endParaRPr sz="11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Success: Be The Boss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14" name="Google Shape;114;p17"/>
          <p:cNvGrpSpPr/>
          <p:nvPr/>
        </p:nvGrpSpPr>
        <p:grpSpPr>
          <a:xfrm>
            <a:off x="322300" y="781350"/>
            <a:ext cx="3862375" cy="788100"/>
            <a:chOff x="322300" y="781350"/>
            <a:chExt cx="3862375" cy="788100"/>
          </a:xfrm>
        </p:grpSpPr>
        <p:sp>
          <p:nvSpPr>
            <p:cNvPr id="115" name="Google Shape;115;p17"/>
            <p:cNvSpPr/>
            <p:nvPr/>
          </p:nvSpPr>
          <p:spPr>
            <a:xfrm>
              <a:off x="322300" y="781350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16" name="Google Shape;116;p17"/>
            <p:cNvSpPr txBox="1"/>
            <p:nvPr/>
          </p:nvSpPr>
          <p:spPr>
            <a:xfrm>
              <a:off x="1184675" y="863997"/>
              <a:ext cx="3000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Invest in AGENTS.md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Concisely: spec, style, success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17" name="Google Shape;117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67825" y="926877"/>
              <a:ext cx="497050" cy="4970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" name="Google Shape;118;p17"/>
          <p:cNvGrpSpPr/>
          <p:nvPr/>
        </p:nvGrpSpPr>
        <p:grpSpPr>
          <a:xfrm>
            <a:off x="322300" y="1595731"/>
            <a:ext cx="3862375" cy="788100"/>
            <a:chOff x="322300" y="1599492"/>
            <a:chExt cx="3862375" cy="788100"/>
          </a:xfrm>
        </p:grpSpPr>
        <p:sp>
          <p:nvSpPr>
            <p:cNvPr id="119" name="Google Shape;119;p17"/>
            <p:cNvSpPr/>
            <p:nvPr/>
          </p:nvSpPr>
          <p:spPr>
            <a:xfrm>
              <a:off x="322300" y="1599492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0" name="Google Shape;120;p17"/>
            <p:cNvSpPr txBox="1"/>
            <p:nvPr/>
          </p:nvSpPr>
          <p:spPr>
            <a:xfrm>
              <a:off x="1184675" y="1793442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Start SIMPLE</a:t>
              </a:r>
              <a:endParaRPr/>
            </a:p>
          </p:txBody>
        </p:sp>
        <p:pic>
          <p:nvPicPr>
            <p:cNvPr id="121" name="Google Shape;121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97053" y="1779891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2" name="Google Shape;122;p17"/>
          <p:cNvGrpSpPr/>
          <p:nvPr/>
        </p:nvGrpSpPr>
        <p:grpSpPr>
          <a:xfrm>
            <a:off x="322300" y="2410112"/>
            <a:ext cx="4388275" cy="788100"/>
            <a:chOff x="322300" y="2417635"/>
            <a:chExt cx="4388275" cy="788100"/>
          </a:xfrm>
        </p:grpSpPr>
        <p:sp>
          <p:nvSpPr>
            <p:cNvPr id="123" name="Google Shape;123;p17"/>
            <p:cNvSpPr/>
            <p:nvPr/>
          </p:nvSpPr>
          <p:spPr>
            <a:xfrm>
              <a:off x="322300" y="2417635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>
              <a:off x="1184675" y="2491720"/>
              <a:ext cx="3525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Work incrementally; test constantly; validate success criteria</a:t>
              </a:r>
              <a:endParaRPr/>
            </a:p>
          </p:txBody>
        </p:sp>
        <p:pic>
          <p:nvPicPr>
            <p:cNvPr id="125" name="Google Shape;125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67825" y="2558893"/>
              <a:ext cx="497050" cy="4970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6" name="Google Shape;126;p17"/>
          <p:cNvGrpSpPr/>
          <p:nvPr/>
        </p:nvGrpSpPr>
        <p:grpSpPr>
          <a:xfrm>
            <a:off x="322300" y="3224493"/>
            <a:ext cx="3862375" cy="788100"/>
            <a:chOff x="322300" y="3227215"/>
            <a:chExt cx="3862375" cy="788100"/>
          </a:xfrm>
        </p:grpSpPr>
        <p:sp>
          <p:nvSpPr>
            <p:cNvPr id="127" name="Google Shape;127;p17"/>
            <p:cNvSpPr/>
            <p:nvPr/>
          </p:nvSpPr>
          <p:spPr>
            <a:xfrm>
              <a:off x="322300" y="3227215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28" name="Google Shape;128;p17"/>
            <p:cNvSpPr txBox="1"/>
            <p:nvPr/>
          </p:nvSpPr>
          <p:spPr>
            <a:xfrm>
              <a:off x="1184675" y="3318424"/>
              <a:ext cx="30000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Don’t get lazy - challenge &amp; demand evidence</a:t>
              </a:r>
              <a:endParaRPr/>
            </a:p>
          </p:txBody>
        </p:sp>
        <p:pic>
          <p:nvPicPr>
            <p:cNvPr id="129" name="Google Shape;129;p1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97050" y="3403001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" name="Google Shape;130;p17"/>
          <p:cNvGrpSpPr/>
          <p:nvPr/>
        </p:nvGrpSpPr>
        <p:grpSpPr>
          <a:xfrm>
            <a:off x="322300" y="4038874"/>
            <a:ext cx="3862375" cy="788100"/>
            <a:chOff x="322300" y="4038874"/>
            <a:chExt cx="3862375" cy="788100"/>
          </a:xfrm>
        </p:grpSpPr>
        <p:sp>
          <p:nvSpPr>
            <p:cNvPr id="131" name="Google Shape;131;p17"/>
            <p:cNvSpPr/>
            <p:nvPr/>
          </p:nvSpPr>
          <p:spPr>
            <a:xfrm>
              <a:off x="322300" y="4038874"/>
              <a:ext cx="788100" cy="7881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1184675" y="4232824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Handle frustration with style</a:t>
              </a:r>
              <a:endParaRPr/>
            </a:p>
          </p:txBody>
        </p:sp>
        <p:pic>
          <p:nvPicPr>
            <p:cNvPr id="133" name="Google Shape;133;p17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97050" y="4213631"/>
              <a:ext cx="438600" cy="438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 Success: Be The Boss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39" name="Google Shape;139;p18"/>
          <p:cNvGrpSpPr/>
          <p:nvPr/>
        </p:nvGrpSpPr>
        <p:grpSpPr>
          <a:xfrm>
            <a:off x="322300" y="885631"/>
            <a:ext cx="3862375" cy="831300"/>
            <a:chOff x="322300" y="766643"/>
            <a:chExt cx="3862375" cy="831300"/>
          </a:xfrm>
        </p:grpSpPr>
        <p:sp>
          <p:nvSpPr>
            <p:cNvPr id="140" name="Google Shape;140;p18"/>
            <p:cNvSpPr/>
            <p:nvPr/>
          </p:nvSpPr>
          <p:spPr>
            <a:xfrm>
              <a:off x="322300" y="781350"/>
              <a:ext cx="788100" cy="788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1" name="Google Shape;141;p18"/>
            <p:cNvSpPr txBox="1"/>
            <p:nvPr/>
          </p:nvSpPr>
          <p:spPr>
            <a:xfrm>
              <a:off x="1184675" y="766643"/>
              <a:ext cx="30000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For Junior Engineers: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latin typeface="Montserrat"/>
                  <a:ea typeface="Montserrat"/>
                  <a:cs typeface="Montserrat"/>
                  <a:sym typeface="Montserrat"/>
                </a:rPr>
                <a:t>Keep learning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latin typeface="Montserrat"/>
                  <a:ea typeface="Montserrat"/>
                  <a:cs typeface="Montserrat"/>
                  <a:sym typeface="Montserrat"/>
                </a:rPr>
                <a:t>Be skeptical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2" name="Google Shape;142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6494" y="832000"/>
              <a:ext cx="639700" cy="639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" name="Google Shape;143;p18"/>
          <p:cNvGrpSpPr/>
          <p:nvPr/>
        </p:nvGrpSpPr>
        <p:grpSpPr>
          <a:xfrm>
            <a:off x="322300" y="2211111"/>
            <a:ext cx="3862375" cy="835952"/>
            <a:chOff x="322300" y="2052931"/>
            <a:chExt cx="3862375" cy="835952"/>
          </a:xfrm>
        </p:grpSpPr>
        <p:sp>
          <p:nvSpPr>
            <p:cNvPr id="144" name="Google Shape;144;p18"/>
            <p:cNvSpPr/>
            <p:nvPr/>
          </p:nvSpPr>
          <p:spPr>
            <a:xfrm>
              <a:off x="322300" y="2052931"/>
              <a:ext cx="788100" cy="788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1184675" y="2057583"/>
              <a:ext cx="30000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For Senior Engineers: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latin typeface="Montserrat"/>
                  <a:ea typeface="Montserrat"/>
                  <a:cs typeface="Montserrat"/>
                  <a:sym typeface="Montserrat"/>
                </a:rPr>
                <a:t>Keep building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latin typeface="Montserrat"/>
                  <a:ea typeface="Montserrat"/>
                  <a:cs typeface="Montserrat"/>
                  <a:sym typeface="Montserrat"/>
                </a:rPr>
                <a:t>Keep enjoying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46" name="Google Shape;146;p1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54887" y="2162775"/>
              <a:ext cx="522925" cy="522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" name="Google Shape;147;p18"/>
          <p:cNvGrpSpPr/>
          <p:nvPr/>
        </p:nvGrpSpPr>
        <p:grpSpPr>
          <a:xfrm>
            <a:off x="322300" y="3541243"/>
            <a:ext cx="4156975" cy="835944"/>
            <a:chOff x="322300" y="3422256"/>
            <a:chExt cx="4156975" cy="835944"/>
          </a:xfrm>
        </p:grpSpPr>
        <p:sp>
          <p:nvSpPr>
            <p:cNvPr id="148" name="Google Shape;148;p18"/>
            <p:cNvSpPr/>
            <p:nvPr/>
          </p:nvSpPr>
          <p:spPr>
            <a:xfrm>
              <a:off x="322300" y="3422256"/>
              <a:ext cx="788100" cy="788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1184675" y="3426900"/>
              <a:ext cx="32946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For everyone:</a:t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>
                  <a:latin typeface="Montserrat"/>
                  <a:ea typeface="Montserrat"/>
                  <a:cs typeface="Montserrat"/>
                  <a:sym typeface="Montserrat"/>
                </a:rPr>
                <a:t>Expect mixed results - recognize the downside; it’s a net positive</a:t>
              </a:r>
              <a:endParaRPr b="1"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150" name="Google Shape;150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54882" y="3554838"/>
              <a:ext cx="522925" cy="5229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 candid appraisal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56" name="Google Shape;15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5457"/>
            <a:ext cx="4533652" cy="4305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You own the code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62" name="Google Shape;16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00" y="577282"/>
            <a:ext cx="5049765" cy="43056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1"/>
          <p:cNvSpPr txBox="1"/>
          <p:nvPr/>
        </p:nvSpPr>
        <p:spPr>
          <a:xfrm>
            <a:off x="322289" y="94457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Frame of mind</a:t>
            </a:r>
            <a:endParaRPr b="0" i="0" sz="2400" u="none" cap="none" strike="noStrike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168" name="Google Shape;168;p21"/>
          <p:cNvGrpSpPr/>
          <p:nvPr/>
        </p:nvGrpSpPr>
        <p:grpSpPr>
          <a:xfrm>
            <a:off x="322300" y="674400"/>
            <a:ext cx="4387000" cy="1236300"/>
            <a:chOff x="322300" y="674400"/>
            <a:chExt cx="4387000" cy="1236300"/>
          </a:xfrm>
        </p:grpSpPr>
        <p:sp>
          <p:nvSpPr>
            <p:cNvPr id="169" name="Google Shape;169;p21"/>
            <p:cNvSpPr/>
            <p:nvPr/>
          </p:nvSpPr>
          <p:spPr>
            <a:xfrm>
              <a:off x="322300" y="674400"/>
              <a:ext cx="1236300" cy="1236300"/>
            </a:xfrm>
            <a:prstGeom prst="ellipse">
              <a:avLst/>
            </a:prstGeom>
            <a:solidFill>
              <a:srgbClr val="0E4E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0" name="Google Shape;170;p21"/>
            <p:cNvSpPr txBox="1"/>
            <p:nvPr/>
          </p:nvSpPr>
          <p:spPr>
            <a:xfrm>
              <a:off x="1709300" y="106240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Everything is optional</a:t>
              </a:r>
              <a:endParaRPr/>
            </a:p>
          </p:txBody>
        </p:sp>
        <p:pic>
          <p:nvPicPr>
            <p:cNvPr id="171" name="Google Shape;17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1361" y="926245"/>
              <a:ext cx="743400" cy="7434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2" name="Google Shape;172;p21"/>
          <p:cNvGrpSpPr/>
          <p:nvPr/>
        </p:nvGrpSpPr>
        <p:grpSpPr>
          <a:xfrm>
            <a:off x="299500" y="2007044"/>
            <a:ext cx="4409800" cy="1236300"/>
            <a:chOff x="299500" y="2007044"/>
            <a:chExt cx="4409800" cy="1236300"/>
          </a:xfrm>
        </p:grpSpPr>
        <p:sp>
          <p:nvSpPr>
            <p:cNvPr id="173" name="Google Shape;173;p21"/>
            <p:cNvSpPr/>
            <p:nvPr/>
          </p:nvSpPr>
          <p:spPr>
            <a:xfrm>
              <a:off x="299500" y="2007044"/>
              <a:ext cx="1236300" cy="1236300"/>
            </a:xfrm>
            <a:prstGeom prst="ellipse">
              <a:avLst/>
            </a:prstGeom>
            <a:solidFill>
              <a:srgbClr val="1775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4" name="Google Shape;174;p21"/>
            <p:cNvSpPr txBox="1"/>
            <p:nvPr/>
          </p:nvSpPr>
          <p:spPr>
            <a:xfrm>
              <a:off x="1709300" y="242390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Your results may vary</a:t>
              </a:r>
              <a:endParaRPr/>
            </a:p>
          </p:txBody>
        </p:sp>
        <p:pic>
          <p:nvPicPr>
            <p:cNvPr id="175" name="Google Shape;17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80118" y="2271205"/>
              <a:ext cx="696700" cy="6967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" name="Google Shape;176;p21"/>
          <p:cNvGrpSpPr/>
          <p:nvPr/>
        </p:nvGrpSpPr>
        <p:grpSpPr>
          <a:xfrm>
            <a:off x="322300" y="3339687"/>
            <a:ext cx="4387000" cy="1236300"/>
            <a:chOff x="322300" y="3339687"/>
            <a:chExt cx="4387000" cy="1236300"/>
          </a:xfrm>
        </p:grpSpPr>
        <p:sp>
          <p:nvSpPr>
            <p:cNvPr id="177" name="Google Shape;177;p21"/>
            <p:cNvSpPr/>
            <p:nvPr/>
          </p:nvSpPr>
          <p:spPr>
            <a:xfrm>
              <a:off x="322300" y="3339687"/>
              <a:ext cx="1236300" cy="123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178" name="Google Shape;178;p21"/>
            <p:cNvSpPr txBox="1"/>
            <p:nvPr/>
          </p:nvSpPr>
          <p:spPr>
            <a:xfrm>
              <a:off x="1709300" y="378540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>
                  <a:latin typeface="Montserrat"/>
                  <a:ea typeface="Montserrat"/>
                  <a:cs typeface="Montserrat"/>
                  <a:sym typeface="Montserrat"/>
                </a:rPr>
                <a:t>If problems: simplify</a:t>
              </a:r>
              <a:endParaRPr/>
            </a:p>
          </p:txBody>
        </p:sp>
        <p:pic>
          <p:nvPicPr>
            <p:cNvPr id="179" name="Google Shape;179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0117" y="3524307"/>
              <a:ext cx="809700" cy="809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2"/>
          <p:cNvSpPr txBox="1"/>
          <p:nvPr/>
        </p:nvSpPr>
        <p:spPr>
          <a:xfrm>
            <a:off x="316814" y="113813"/>
            <a:ext cx="84489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24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 Weeks to Expert Agentic Coder</a:t>
            </a:r>
            <a:endParaRPr b="0" i="0" sz="2400" u="none" cap="none" strike="noStrike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243825" y="37437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384025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Agentic Coding Landscape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1395072" y="4110058"/>
            <a:ext cx="934800" cy="538200"/>
          </a:xfrm>
          <a:prstGeom prst="rect">
            <a:avLst/>
          </a:prstGeom>
          <a:solidFill>
            <a:srgbClr val="572A6C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Foundations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AGENTS.md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Context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2406118" y="4110058"/>
            <a:ext cx="934800" cy="538200"/>
          </a:xfrm>
          <a:prstGeom prst="rect">
            <a:avLst/>
          </a:prstGeom>
          <a:solidFill>
            <a:srgbClr val="B18107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Cursor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Copilot, Codex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Antigravity</a:t>
            </a:r>
            <a:endParaRPr sz="9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p22"/>
          <p:cNvSpPr/>
          <p:nvPr/>
        </p:nvSpPr>
        <p:spPr>
          <a:xfrm>
            <a:off x="3417153" y="4110058"/>
            <a:ext cx="934800" cy="538200"/>
          </a:xfrm>
          <a:prstGeom prst="rect">
            <a:avLst/>
          </a:prstGeom>
          <a:solidFill>
            <a:srgbClr val="0E4E6B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Project 1:</a:t>
            </a:r>
            <a:b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uk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YOLO</a:t>
            </a:r>
            <a:endParaRPr b="0" i="0" sz="9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4445172" y="41100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2: Commercial MVP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393675" y="37437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1: Vibe Coding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for fun and profit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243825" y="26385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384025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Claude 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OpenCode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others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4" name="Google Shape;194;p22"/>
          <p:cNvSpPr/>
          <p:nvPr/>
        </p:nvSpPr>
        <p:spPr>
          <a:xfrm>
            <a:off x="1395072" y="30048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Commands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Checkpoints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Ralph Loops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2"/>
          <p:cNvSpPr/>
          <p:nvPr/>
        </p:nvSpPr>
        <p:spPr>
          <a:xfrm>
            <a:off x="2406118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MCP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Skills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3417153" y="30048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Debugging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4445172" y="30048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3: SaaS Platform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393675" y="26385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2: Vibe Engineering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as a professional</a:t>
            </a:r>
            <a:endParaRPr b="0"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243825" y="1533308"/>
            <a:ext cx="5247000" cy="1029000"/>
          </a:xfrm>
          <a:prstGeom prst="rect">
            <a:avLst/>
          </a:prstGeom>
          <a:solidFill>
            <a:srgbClr val="D9D9D9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2"/>
          <p:cNvSpPr/>
          <p:nvPr/>
        </p:nvSpPr>
        <p:spPr>
          <a:xfrm>
            <a:off x="384025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Multi-Agents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Sub-Agents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Hooks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1" name="Google Shape;201;p22"/>
          <p:cNvSpPr/>
          <p:nvPr/>
        </p:nvSpPr>
        <p:spPr>
          <a:xfrm>
            <a:off x="1395072" y="1899658"/>
            <a:ext cx="934800" cy="538200"/>
          </a:xfrm>
          <a:prstGeom prst="rect">
            <a:avLst/>
          </a:prstGeom>
          <a:solidFill>
            <a:srgbClr val="FBE09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Sandboxing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2406118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Large Codebase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Workflow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3417153" y="1899658"/>
            <a:ext cx="934800" cy="538200"/>
          </a:xfrm>
          <a:prstGeom prst="rect">
            <a:avLst/>
          </a:prstGeom>
          <a:solidFill>
            <a:srgbClr val="CAA5DC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Swarms</a:t>
            </a:r>
            <a:endParaRPr sz="9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Orchestrators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445172" y="1899658"/>
            <a:ext cx="934800" cy="538200"/>
          </a:xfrm>
          <a:prstGeom prst="rect">
            <a:avLst/>
          </a:prstGeom>
          <a:solidFill>
            <a:srgbClr val="D0EB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9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Project 4: Capstone</a:t>
            </a:r>
            <a:endParaRPr b="0" i="0" sz="9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393675" y="1533308"/>
            <a:ext cx="498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uk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Week 3: Agentic Engineering </a:t>
            </a:r>
            <a:r>
              <a:rPr lang="uk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as an expert  </a:t>
            </a:r>
            <a:endParaRPr i="0"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206" name="Google Shape;206;p22"/>
          <p:cNvGrpSpPr/>
          <p:nvPr/>
        </p:nvGrpSpPr>
        <p:grpSpPr>
          <a:xfrm>
            <a:off x="837139" y="852239"/>
            <a:ext cx="1215893" cy="323100"/>
            <a:chOff x="316825" y="809164"/>
            <a:chExt cx="1215893" cy="323100"/>
          </a:xfrm>
        </p:grpSpPr>
        <p:sp>
          <p:nvSpPr>
            <p:cNvPr id="207" name="Google Shape;207;p22"/>
            <p:cNvSpPr/>
            <p:nvPr/>
          </p:nvSpPr>
          <p:spPr>
            <a:xfrm>
              <a:off x="316825" y="879951"/>
              <a:ext cx="237300" cy="178500"/>
            </a:xfrm>
            <a:prstGeom prst="rect">
              <a:avLst/>
            </a:prstGeom>
            <a:solidFill>
              <a:srgbClr val="CAA5DC"/>
            </a:solidFill>
            <a:ln cap="flat" cmpd="sng" w="9525">
              <a:solidFill>
                <a:srgbClr val="572A6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8" name="Google Shape;208;p22"/>
            <p:cNvSpPr txBox="1"/>
            <p:nvPr/>
          </p:nvSpPr>
          <p:spPr>
            <a:xfrm>
              <a:off x="541818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Core skills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09" name="Google Shape;209;p22"/>
          <p:cNvGrpSpPr/>
          <p:nvPr/>
        </p:nvGrpSpPr>
        <p:grpSpPr>
          <a:xfrm>
            <a:off x="1974077" y="852250"/>
            <a:ext cx="1564798" cy="323100"/>
            <a:chOff x="1365775" y="809175"/>
            <a:chExt cx="1564798" cy="323100"/>
          </a:xfrm>
        </p:grpSpPr>
        <p:sp>
          <p:nvSpPr>
            <p:cNvPr id="210" name="Google Shape;210;p22"/>
            <p:cNvSpPr/>
            <p:nvPr/>
          </p:nvSpPr>
          <p:spPr>
            <a:xfrm>
              <a:off x="1365775" y="879951"/>
              <a:ext cx="237300" cy="178500"/>
            </a:xfrm>
            <a:prstGeom prst="rect">
              <a:avLst/>
            </a:prstGeom>
            <a:solidFill>
              <a:srgbClr val="FBE097"/>
            </a:solidFill>
            <a:ln cap="flat" cmpd="sng" w="9525">
              <a:solidFill>
                <a:srgbClr val="B1810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1" name="Google Shape;211;p22"/>
            <p:cNvSpPr txBox="1"/>
            <p:nvPr/>
          </p:nvSpPr>
          <p:spPr>
            <a:xfrm>
              <a:off x="1590773" y="809175"/>
              <a:ext cx="13398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Products / Features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  <p:grpSp>
        <p:nvGrpSpPr>
          <p:cNvPr id="212" name="Google Shape;212;p22"/>
          <p:cNvGrpSpPr/>
          <p:nvPr/>
        </p:nvGrpSpPr>
        <p:grpSpPr>
          <a:xfrm>
            <a:off x="3720614" y="852239"/>
            <a:ext cx="1215893" cy="323100"/>
            <a:chOff x="3200300" y="809164"/>
            <a:chExt cx="1215893" cy="323100"/>
          </a:xfrm>
        </p:grpSpPr>
        <p:sp>
          <p:nvSpPr>
            <p:cNvPr id="213" name="Google Shape;213;p22"/>
            <p:cNvSpPr/>
            <p:nvPr/>
          </p:nvSpPr>
          <p:spPr>
            <a:xfrm>
              <a:off x="3200300" y="879951"/>
              <a:ext cx="237300" cy="178500"/>
            </a:xfrm>
            <a:prstGeom prst="rect">
              <a:avLst/>
            </a:prstGeom>
            <a:solidFill>
              <a:srgbClr val="D0EBF8"/>
            </a:solidFill>
            <a:ln cap="flat" cmpd="sng" w="9525">
              <a:solidFill>
                <a:srgbClr val="1775A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9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4" name="Google Shape;214;p22"/>
            <p:cNvSpPr txBox="1"/>
            <p:nvPr/>
          </p:nvSpPr>
          <p:spPr>
            <a:xfrm>
              <a:off x="3425293" y="809164"/>
              <a:ext cx="9909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900">
                  <a:solidFill>
                    <a:schemeClr val="dk1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Projects</a:t>
              </a:r>
              <a:endParaRPr b="0" i="0" sz="900" u="none" cap="none" strike="noStrik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2F2F2"/>
            </a:gs>
            <a:gs pos="100000">
              <a:schemeClr val="lt1"/>
            </a:gs>
          </a:gsLst>
          <a:lin ang="0" scaled="0"/>
        </a:gra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3"/>
          <p:cNvSpPr/>
          <p:nvPr/>
        </p:nvSpPr>
        <p:spPr>
          <a:xfrm>
            <a:off x="3429000" y="-25"/>
            <a:ext cx="19569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3538375" y="230275"/>
            <a:ext cx="1751100" cy="4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AI Coder: Vibe Coder to Agentic Engineer</a:t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1" lang="uk" sz="2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The Missing Manual</a:t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4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27%</a:t>
            </a:r>
            <a:endParaRPr sz="4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uk" sz="1800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1800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21" name="Google Shape;2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32147"/>
      </a:dk1>
      <a:lt1>
        <a:srgbClr val="FFFFFF"/>
      </a:lt1>
      <a:dk2>
        <a:srgbClr val="032147"/>
      </a:dk2>
      <a:lt2>
        <a:srgbClr val="EEEEEE"/>
      </a:lt2>
      <a:accent1>
        <a:srgbClr val="209DD7"/>
      </a:accent1>
      <a:accent2>
        <a:srgbClr val="753991"/>
      </a:accent2>
      <a:accent3>
        <a:srgbClr val="ECAD0A"/>
      </a:accent3>
      <a:accent4>
        <a:srgbClr val="4CBB17"/>
      </a:accent4>
      <a:accent5>
        <a:srgbClr val="BC101F"/>
      </a:accent5>
      <a:accent6>
        <a:srgbClr val="BC101F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